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44"/>
  </p:notesMasterIdLst>
  <p:sldIdLst>
    <p:sldId id="417" r:id="rId2"/>
    <p:sldId id="421" r:id="rId3"/>
    <p:sldId id="419" r:id="rId4"/>
    <p:sldId id="440" r:id="rId5"/>
    <p:sldId id="441" r:id="rId6"/>
    <p:sldId id="420" r:id="rId7"/>
    <p:sldId id="418" r:id="rId8"/>
    <p:sldId id="424" r:id="rId9"/>
    <p:sldId id="425" r:id="rId10"/>
    <p:sldId id="465" r:id="rId11"/>
    <p:sldId id="448" r:id="rId12"/>
    <p:sldId id="449" r:id="rId13"/>
    <p:sldId id="450" r:id="rId14"/>
    <p:sldId id="451" r:id="rId15"/>
    <p:sldId id="452" r:id="rId16"/>
    <p:sldId id="453" r:id="rId17"/>
    <p:sldId id="467" r:id="rId18"/>
    <p:sldId id="466" r:id="rId19"/>
    <p:sldId id="454" r:id="rId20"/>
    <p:sldId id="455" r:id="rId21"/>
    <p:sldId id="456" r:id="rId22"/>
    <p:sldId id="457" r:id="rId23"/>
    <p:sldId id="458" r:id="rId24"/>
    <p:sldId id="459" r:id="rId25"/>
    <p:sldId id="460" r:id="rId26"/>
    <p:sldId id="461" r:id="rId27"/>
    <p:sldId id="462" r:id="rId28"/>
    <p:sldId id="463" r:id="rId29"/>
    <p:sldId id="464" r:id="rId30"/>
    <p:sldId id="447" r:id="rId31"/>
    <p:sldId id="442" r:id="rId32"/>
    <p:sldId id="426" r:id="rId33"/>
    <p:sldId id="443" r:id="rId34"/>
    <p:sldId id="427" r:id="rId35"/>
    <p:sldId id="433" r:id="rId36"/>
    <p:sldId id="432" r:id="rId37"/>
    <p:sldId id="429" r:id="rId38"/>
    <p:sldId id="434" r:id="rId39"/>
    <p:sldId id="435" r:id="rId40"/>
    <p:sldId id="436" r:id="rId41"/>
    <p:sldId id="444" r:id="rId42"/>
    <p:sldId id="428"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49" autoAdjust="0"/>
    <p:restoredTop sz="94660"/>
  </p:normalViewPr>
  <p:slideViewPr>
    <p:cSldViewPr>
      <p:cViewPr varScale="1">
        <p:scale>
          <a:sx n="63" d="100"/>
          <a:sy n="63" d="100"/>
        </p:scale>
        <p:origin x="1576" y="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173879-A493-4EDB-A790-6038B1CDDF14}" type="datetimeFigureOut">
              <a:rPr lang="en-US" smtClean="0"/>
              <a:t>6/26/2023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062DEC-2A34-4AE2-AC2C-326F81FB9D92}" type="slidenum">
              <a:rPr lang="en-US" smtClean="0"/>
              <a:t>‹#›</a:t>
            </a:fld>
            <a:endParaRPr lang="en-US"/>
          </a:p>
        </p:txBody>
      </p:sp>
    </p:spTree>
    <p:extLst>
      <p:ext uri="{BB962C8B-B14F-4D97-AF65-F5344CB8AC3E}">
        <p14:creationId xmlns:p14="http://schemas.microsoft.com/office/powerpoint/2010/main" val="791132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3223548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12142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265980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4227389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602B0A-0B99-47D4-AFD3-140C34F2A7C7}" type="datetimeFigureOut">
              <a:rPr lang="en-US" smtClean="0"/>
              <a:t>6/26/2023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607358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02B0A-0B99-47D4-AFD3-140C34F2A7C7}" type="datetimeFigureOut">
              <a:rPr lang="en-US" smtClean="0"/>
              <a:t>6/26/2023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140727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602B0A-0B99-47D4-AFD3-140C34F2A7C7}" type="datetimeFigureOut">
              <a:rPr lang="en-US" smtClean="0"/>
              <a:t>6/26/2023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707093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681099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4165690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1990458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341546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7686">
              <a:srgbClr val="E7F0F9"/>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602B0A-0B99-47D4-AFD3-140C34F2A7C7}" type="datetimeFigureOut">
              <a:rPr lang="en-US" smtClean="0"/>
              <a:t>6/26/2023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C7416A-A348-47FF-937D-7E980B76C6D7}" type="slidenum">
              <a:rPr lang="en-US" smtClean="0"/>
              <a:t>‹#›</a:t>
            </a:fld>
            <a:endParaRPr lang="en-US"/>
          </a:p>
        </p:txBody>
      </p:sp>
    </p:spTree>
    <p:extLst>
      <p:ext uri="{BB962C8B-B14F-4D97-AF65-F5344CB8AC3E}">
        <p14:creationId xmlns:p14="http://schemas.microsoft.com/office/powerpoint/2010/main" val="3009563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creately.com/blog/diagrams/deployment-diagram-tutoria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reately.com/diagram/example/hoz91qr31/Interaction%20Overview%20Diagram" TargetMode="External"/><Relationship Id="rId2" Type="http://schemas.openxmlformats.org/officeDocument/2006/relationships/hyperlink" Target="https://creately.com/diagram-community/popular/t/activity-diagra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creately.com/diagram-community/popular/t/use-cas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C015A6C6-18EE-0EB8-7DB4-44B04212FC7B}"/>
              </a:ext>
            </a:extLst>
          </p:cNvPr>
          <p:cNvSpPr txBox="1"/>
          <p:nvPr/>
        </p:nvSpPr>
        <p:spPr>
          <a:xfrm>
            <a:off x="426717" y="658686"/>
            <a:ext cx="7848600" cy="4457952"/>
          </a:xfrm>
          <a:prstGeom prst="rect">
            <a:avLst/>
          </a:prstGeom>
          <a:noFill/>
        </p:spPr>
        <p:txBody>
          <a:bodyPr wrap="square">
            <a:spAutoFit/>
          </a:bodyPr>
          <a:lstStyle/>
          <a:p>
            <a:pPr>
              <a:lnSpc>
                <a:spcPct val="150000"/>
              </a:lnSpc>
            </a:pPr>
            <a:r>
              <a:rPr lang="en-IN" sz="2400" dirty="0"/>
              <a:t>                                 ANALYSIS AND DESIGN</a:t>
            </a:r>
            <a:endParaRPr lang="en-US" sz="2400" b="1" i="0" dirty="0">
              <a:solidFill>
                <a:srgbClr val="273239"/>
              </a:solidFill>
              <a:effectLst/>
              <a:latin typeface="Times New Roman" panose="02020603050405020304" pitchFamily="18" charset="0"/>
              <a:cs typeface="Times New Roman" panose="02020603050405020304" pitchFamily="18" charset="0"/>
            </a:endParaRPr>
          </a:p>
          <a:p>
            <a:pPr>
              <a:lnSpc>
                <a:spcPct val="150000"/>
              </a:lnSpc>
            </a:pPr>
            <a:r>
              <a:rPr lang="en-US" sz="2400" b="1" i="0" dirty="0">
                <a:solidFill>
                  <a:srgbClr val="273239"/>
                </a:solidFill>
                <a:effectLst/>
                <a:latin typeface="Times New Roman" panose="02020603050405020304" pitchFamily="18" charset="0"/>
                <a:cs typeface="Times New Roman" panose="02020603050405020304" pitchFamily="18" charset="0"/>
              </a:rPr>
              <a:t>Analysis Modeling or Requirement modeling  </a:t>
            </a:r>
            <a:r>
              <a:rPr lang="en-US" sz="2400" b="0" i="0" dirty="0">
                <a:solidFill>
                  <a:srgbClr val="273239"/>
                </a:solidFill>
                <a:effectLst/>
                <a:latin typeface="Times New Roman" panose="02020603050405020304" pitchFamily="18" charset="0"/>
                <a:cs typeface="Times New Roman" panose="02020603050405020304" pitchFamily="18" charset="0"/>
              </a:rPr>
              <a:t> is a technical representation of the system. </a:t>
            </a:r>
          </a:p>
          <a:p>
            <a:pPr>
              <a:lnSpc>
                <a:spcPct val="150000"/>
              </a:lnSpc>
            </a:pPr>
            <a:r>
              <a:rPr lang="en-US" sz="2400" b="0" i="0" dirty="0">
                <a:solidFill>
                  <a:srgbClr val="273239"/>
                </a:solidFill>
                <a:effectLst/>
                <a:latin typeface="Times New Roman" panose="02020603050405020304" pitchFamily="18" charset="0"/>
                <a:cs typeface="Times New Roman" panose="02020603050405020304" pitchFamily="18" charset="0"/>
              </a:rPr>
              <a:t>It acts as a link between system description and design model. </a:t>
            </a:r>
          </a:p>
          <a:p>
            <a:pPr>
              <a:lnSpc>
                <a:spcPct val="150000"/>
              </a:lnSpc>
            </a:pPr>
            <a:r>
              <a:rPr lang="en-US" sz="2400" b="0" i="0" dirty="0">
                <a:solidFill>
                  <a:srgbClr val="273239"/>
                </a:solidFill>
                <a:effectLst/>
                <a:latin typeface="Times New Roman" panose="02020603050405020304" pitchFamily="18" charset="0"/>
                <a:cs typeface="Times New Roman" panose="02020603050405020304" pitchFamily="18" charset="0"/>
              </a:rPr>
              <a:t>In Analysis Modelling, information, behavior, and functions of the system are defined and translated into the architecture, component, and interface level design in the design modeling.</a:t>
            </a: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2793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F112BF7F-7B93-FE88-8B1E-8629C7C26466}"/>
              </a:ext>
            </a:extLst>
          </p:cNvPr>
          <p:cNvSpPr txBox="1"/>
          <p:nvPr/>
        </p:nvSpPr>
        <p:spPr>
          <a:xfrm>
            <a:off x="190499" y="281612"/>
            <a:ext cx="8763000" cy="2241960"/>
          </a:xfrm>
          <a:prstGeom prst="rect">
            <a:avLst/>
          </a:prstGeom>
          <a:noFill/>
        </p:spPr>
        <p:txBody>
          <a:bodyPr wrap="square">
            <a:spAutoFit/>
          </a:bodyPr>
          <a:lstStyle/>
          <a:p>
            <a:pPr algn="l">
              <a:lnSpc>
                <a:spcPct val="150000"/>
              </a:lnSpc>
            </a:pPr>
            <a:r>
              <a:rPr lang="en-US" sz="2400" dirty="0">
                <a:solidFill>
                  <a:srgbClr val="000000"/>
                </a:solidFill>
                <a:latin typeface="Times New Roman" panose="02020603050405020304" pitchFamily="18" charset="0"/>
                <a:cs typeface="Times New Roman" panose="02020603050405020304" pitchFamily="18" charset="0"/>
              </a:rPr>
              <a:t>A</a:t>
            </a:r>
            <a:r>
              <a:rPr lang="en-US" sz="2400" b="0" i="0" dirty="0">
                <a:solidFill>
                  <a:srgbClr val="000000"/>
                </a:solidFill>
                <a:effectLst/>
                <a:latin typeface="Times New Roman" panose="02020603050405020304" pitchFamily="18" charset="0"/>
                <a:cs typeface="Times New Roman" panose="02020603050405020304" pitchFamily="18" charset="0"/>
              </a:rPr>
              <a:t>nalysis modeling can be</a:t>
            </a:r>
          </a:p>
          <a:p>
            <a:pPr algn="l">
              <a:lnSpc>
                <a:spcPct val="150000"/>
              </a:lnSpc>
            </a:pPr>
            <a:r>
              <a:rPr lang="en-US" sz="2400" b="1" i="0" dirty="0">
                <a:solidFill>
                  <a:srgbClr val="000000"/>
                </a:solidFill>
                <a:effectLst/>
                <a:latin typeface="Times New Roman" panose="02020603050405020304" pitchFamily="18" charset="0"/>
                <a:cs typeface="Times New Roman" panose="02020603050405020304" pitchFamily="18" charset="0"/>
              </a:rPr>
              <a:t>1. Scenario based </a:t>
            </a:r>
            <a:r>
              <a:rPr lang="en-US" sz="2400" b="1" dirty="0">
                <a:solidFill>
                  <a:srgbClr val="000000"/>
                </a:solidFill>
                <a:latin typeface="Times New Roman" panose="02020603050405020304" pitchFamily="18" charset="0"/>
                <a:cs typeface="Times New Roman" panose="02020603050405020304" pitchFamily="18" charset="0"/>
              </a:rPr>
              <a:t>modeling</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algn="l">
              <a:lnSpc>
                <a:spcPct val="150000"/>
              </a:lnSpc>
            </a:pPr>
            <a:r>
              <a:rPr lang="en-US" sz="2400" b="1" i="0" dirty="0">
                <a:solidFill>
                  <a:srgbClr val="000000"/>
                </a:solidFill>
                <a:effectLst/>
                <a:latin typeface="Times New Roman" panose="02020603050405020304" pitchFamily="18" charset="0"/>
                <a:cs typeface="Times New Roman" panose="02020603050405020304" pitchFamily="18" charset="0"/>
              </a:rPr>
              <a:t>2. Class based modeling  </a:t>
            </a:r>
          </a:p>
          <a:p>
            <a:pPr algn="l">
              <a:lnSpc>
                <a:spcPct val="150000"/>
              </a:lnSpc>
            </a:pPr>
            <a:r>
              <a:rPr lang="en-US" sz="2400" b="1" i="0" dirty="0">
                <a:solidFill>
                  <a:srgbClr val="000000"/>
                </a:solidFill>
                <a:effectLst/>
                <a:latin typeface="Times New Roman" panose="02020603050405020304" pitchFamily="18" charset="0"/>
                <a:cs typeface="Times New Roman" panose="02020603050405020304" pitchFamily="18" charset="0"/>
              </a:rPr>
              <a:t>3. Flow oriented modeling</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2873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779309C3-139A-5FB2-3888-425C0297EC87}"/>
              </a:ext>
            </a:extLst>
          </p:cNvPr>
          <p:cNvSpPr txBox="1"/>
          <p:nvPr/>
        </p:nvSpPr>
        <p:spPr>
          <a:xfrm>
            <a:off x="228600" y="136525"/>
            <a:ext cx="7696200" cy="5262979"/>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Scenario based Modeling </a:t>
            </a:r>
          </a:p>
          <a:p>
            <a:pPr>
              <a:lnSpc>
                <a:spcPct val="150000"/>
              </a:lnSpc>
            </a:pPr>
            <a:r>
              <a:rPr lang="en-US" sz="2400" dirty="0">
                <a:latin typeface="Times New Roman" panose="02020603050405020304" pitchFamily="18" charset="0"/>
                <a:cs typeface="Times New Roman" panose="02020603050405020304" pitchFamily="18" charset="0"/>
              </a:rPr>
              <a:t>The Requirement modeling with UML begins with the creation of scenarios with the join of activity and use cases diagram.</a:t>
            </a:r>
          </a:p>
          <a:p>
            <a:pPr>
              <a:lnSpc>
                <a:spcPct val="150000"/>
              </a:lnSpc>
            </a:pPr>
            <a:r>
              <a:rPr lang="en-US" sz="2400" dirty="0">
                <a:latin typeface="Times New Roman" panose="02020603050405020304" pitchFamily="18" charset="0"/>
                <a:cs typeface="Times New Roman" panose="02020603050405020304" pitchFamily="18" charset="0"/>
              </a:rPr>
              <a:t>Scenarios- specific purpose</a:t>
            </a:r>
          </a:p>
          <a:p>
            <a:pPr>
              <a:lnSpc>
                <a:spcPct val="150000"/>
              </a:lnSpc>
            </a:pPr>
            <a:r>
              <a:rPr lang="en-US" sz="2400" dirty="0">
                <a:latin typeface="Times New Roman" panose="02020603050405020304" pitchFamily="18" charset="0"/>
                <a:cs typeface="Times New Roman" panose="02020603050405020304" pitchFamily="18" charset="0"/>
              </a:rPr>
              <a:t>• If the software engineer understand how end users want to interact with a system, the software team will be able to properly characterize requirements and build meaningful analysis and design models.</a:t>
            </a:r>
          </a:p>
          <a:p>
            <a:r>
              <a:rPr lang="en-US" sz="2400" dirty="0">
                <a:latin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818010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779309C3-139A-5FB2-3888-425C0297EC87}"/>
              </a:ext>
            </a:extLst>
          </p:cNvPr>
          <p:cNvSpPr txBox="1"/>
          <p:nvPr/>
        </p:nvSpPr>
        <p:spPr>
          <a:xfrm>
            <a:off x="228600" y="136525"/>
            <a:ext cx="7696200" cy="6681124"/>
          </a:xfrm>
          <a:prstGeom prst="rect">
            <a:avLst/>
          </a:prstGeom>
          <a:noFill/>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Analysis modeling with UML begins with the creation of scenarios in the form of uses-cases, activity diagram  </a:t>
            </a:r>
          </a:p>
          <a:p>
            <a:pPr>
              <a:lnSpc>
                <a:spcPct val="150000"/>
              </a:lnSpc>
            </a:pPr>
            <a:r>
              <a:rPr lang="en-US" sz="2400" b="1" dirty="0">
                <a:latin typeface="Times New Roman" panose="02020603050405020304" pitchFamily="18" charset="0"/>
                <a:cs typeface="Times New Roman" panose="02020603050405020304" pitchFamily="18" charset="0"/>
              </a:rPr>
              <a:t>Use-case Diagram for a </a:t>
            </a:r>
            <a:r>
              <a:rPr lang="en-US" sz="2400" b="1" dirty="0" err="1">
                <a:latin typeface="Times New Roman" panose="02020603050405020304" pitchFamily="18" charset="0"/>
                <a:cs typeface="Times New Roman" panose="02020603050405020304" pitchFamily="18" charset="0"/>
              </a:rPr>
              <a:t>SafeHome</a:t>
            </a:r>
            <a:r>
              <a:rPr lang="en-US" sz="2400" b="1" dirty="0">
                <a:latin typeface="Times New Roman" panose="02020603050405020304" pitchFamily="18" charset="0"/>
                <a:cs typeface="Times New Roman" panose="02020603050405020304" pitchFamily="18" charset="0"/>
              </a:rPr>
              <a:t>  software</a:t>
            </a:r>
          </a:p>
          <a:p>
            <a:pPr>
              <a:lnSpc>
                <a:spcPct val="150000"/>
              </a:lnSpc>
            </a:pPr>
            <a:r>
              <a:rPr lang="en-US" sz="2400" dirty="0">
                <a:latin typeface="Times New Roman" panose="02020603050405020304" pitchFamily="18" charset="0"/>
                <a:cs typeface="Times New Roman" panose="02020603050405020304" pitchFamily="18" charset="0"/>
              </a:rPr>
              <a:t> In general, use cases are written first in an informal narrative fashion </a:t>
            </a:r>
          </a:p>
          <a:p>
            <a:pPr>
              <a:lnSpc>
                <a:spcPct val="150000"/>
              </a:lnSpc>
            </a:pPr>
            <a:r>
              <a:rPr lang="en-US" sz="2400" dirty="0">
                <a:latin typeface="Times New Roman" panose="02020603050405020304" pitchFamily="18" charset="0"/>
                <a:cs typeface="Times New Roman" panose="02020603050405020304" pitchFamily="18" charset="0"/>
              </a:rPr>
              <a:t>• Use case: Access camera surveillance via the Internet—display camera views </a:t>
            </a:r>
          </a:p>
          <a:p>
            <a:pPr>
              <a:lnSpc>
                <a:spcPct val="150000"/>
              </a:lnSpc>
            </a:pPr>
            <a:r>
              <a:rPr lang="en-US" sz="2400" dirty="0">
                <a:latin typeface="Times New Roman" panose="02020603050405020304" pitchFamily="18" charset="0"/>
                <a:cs typeface="Times New Roman" panose="02020603050405020304" pitchFamily="18" charset="0"/>
              </a:rPr>
              <a:t>•Actor: homeowner </a:t>
            </a:r>
          </a:p>
          <a:p>
            <a:pPr>
              <a:lnSpc>
                <a:spcPct val="150000"/>
              </a:lnSpc>
            </a:pPr>
            <a:r>
              <a:rPr lang="en-US" sz="2400" dirty="0">
                <a:latin typeface="Times New Roman" panose="02020603050405020304" pitchFamily="18" charset="0"/>
                <a:cs typeface="Times New Roman" panose="02020603050405020304" pitchFamily="18" charset="0"/>
              </a:rPr>
              <a:t>• The homeowner logs onto the </a:t>
            </a:r>
            <a:r>
              <a:rPr lang="en-US" sz="2400" dirty="0" err="1">
                <a:latin typeface="Times New Roman" panose="02020603050405020304" pitchFamily="18" charset="0"/>
                <a:cs typeface="Times New Roman" panose="02020603050405020304" pitchFamily="18" charset="0"/>
              </a:rPr>
              <a:t>SafeHome</a:t>
            </a:r>
            <a:r>
              <a:rPr lang="en-US" sz="2400" dirty="0">
                <a:latin typeface="Times New Roman" panose="02020603050405020304" pitchFamily="18" charset="0"/>
                <a:cs typeface="Times New Roman" panose="02020603050405020304" pitchFamily="18" charset="0"/>
              </a:rPr>
              <a:t> Products website. • The homeowner enters his or her user ID. </a:t>
            </a:r>
          </a:p>
          <a:p>
            <a:pPr>
              <a:lnSpc>
                <a:spcPct val="150000"/>
              </a:lnSpc>
            </a:pPr>
            <a:r>
              <a:rPr lang="en-US" sz="2400" dirty="0">
                <a:latin typeface="Times New Roman" panose="02020603050405020304" pitchFamily="18" charset="0"/>
                <a:cs typeface="Times New Roman" panose="02020603050405020304" pitchFamily="18" charset="0"/>
              </a:rPr>
              <a:t>• The homeowner enters two passwords (each at least eight characters in length). </a:t>
            </a:r>
            <a:endParaRPr lang="en-IN" dirty="0"/>
          </a:p>
        </p:txBody>
      </p:sp>
    </p:spTree>
    <p:extLst>
      <p:ext uri="{BB962C8B-B14F-4D97-AF65-F5344CB8AC3E}">
        <p14:creationId xmlns:p14="http://schemas.microsoft.com/office/powerpoint/2010/main" val="3437934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5</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779309C3-139A-5FB2-3888-425C0297EC87}"/>
              </a:ext>
            </a:extLst>
          </p:cNvPr>
          <p:cNvSpPr txBox="1"/>
          <p:nvPr/>
        </p:nvSpPr>
        <p:spPr>
          <a:xfrm>
            <a:off x="228600" y="136525"/>
            <a:ext cx="7696200" cy="6878806"/>
          </a:xfrm>
          <a:prstGeom prst="rect">
            <a:avLst/>
          </a:prstGeom>
          <a:noFill/>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 The system displays all major function buttons. </a:t>
            </a:r>
          </a:p>
          <a:p>
            <a:pPr>
              <a:lnSpc>
                <a:spcPct val="150000"/>
              </a:lnSpc>
            </a:pPr>
            <a:r>
              <a:rPr lang="en-US" sz="2400" dirty="0">
                <a:latin typeface="Times New Roman" panose="02020603050405020304" pitchFamily="18" charset="0"/>
                <a:cs typeface="Times New Roman" panose="02020603050405020304" pitchFamily="18" charset="0"/>
              </a:rPr>
              <a:t>• The homeowner selects the “surveillance” from the major function buttons.</a:t>
            </a:r>
          </a:p>
          <a:p>
            <a:pPr>
              <a:lnSpc>
                <a:spcPct val="150000"/>
              </a:lnSpc>
            </a:pPr>
            <a:r>
              <a:rPr lang="en-US" sz="2400" dirty="0">
                <a:latin typeface="Times New Roman" panose="02020603050405020304" pitchFamily="18" charset="0"/>
                <a:cs typeface="Times New Roman" panose="02020603050405020304" pitchFamily="18" charset="0"/>
              </a:rPr>
              <a:t>• The homeowner selects “pick a camera.” </a:t>
            </a:r>
          </a:p>
          <a:p>
            <a:pPr>
              <a:lnSpc>
                <a:spcPct val="150000"/>
              </a:lnSpc>
            </a:pPr>
            <a:r>
              <a:rPr lang="en-US" sz="2400" dirty="0">
                <a:latin typeface="Times New Roman" panose="02020603050405020304" pitchFamily="18" charset="0"/>
                <a:cs typeface="Times New Roman" panose="02020603050405020304" pitchFamily="18" charset="0"/>
              </a:rPr>
              <a:t>• The system displays the floor plan of the house. </a:t>
            </a:r>
          </a:p>
          <a:p>
            <a:pPr>
              <a:lnSpc>
                <a:spcPct val="150000"/>
              </a:lnSpc>
            </a:pPr>
            <a:r>
              <a:rPr lang="en-US" sz="2400" dirty="0">
                <a:latin typeface="Times New Roman" panose="02020603050405020304" pitchFamily="18" charset="0"/>
                <a:cs typeface="Times New Roman" panose="02020603050405020304" pitchFamily="18" charset="0"/>
              </a:rPr>
              <a:t>• The homeowner selects a camera icon from the floor plan. </a:t>
            </a:r>
          </a:p>
          <a:p>
            <a:pPr>
              <a:lnSpc>
                <a:spcPct val="150000"/>
              </a:lnSpc>
            </a:pPr>
            <a:r>
              <a:rPr lang="en-US" sz="2400" dirty="0">
                <a:latin typeface="Times New Roman" panose="02020603050405020304" pitchFamily="18" charset="0"/>
                <a:cs typeface="Times New Roman" panose="02020603050405020304" pitchFamily="18" charset="0"/>
              </a:rPr>
              <a:t>• The homeowner selects the “view” button. </a:t>
            </a:r>
          </a:p>
          <a:p>
            <a:pPr>
              <a:lnSpc>
                <a:spcPct val="150000"/>
              </a:lnSpc>
            </a:pPr>
            <a:r>
              <a:rPr lang="en-US" sz="2400" dirty="0">
                <a:latin typeface="Times New Roman" panose="02020603050405020304" pitchFamily="18" charset="0"/>
                <a:cs typeface="Times New Roman" panose="02020603050405020304" pitchFamily="18" charset="0"/>
              </a:rPr>
              <a:t>• The system displays a viewing window that is identified by the camera ID. </a:t>
            </a:r>
          </a:p>
          <a:p>
            <a:pPr>
              <a:lnSpc>
                <a:spcPct val="150000"/>
              </a:lnSpc>
            </a:pPr>
            <a:r>
              <a:rPr lang="en-US" sz="2400" dirty="0">
                <a:latin typeface="Times New Roman" panose="02020603050405020304" pitchFamily="18" charset="0"/>
                <a:cs typeface="Times New Roman" panose="02020603050405020304" pitchFamily="18" charset="0"/>
              </a:rPr>
              <a:t>• The system displays video output within the viewing window at one frame per second.</a:t>
            </a:r>
            <a:endParaRPr lang="en-US" sz="2400" b="1" i="0" dirty="0">
              <a:solidFill>
                <a:srgbClr val="000000"/>
              </a:solidFill>
              <a:effectLst/>
              <a:latin typeface="Times New Roman" panose="02020603050405020304" pitchFamily="18" charset="0"/>
              <a:cs typeface="Times New Roman" panose="02020603050405020304" pitchFamily="18" charset="0"/>
            </a:endParaRPr>
          </a:p>
          <a:p>
            <a:pPr>
              <a:lnSpc>
                <a:spcPct val="150000"/>
              </a:lnSpc>
            </a:pPr>
            <a:endParaRPr lang="en-US" b="1" i="0" dirty="0">
              <a:solidFill>
                <a:srgbClr val="000000"/>
              </a:solidFill>
              <a:effectLst/>
              <a:latin typeface="Verdana" panose="020B0604030504040204" pitchFamily="34" charset="0"/>
            </a:endParaRPr>
          </a:p>
          <a:p>
            <a:endParaRPr lang="en-IN" dirty="0"/>
          </a:p>
        </p:txBody>
      </p:sp>
    </p:spTree>
    <p:extLst>
      <p:ext uri="{BB962C8B-B14F-4D97-AF65-F5344CB8AC3E}">
        <p14:creationId xmlns:p14="http://schemas.microsoft.com/office/powerpoint/2010/main" val="536008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6</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7" name="Picture 6">
            <a:extLst>
              <a:ext uri="{FF2B5EF4-FFF2-40B4-BE49-F238E27FC236}">
                <a16:creationId xmlns:a16="http://schemas.microsoft.com/office/drawing/2014/main" id="{35968BE4-B031-D829-2BA6-8573FF243240}"/>
              </a:ext>
            </a:extLst>
          </p:cNvPr>
          <p:cNvPicPr>
            <a:picLocks noChangeAspect="1"/>
          </p:cNvPicPr>
          <p:nvPr/>
        </p:nvPicPr>
        <p:blipFill>
          <a:blip r:embed="rId2"/>
          <a:stretch>
            <a:fillRect/>
          </a:stretch>
        </p:blipFill>
        <p:spPr>
          <a:xfrm>
            <a:off x="1447800" y="136526"/>
            <a:ext cx="5816899" cy="4359274"/>
          </a:xfrm>
          <a:prstGeom prst="rect">
            <a:avLst/>
          </a:prstGeom>
        </p:spPr>
      </p:pic>
      <p:sp>
        <p:nvSpPr>
          <p:cNvPr id="11" name="TextBox 10">
            <a:extLst>
              <a:ext uri="{FF2B5EF4-FFF2-40B4-BE49-F238E27FC236}">
                <a16:creationId xmlns:a16="http://schemas.microsoft.com/office/drawing/2014/main" id="{C1E78B88-2EB5-4CD2-CC33-7001620B2874}"/>
              </a:ext>
            </a:extLst>
          </p:cNvPr>
          <p:cNvSpPr txBox="1"/>
          <p:nvPr/>
        </p:nvSpPr>
        <p:spPr>
          <a:xfrm>
            <a:off x="990600" y="4756149"/>
            <a:ext cx="6553200"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Alternative Actions • Can the actor take some other action at this point? • Is it possible that the actor will encounter some error condition at this point? • Is it possible that the actor will encounter behavior invoked by some event outside the actor’s control? </a:t>
            </a:r>
          </a:p>
        </p:txBody>
      </p:sp>
    </p:spTree>
    <p:extLst>
      <p:ext uri="{BB962C8B-B14F-4D97-AF65-F5344CB8AC3E}">
        <p14:creationId xmlns:p14="http://schemas.microsoft.com/office/powerpoint/2010/main" val="3431065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7</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A741D5AA-64B7-D8CB-0809-1AB6CC8B4EB6}"/>
              </a:ext>
            </a:extLst>
          </p:cNvPr>
          <p:cNvSpPr txBox="1"/>
          <p:nvPr/>
        </p:nvSpPr>
        <p:spPr>
          <a:xfrm>
            <a:off x="762000" y="469880"/>
            <a:ext cx="8077201" cy="5011949"/>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Activity diagram </a:t>
            </a:r>
          </a:p>
          <a:p>
            <a:pPr>
              <a:lnSpc>
                <a:spcPct val="150000"/>
              </a:lnSpc>
            </a:pPr>
            <a:r>
              <a:rPr lang="en-US" sz="2400" dirty="0">
                <a:latin typeface="Times New Roman" panose="02020603050405020304" pitchFamily="18" charset="0"/>
                <a:cs typeface="Times New Roman" panose="02020603050405020304" pitchFamily="18" charset="0"/>
              </a:rPr>
              <a:t>• The UML activity diagram supplements the use-case by providing a graphical representation of the flow of interaction within a specific scenario </a:t>
            </a:r>
          </a:p>
          <a:p>
            <a:pPr>
              <a:lnSpc>
                <a:spcPct val="150000"/>
              </a:lnSpc>
            </a:pPr>
            <a:r>
              <a:rPr lang="en-US" sz="2400" dirty="0">
                <a:latin typeface="Times New Roman" panose="02020603050405020304" pitchFamily="18" charset="0"/>
                <a:cs typeface="Times New Roman" panose="02020603050405020304" pitchFamily="18" charset="0"/>
              </a:rPr>
              <a:t>• Similar to flowchart an activity diagram uses rounded rectangles to imply a specify system functions, arrows to represent flow through the system, decision diamonds to depict a branching decision and solid horizontal lines to indicate that parallel activities are occurring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0457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8</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5" name="Picture 4">
            <a:extLst>
              <a:ext uri="{FF2B5EF4-FFF2-40B4-BE49-F238E27FC236}">
                <a16:creationId xmlns:a16="http://schemas.microsoft.com/office/drawing/2014/main" id="{29CDDECE-EBD5-6F64-E06A-DBAB62A4656D}"/>
              </a:ext>
            </a:extLst>
          </p:cNvPr>
          <p:cNvPicPr>
            <a:picLocks noChangeAspect="1"/>
          </p:cNvPicPr>
          <p:nvPr/>
        </p:nvPicPr>
        <p:blipFill>
          <a:blip r:embed="rId2"/>
          <a:stretch>
            <a:fillRect/>
          </a:stretch>
        </p:blipFill>
        <p:spPr>
          <a:xfrm>
            <a:off x="457199" y="136525"/>
            <a:ext cx="8229600" cy="6584950"/>
          </a:xfrm>
          <a:prstGeom prst="rect">
            <a:avLst/>
          </a:prstGeom>
        </p:spPr>
      </p:pic>
    </p:spTree>
    <p:extLst>
      <p:ext uri="{BB962C8B-B14F-4D97-AF65-F5344CB8AC3E}">
        <p14:creationId xmlns:p14="http://schemas.microsoft.com/office/powerpoint/2010/main" val="4073171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pPr>
              <a:lnSpc>
                <a:spcPct val="150000"/>
              </a:lnSpc>
            </a:pPr>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9</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723E5E65-B6E7-436F-27A7-02D45ACB4EC1}"/>
              </a:ext>
            </a:extLst>
          </p:cNvPr>
          <p:cNvSpPr txBox="1"/>
          <p:nvPr/>
        </p:nvSpPr>
        <p:spPr>
          <a:xfrm>
            <a:off x="533400" y="457200"/>
            <a:ext cx="8229599" cy="6569106"/>
          </a:xfrm>
          <a:prstGeom prst="rect">
            <a:avLst/>
          </a:prstGeom>
          <a:noFill/>
        </p:spPr>
        <p:txBody>
          <a:bodyPr wrap="square">
            <a:spAutoFit/>
          </a:bodyPr>
          <a:lstStyle/>
          <a:p>
            <a:pPr algn="just">
              <a:lnSpc>
                <a:spcPct val="150000"/>
              </a:lnSpc>
              <a:spcAft>
                <a:spcPts val="100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UML </a:t>
            </a:r>
            <a:r>
              <a:rPr lang="en-IN" sz="2400" b="1" dirty="0" err="1">
                <a:effectLst/>
                <a:latin typeface="Times New Roman" panose="02020603050405020304" pitchFamily="18" charset="0"/>
                <a:ea typeface="Calibri" panose="020F0502020204030204" pitchFamily="34" charset="0"/>
                <a:cs typeface="Times New Roman" panose="02020603050405020304" pitchFamily="18" charset="0"/>
              </a:rPr>
              <a:t>Model</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ing</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A UML diagram is a diagram based on the UML (Unified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ModelingLanguage</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with the purpose of visually representing a system along with its main actors, roles, actions, artifacts or classes, in order to better understand, alter, maintain, or document information about the system.</a:t>
            </a:r>
          </a:p>
          <a:p>
            <a:pPr algn="just">
              <a:lnSpc>
                <a:spcPct val="150000"/>
              </a:lnSpc>
              <a:spcAft>
                <a:spcPts val="1000"/>
              </a:spcAft>
            </a:pP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There are three important types of UML </a:t>
            </a:r>
            <a:r>
              <a:rPr lang="en-IN"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Font typeface="Courier New" panose="02070309020205020404" pitchFamily="49" charset="0"/>
              <a:buChar char="o"/>
            </a:pPr>
            <a:r>
              <a:rPr lang="en-IN" sz="2400" dirty="0">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Structural modelling</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Font typeface="Courier New" panose="02070309020205020404" pitchFamily="49" charset="0"/>
              <a:buChar char="o"/>
            </a:pPr>
            <a:r>
              <a:rPr lang="en-IN" sz="2400" dirty="0">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Behavioural modelling</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Font typeface="Courier New" panose="02070309020205020404" pitchFamily="49" charset="0"/>
              <a:buChar char="o"/>
            </a:pPr>
            <a:r>
              <a:rPr lang="en-IN" sz="2400" dirty="0">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Architectural modelling</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IN" dirty="0"/>
          </a:p>
        </p:txBody>
      </p:sp>
    </p:spTree>
    <p:extLst>
      <p:ext uri="{BB962C8B-B14F-4D97-AF65-F5344CB8AC3E}">
        <p14:creationId xmlns:p14="http://schemas.microsoft.com/office/powerpoint/2010/main" val="844147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a:xfrm>
            <a:off x="3048000" y="2522537"/>
            <a:ext cx="2133600" cy="365125"/>
          </a:xfrm>
        </p:spPr>
        <p:txBody>
          <a:bodyPr/>
          <a:lstStyle/>
          <a:p>
            <a:fld id="{A94131EC-EA41-497C-8E12-E5C8AE2069A5}" type="slidenum">
              <a:rPr lang="en-US" smtClean="0"/>
              <a:pPr/>
              <a:t>10</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A262959-BDF7-C3BE-3CA0-7250107A3FC5}"/>
              </a:ext>
            </a:extLst>
          </p:cNvPr>
          <p:cNvSpPr txBox="1"/>
          <p:nvPr/>
        </p:nvSpPr>
        <p:spPr>
          <a:xfrm>
            <a:off x="304800" y="243142"/>
            <a:ext cx="8458200" cy="5760551"/>
          </a:xfrm>
          <a:prstGeom prst="rect">
            <a:avLst/>
          </a:prstGeom>
          <a:noFill/>
        </p:spPr>
        <p:txBody>
          <a:bodyPr wrap="square">
            <a:spAutoFit/>
          </a:bodyPr>
          <a:lstStyle/>
          <a:p>
            <a:pPr marL="457200" algn="just">
              <a:lnSpc>
                <a:spcPct val="150000"/>
              </a:lnSpc>
              <a:spcAft>
                <a:spcPts val="1000"/>
              </a:spcAft>
            </a:pPr>
            <a:r>
              <a:rPr lang="en-IN" sz="2400" b="1" u="sng" dirty="0">
                <a:effectLst/>
                <a:latin typeface="Times New Roman" panose="02020603050405020304" pitchFamily="18" charset="0"/>
                <a:ea typeface="Times New Roman" panose="02020603050405020304" pitchFamily="18" charset="0"/>
                <a:cs typeface="Times New Roman" panose="02020603050405020304" pitchFamily="18" charset="0"/>
              </a:rPr>
              <a:t> Structural </a:t>
            </a:r>
            <a:r>
              <a:rPr lang="en-IN" sz="2400" b="1" u="sng" dirty="0" err="1">
                <a:effectLst/>
                <a:latin typeface="Times New Roman" panose="02020603050405020304" pitchFamily="18" charset="0"/>
                <a:ea typeface="Times New Roman" panose="02020603050405020304" pitchFamily="18" charset="0"/>
                <a:cs typeface="Times New Roman" panose="02020603050405020304" pitchFamily="18" charset="0"/>
              </a:rPr>
              <a:t>Modeling</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Structural </a:t>
            </a:r>
            <a:r>
              <a:rPr lang="en-IN"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captures the static features of a system. Structural model represents the framework for the system and this framework is the place where all other components exist. Hence, the class diagram, component diagram and deployment diagrams are part of structural </a:t>
            </a:r>
            <a:r>
              <a:rPr lang="en-IN"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They all represent the elements and the mechanism to assemble them.</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structural model never describes the dynamic </a:t>
            </a:r>
            <a:r>
              <a:rPr lang="en-IN" sz="2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behavior</a:t>
            </a: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of the system. Class diagram is the most widely used structural diagram.</a:t>
            </a: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55667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a:xfrm>
            <a:off x="3048000" y="2522537"/>
            <a:ext cx="2133600" cy="365125"/>
          </a:xfrm>
        </p:spPr>
        <p:txBody>
          <a:bodyPr/>
          <a:lstStyle/>
          <a:p>
            <a:fld id="{A94131EC-EA41-497C-8E12-E5C8AE2069A5}" type="slidenum">
              <a:rPr lang="en-US" smtClean="0"/>
              <a:pPr/>
              <a:t>11</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A262959-BDF7-C3BE-3CA0-7250107A3FC5}"/>
              </a:ext>
            </a:extLst>
          </p:cNvPr>
          <p:cNvSpPr txBox="1"/>
          <p:nvPr/>
        </p:nvSpPr>
        <p:spPr>
          <a:xfrm>
            <a:off x="304800" y="243142"/>
            <a:ext cx="8458200" cy="5929828"/>
          </a:xfrm>
          <a:prstGeom prst="rect">
            <a:avLst/>
          </a:prstGeom>
          <a:noFill/>
        </p:spPr>
        <p:txBody>
          <a:bodyPr wrap="square">
            <a:spAutoFit/>
          </a:bodyPr>
          <a:lstStyle/>
          <a:p>
            <a:pPr marL="457200" algn="just">
              <a:lnSpc>
                <a:spcPct val="150000"/>
              </a:lnSpc>
              <a:spcAft>
                <a:spcPts val="10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lvl="0" algn="just">
              <a:lnSpc>
                <a:spcPct val="150000"/>
              </a:lnSpc>
              <a:spcAft>
                <a:spcPts val="375"/>
              </a:spcAft>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Classes diagrams:</a:t>
            </a:r>
          </a:p>
          <a:p>
            <a:pPr lvl="0" algn="just">
              <a:lnSpc>
                <a:spcPct val="150000"/>
              </a:lnSpc>
              <a:spcAft>
                <a:spcPts val="375"/>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Class diagrams are the main building block of any object-oriented solution. It shows the classes in a system, attributes, and operations of each class and the relationship between each classes.</a:t>
            </a:r>
          </a:p>
          <a:p>
            <a:pPr lvl="0" algn="just">
              <a:lnSpc>
                <a:spcPct val="150000"/>
              </a:lnSpc>
              <a:spcAft>
                <a:spcPts val="375"/>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A class has three parts :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Name at the top</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Attributes in the middle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Operations or methods at the bottom.</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67037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B643C273-D8B9-5071-14FE-17C5E437F1B9}"/>
              </a:ext>
            </a:extLst>
          </p:cNvPr>
          <p:cNvSpPr txBox="1"/>
          <p:nvPr/>
        </p:nvSpPr>
        <p:spPr>
          <a:xfrm>
            <a:off x="228599" y="136525"/>
            <a:ext cx="8458199" cy="6827831"/>
          </a:xfrm>
          <a:prstGeom prst="rect">
            <a:avLst/>
          </a:prstGeom>
          <a:noFill/>
        </p:spPr>
        <p:txBody>
          <a:bodyPr wrap="square">
            <a:spAutoFit/>
          </a:bodyPr>
          <a:lstStyle/>
          <a:p>
            <a:pPr marL="342900" lvl="0" indent="-342900" algn="just">
              <a:lnSpc>
                <a:spcPct val="150000"/>
              </a:lnSpc>
              <a:spcAft>
                <a:spcPts val="375"/>
              </a:spcAft>
              <a:buFont typeface="Wingdings" panose="05000000000000000000" pitchFamily="2" charset="2"/>
              <a:buChar char=""/>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Objects diagrams: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1371600" algn="just">
              <a:lnSpc>
                <a:spcPct val="150000"/>
              </a:lnSpc>
              <a:spcAft>
                <a:spcPts val="375"/>
              </a:spcAft>
            </a:pPr>
            <a:r>
              <a:rPr lang="en-IN" sz="2400" b="1" dirty="0">
                <a:solidFill>
                  <a:srgbClr val="3F3F3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Objects diagram, sometimes referred to as Instance diagrams are very similar to class diagram . Like class diagrams, they also show the relationship between objects but they use real-world examples.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Font typeface="Wingdings" panose="05000000000000000000" pitchFamily="2" charset="2"/>
              <a:buChar char=""/>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Deployment diagrams: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1371600" indent="457200" algn="just">
              <a:lnSpc>
                <a:spcPct val="150000"/>
              </a:lnSpc>
              <a:spcAft>
                <a:spcPts val="375"/>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A </a:t>
            </a:r>
            <a:r>
              <a:rPr lang="en-IN" sz="2400" u="none" strike="noStrike"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deployment diagram</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shows the hardware of your system and the software in that hardware. Deployment diagrams are useful when your software solution is deployed across multiple machines with each having a unique configuration. Below is an example deployment diagram.</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35379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13</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5DC4C00E-121A-537D-4F38-5281FE1C175D}"/>
              </a:ext>
            </a:extLst>
          </p:cNvPr>
          <p:cNvSpPr txBox="1"/>
          <p:nvPr/>
        </p:nvSpPr>
        <p:spPr>
          <a:xfrm>
            <a:off x="228600" y="360469"/>
            <a:ext cx="8686800" cy="5371022"/>
          </a:xfrm>
          <a:prstGeom prst="rect">
            <a:avLst/>
          </a:prstGeom>
          <a:noFill/>
        </p:spPr>
        <p:txBody>
          <a:bodyPr wrap="square">
            <a:spAutoFit/>
          </a:bodyPr>
          <a:lstStyle/>
          <a:p>
            <a:pPr marL="457200" indent="457200" algn="just">
              <a:lnSpc>
                <a:spcPct val="150000"/>
              </a:lnSpc>
              <a:spcAft>
                <a:spcPts val="1000"/>
              </a:spcAft>
            </a:pPr>
            <a:r>
              <a:rPr lang="en-IN" sz="2000" b="1" u="sng" dirty="0">
                <a:effectLst/>
                <a:latin typeface="Times New Roman" panose="02020603050405020304" pitchFamily="18" charset="0"/>
                <a:ea typeface="Times New Roman" panose="02020603050405020304" pitchFamily="18" charset="0"/>
                <a:cs typeface="Times New Roman" panose="02020603050405020304" pitchFamily="18" charset="0"/>
              </a:rPr>
              <a:t>B</a:t>
            </a:r>
            <a:r>
              <a:rPr lang="en-IN" sz="2400" b="1" u="sng" dirty="0">
                <a:effectLst/>
                <a:latin typeface="Times New Roman" panose="02020603050405020304" pitchFamily="18" charset="0"/>
                <a:ea typeface="Times New Roman" panose="02020603050405020304" pitchFamily="18" charset="0"/>
                <a:cs typeface="Times New Roman" panose="02020603050405020304" pitchFamily="18" charset="0"/>
              </a:rPr>
              <a:t>ehavioural </a:t>
            </a:r>
            <a:r>
              <a:rPr lang="en-IN" sz="2400" b="1" u="sng" dirty="0" err="1">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Behavioural model describes the interaction in the system. It represents the interaction among the structural diagrams. </a:t>
            </a:r>
            <a:r>
              <a:rPr lang="en-IN" sz="2400" dirty="0">
                <a:solidFill>
                  <a:srgbClr val="000000"/>
                </a:solidFill>
                <a:latin typeface="Times New Roman" panose="02020603050405020304" pitchFamily="18" charset="0"/>
                <a:cs typeface="Times New Roman" panose="02020603050405020304" pitchFamily="18" charset="0"/>
              </a:rPr>
              <a:t>Behavioural </a:t>
            </a:r>
            <a:r>
              <a:rPr lang="en-IN" sz="2400" dirty="0" err="1">
                <a:solidFill>
                  <a:srgbClr val="000000"/>
                </a:solidFill>
                <a:latin typeface="Times New Roman" panose="02020603050405020304" pitchFamily="18" charset="0"/>
                <a:cs typeface="Times New Roman" panose="02020603050405020304" pitchFamily="18" charset="0"/>
              </a:rPr>
              <a:t>modeling</a:t>
            </a:r>
            <a:r>
              <a:rPr lang="en-IN" sz="2400" dirty="0">
                <a:solidFill>
                  <a:srgbClr val="000000"/>
                </a:solidFill>
                <a:latin typeface="Times New Roman" panose="02020603050405020304" pitchFamily="18" charset="0"/>
                <a:cs typeface="Times New Roman" panose="02020603050405020304" pitchFamily="18" charset="0"/>
              </a:rPr>
              <a:t> shows the dynamic nature of the system. They consist of the following −</a:t>
            </a:r>
          </a:p>
          <a:p>
            <a:pPr marL="342900" lvl="0" indent="-342900" algn="just">
              <a:lnSpc>
                <a:spcPct val="150000"/>
              </a:lnSpc>
              <a:spcAft>
                <a:spcPts val="375"/>
              </a:spcAft>
              <a:buSzPts val="1000"/>
              <a:buFont typeface="Symbol" panose="05050102010706020507" pitchFamily="18" charset="2"/>
              <a:buChar char=""/>
              <a:tabLst>
                <a:tab pos="1600200" algn="l"/>
              </a:tabLst>
            </a:pPr>
            <a:r>
              <a:rPr lang="en-IN" sz="2400" dirty="0">
                <a:solidFill>
                  <a:srgbClr val="000000"/>
                </a:solidFill>
                <a:latin typeface="Times New Roman" panose="02020603050405020304" pitchFamily="18" charset="0"/>
                <a:cs typeface="Times New Roman" panose="02020603050405020304" pitchFamily="18" charset="0"/>
              </a:rPr>
              <a:t>Activity diagrams</a:t>
            </a:r>
          </a:p>
          <a:p>
            <a:pPr marL="342900" lvl="0" indent="-342900" algn="just">
              <a:lnSpc>
                <a:spcPct val="150000"/>
              </a:lnSpc>
              <a:spcAft>
                <a:spcPts val="375"/>
              </a:spcAft>
              <a:buSzPts val="1000"/>
              <a:buFont typeface="Symbol" panose="05050102010706020507" pitchFamily="18" charset="2"/>
              <a:buChar char=""/>
              <a:tabLst>
                <a:tab pos="1600200" algn="l"/>
              </a:tabLst>
            </a:pPr>
            <a:r>
              <a:rPr lang="en-IN" sz="2400" dirty="0">
                <a:solidFill>
                  <a:srgbClr val="000000"/>
                </a:solidFill>
                <a:latin typeface="Times New Roman" panose="02020603050405020304" pitchFamily="18" charset="0"/>
                <a:cs typeface="Times New Roman" panose="02020603050405020304" pitchFamily="18" charset="0"/>
              </a:rPr>
              <a:t>Interaction diagrams</a:t>
            </a:r>
          </a:p>
          <a:p>
            <a:pPr marL="342900" lvl="0" indent="-342900" algn="just">
              <a:lnSpc>
                <a:spcPct val="150000"/>
              </a:lnSpc>
              <a:spcAft>
                <a:spcPts val="375"/>
              </a:spcAft>
              <a:buSzPts val="1000"/>
              <a:buFont typeface="Symbol" panose="05050102010706020507" pitchFamily="18" charset="2"/>
              <a:buChar char=""/>
              <a:tabLst>
                <a:tab pos="1600200" algn="l"/>
              </a:tabLst>
            </a:pPr>
            <a:r>
              <a:rPr lang="en-IN" sz="2400" dirty="0">
                <a:solidFill>
                  <a:srgbClr val="000000"/>
                </a:solidFill>
                <a:latin typeface="Times New Roman" panose="02020603050405020304" pitchFamily="18" charset="0"/>
                <a:cs typeface="Times New Roman" panose="02020603050405020304" pitchFamily="18" charset="0"/>
              </a:rPr>
              <a:t>Use case diagrams</a:t>
            </a:r>
          </a:p>
          <a:p>
            <a:pPr marL="944880" marR="30480" algn="just">
              <a:lnSpc>
                <a:spcPct val="150000"/>
              </a:lnSpc>
              <a:spcBef>
                <a:spcPts val="600"/>
              </a:spcBef>
              <a:spcAft>
                <a:spcPts val="720"/>
              </a:spcAft>
            </a:pPr>
            <a:r>
              <a:rPr lang="en-IN" sz="2400" dirty="0">
                <a:solidFill>
                  <a:srgbClr val="000000"/>
                </a:solidFill>
                <a:latin typeface="Times New Roman" panose="02020603050405020304" pitchFamily="18" charset="0"/>
                <a:cs typeface="Times New Roman" panose="02020603050405020304" pitchFamily="18" charset="0"/>
              </a:rPr>
              <a:t>All the above show the dynamic sequence of flow in a system.</a:t>
            </a:r>
          </a:p>
        </p:txBody>
      </p:sp>
    </p:spTree>
    <p:extLst>
      <p:ext uri="{BB962C8B-B14F-4D97-AF65-F5344CB8AC3E}">
        <p14:creationId xmlns:p14="http://schemas.microsoft.com/office/powerpoint/2010/main" val="3396093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14</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E41DE712-628B-14E2-5EAE-58364B00E720}"/>
              </a:ext>
            </a:extLst>
          </p:cNvPr>
          <p:cNvSpPr txBox="1"/>
          <p:nvPr/>
        </p:nvSpPr>
        <p:spPr>
          <a:xfrm>
            <a:off x="685800" y="396376"/>
            <a:ext cx="7696200" cy="6325129"/>
          </a:xfrm>
          <a:prstGeom prst="rect">
            <a:avLst/>
          </a:prstGeom>
          <a:noFill/>
        </p:spPr>
        <p:txBody>
          <a:bodyPr wrap="square">
            <a:spAutoFit/>
          </a:bodyPr>
          <a:lstStyle/>
          <a:p>
            <a:pPr marL="342900" lvl="0" indent="-342900" algn="just">
              <a:lnSpc>
                <a:spcPct val="150000"/>
              </a:lnSpc>
              <a:spcAft>
                <a:spcPts val="375"/>
              </a:spcAft>
              <a:buFont typeface="Wingdings" panose="05000000000000000000" pitchFamily="2" charset="2"/>
              <a:buChar char=""/>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Activity diagrams: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SzPts val="1000"/>
              <a:buFont typeface="Symbol" panose="05050102010706020507" pitchFamily="18" charset="2"/>
              <a:buChar char=""/>
              <a:tabLst>
                <a:tab pos="1600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Activity diagrams represent workflows in a graphical way.</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SzPts val="1000"/>
              <a:buFont typeface="Symbol" panose="05050102010706020507" pitchFamily="18" charset="2"/>
              <a:buChar char=""/>
              <a:tabLst>
                <a:tab pos="1600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They can be used to describe the business workflow or the operational workflow of any component in a system. Sometimes </a:t>
            </a:r>
            <a:r>
              <a:rPr lang="en-IN" sz="24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hlinkClick r:id="rId2"/>
              </a:rPr>
              <a:t>activity diagrams</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are used as an alternative to State machine diagrams.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Font typeface="Wingdings" panose="05000000000000000000" pitchFamily="2" charset="2"/>
              <a:buChar char=""/>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Interaction diagrams: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SzPts val="1000"/>
              <a:buFont typeface="Symbol" panose="05050102010706020507" pitchFamily="18" charset="2"/>
              <a:buChar char=""/>
              <a:tabLst>
                <a:tab pos="1600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Interaction diagrams are very similar to activity diagrams. While activity diagrams show a sequence of processes, Interaction </a:t>
            </a:r>
            <a:r>
              <a:rPr lang="en-IN" sz="24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hlinkClick r:id="rId3"/>
              </a:rPr>
              <a:t>overview diagrams</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show a sequence of interaction diagrams.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28844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15</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D786F1DE-8572-FB56-F91F-9E2010A481F6}"/>
              </a:ext>
            </a:extLst>
          </p:cNvPr>
          <p:cNvSpPr txBox="1"/>
          <p:nvPr/>
        </p:nvSpPr>
        <p:spPr>
          <a:xfrm>
            <a:off x="457197" y="382473"/>
            <a:ext cx="8305803" cy="5078570"/>
          </a:xfrm>
          <a:prstGeom prst="rect">
            <a:avLst/>
          </a:prstGeom>
          <a:noFill/>
        </p:spPr>
        <p:txBody>
          <a:bodyPr wrap="square">
            <a:spAutoFit/>
          </a:bodyPr>
          <a:lstStyle/>
          <a:p>
            <a:pPr marL="342900" lvl="0" indent="-342900" algn="just">
              <a:lnSpc>
                <a:spcPct val="150000"/>
              </a:lnSpc>
              <a:spcAft>
                <a:spcPts val="375"/>
              </a:spcAft>
              <a:buFont typeface="Wingdings" panose="05000000000000000000" pitchFamily="2" charset="2"/>
              <a:buChar char=""/>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Use case diagrams</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Font typeface="Wingdings" panose="05000000000000000000" pitchFamily="2" charset="2"/>
              <a:buChar char=""/>
            </a:pPr>
            <a:r>
              <a:rPr lang="en-IN" sz="20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hlinkClick r:id="rId2"/>
              </a:rPr>
              <a:t>Use case diagrams</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give a graphic overview of the actors involved in a system, different functions needed by those actors and how these different functions interact.</a:t>
            </a:r>
          </a:p>
          <a:p>
            <a:pPr marL="342900" lvl="0" indent="-342900" algn="just">
              <a:lnSpc>
                <a:spcPct val="150000"/>
              </a:lnSpc>
              <a:spcAft>
                <a:spcPts val="375"/>
              </a:spcAft>
              <a:buFont typeface="Wingdings" panose="05000000000000000000" pitchFamily="2" charset="2"/>
              <a:buChar char=""/>
            </a:pPr>
            <a:r>
              <a:rPr lang="en-IN" sz="2000" b="1" u="sng" dirty="0">
                <a:effectLst/>
                <a:latin typeface="Times New Roman" panose="02020603050405020304" pitchFamily="18" charset="0"/>
                <a:ea typeface="Times New Roman" panose="02020603050405020304" pitchFamily="18" charset="0"/>
                <a:cs typeface="Times New Roman" panose="02020603050405020304" pitchFamily="18" charset="0"/>
              </a:rPr>
              <a:t>Architectural </a:t>
            </a:r>
            <a:r>
              <a:rPr lang="en-IN" sz="2000" b="1" u="sng" dirty="0" err="1">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50000"/>
              </a:lnSpc>
              <a:spcAft>
                <a:spcPts val="375"/>
              </a:spcAft>
            </a:pPr>
            <a:r>
              <a:rPr lang="en-IN"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Architectural model represents the overall framework of the system. It     </a:t>
            </a:r>
          </a:p>
          <a:p>
            <a:pPr lvl="0" algn="just">
              <a:lnSpc>
                <a:spcPct val="150000"/>
              </a:lnSpc>
              <a:spcAft>
                <a:spcPts val="375"/>
              </a:spcAft>
            </a:pPr>
            <a:r>
              <a:rPr lang="en-IN"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contains both structural and </a:t>
            </a:r>
            <a:r>
              <a:rPr lang="en-IN"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behavioral</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elements of the system.   </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p>
          <a:p>
            <a:pPr lvl="0" algn="just">
              <a:lnSpc>
                <a:spcPct val="150000"/>
              </a:lnSpc>
              <a:spcAft>
                <a:spcPts val="375"/>
              </a:spcAft>
            </a:pP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Architectural model can be defined as the blueprint of the entire system. </a:t>
            </a:r>
          </a:p>
          <a:p>
            <a:pPr lvl="0" algn="just">
              <a:lnSpc>
                <a:spcPct val="150000"/>
              </a:lnSpc>
              <a:spcAft>
                <a:spcPts val="375"/>
              </a:spcAft>
            </a:pPr>
            <a:r>
              <a:rPr lang="en-IN"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Package diagram comes under architectural </a:t>
            </a:r>
            <a:r>
              <a:rPr lang="en-IN"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1371600" marR="30480" indent="457200" algn="just">
              <a:lnSpc>
                <a:spcPct val="150000"/>
              </a:lnSpc>
              <a:spcBef>
                <a:spcPts val="600"/>
              </a:spcBef>
              <a:spcAft>
                <a:spcPts val="720"/>
              </a:spcAf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78089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16</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63F810E9-4C8B-A97A-71F9-BB0D05918CC5}"/>
              </a:ext>
            </a:extLst>
          </p:cNvPr>
          <p:cNvSpPr txBox="1"/>
          <p:nvPr/>
        </p:nvSpPr>
        <p:spPr>
          <a:xfrm>
            <a:off x="0" y="174927"/>
            <a:ext cx="8915400" cy="4618380"/>
          </a:xfrm>
          <a:prstGeom prst="rect">
            <a:avLst/>
          </a:prstGeom>
          <a:noFill/>
        </p:spPr>
        <p:txBody>
          <a:bodyPr wrap="square">
            <a:spAutoFit/>
          </a:bodyPr>
          <a:lstStyle/>
          <a:p>
            <a:pPr>
              <a:lnSpc>
                <a:spcPct val="150000"/>
              </a:lnSpc>
            </a:pPr>
            <a:r>
              <a:rPr lang="en-IN" sz="2000" b="1" dirty="0">
                <a:latin typeface="Times New Roman" panose="02020603050405020304" pitchFamily="18" charset="0"/>
                <a:ea typeface="Calibri" panose="020F0502020204030204" pitchFamily="34" charset="0"/>
                <a:cs typeface="Times New Roman" panose="02020603050405020304" pitchFamily="18" charset="0"/>
              </a:rPr>
              <a:t>D</a:t>
            </a: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ata modelling</a:t>
            </a:r>
          </a:p>
          <a:p>
            <a:pPr marL="457200" algn="just">
              <a:lnSpc>
                <a:spcPct val="150000"/>
              </a:lnSpc>
            </a:pPr>
            <a:r>
              <a:rPr lang="en-IN" sz="2000" dirty="0">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Data </a:t>
            </a:r>
            <a:r>
              <a:rPr lang="en-IN" sz="2000" dirty="0" err="1">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dirty="0">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 in software engineering is the process of creating a data model by applying formal data model descriptions using data </a:t>
            </a:r>
            <a:r>
              <a:rPr lang="en-IN" sz="2000" dirty="0" err="1">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dirty="0">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 techniques. Data </a:t>
            </a:r>
            <a:r>
              <a:rPr lang="en-IN" sz="2000" dirty="0" err="1">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dirty="0">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 is a technique for defining business requirements for a database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Data modelling is the process used to structure how data is stored, as well as modelling relationships within the data.</a:t>
            </a:r>
          </a:p>
          <a:p>
            <a:pPr marL="457200" algn="just">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The goal is to create a visual data map that accurately describes the data structure, how data will flow through the system whilst highlighting important data relationships.</a:t>
            </a:r>
          </a:p>
          <a:p>
            <a:pPr marL="457200" algn="just">
              <a:lnSpc>
                <a:spcPct val="150000"/>
              </a:lnSpc>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dirty="0"/>
          </a:p>
        </p:txBody>
      </p:sp>
    </p:spTree>
    <p:extLst>
      <p:ext uri="{BB962C8B-B14F-4D97-AF65-F5344CB8AC3E}">
        <p14:creationId xmlns:p14="http://schemas.microsoft.com/office/powerpoint/2010/main" val="1417763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17</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63F810E9-4C8B-A97A-71F9-BB0D05918CC5}"/>
              </a:ext>
            </a:extLst>
          </p:cNvPr>
          <p:cNvSpPr txBox="1"/>
          <p:nvPr/>
        </p:nvSpPr>
        <p:spPr>
          <a:xfrm>
            <a:off x="0" y="174927"/>
            <a:ext cx="8915400" cy="6037550"/>
          </a:xfrm>
          <a:prstGeom prst="rect">
            <a:avLst/>
          </a:prstGeom>
          <a:noFill/>
        </p:spPr>
        <p:txBody>
          <a:bodyPr wrap="square">
            <a:spAutoFit/>
          </a:bodyPr>
          <a:lstStyle/>
          <a:p>
            <a:pPr marL="457200" algn="just">
              <a:lnSpc>
                <a:spcPct val="150000"/>
              </a:lnSpc>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b="1" u="sng" dirty="0">
                <a:effectLst/>
                <a:latin typeface="Times New Roman" panose="02020603050405020304" pitchFamily="18" charset="0"/>
                <a:ea typeface="Calibri" panose="020F0502020204030204" pitchFamily="34" charset="0"/>
                <a:cs typeface="Times New Roman" panose="02020603050405020304" pitchFamily="18" charset="0"/>
              </a:rPr>
              <a:t>Data Objects</a:t>
            </a: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	A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data object is a representation of  Composite information that must be understood by software.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 data object can be external entity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eg</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.,anything that produces or consumed information), a thing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eg.</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 report or a display), an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occurance</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eg.</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 telephone call) or event(</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eg.</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an alarm), a role(</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eg.</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salesperson), an organizational unit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eg.</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accounting department), a place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eg.</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warehouse), or a structure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eg.</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 file).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 data object encapsulates data only, there is no reference within a data objects.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50000"/>
              </a:lnSpc>
              <a:spcAft>
                <a:spcPts val="10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For example, a </a:t>
            </a: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person</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or a </a:t>
            </a: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car</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can be viewed as a data object in the sense that either can be defined in terms of a set of attributes. The description of the data object incorporates the data object and all of its attributes.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b="1" dirty="0">
                <a:effectLst/>
                <a:latin typeface="Times New Roman" panose="02020603050405020304" pitchFamily="18" charset="0"/>
                <a:ea typeface="Calibri" panose="020F0502020204030204" pitchFamily="34" charset="0"/>
              </a:rPr>
              <a:t> </a:t>
            </a:r>
            <a:endParaRPr lang="en-IN" dirty="0"/>
          </a:p>
        </p:txBody>
      </p:sp>
    </p:spTree>
    <p:extLst>
      <p:ext uri="{BB962C8B-B14F-4D97-AF65-F5344CB8AC3E}">
        <p14:creationId xmlns:p14="http://schemas.microsoft.com/office/powerpoint/2010/main" val="1149584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a:xfrm>
            <a:off x="3048000" y="2522537"/>
            <a:ext cx="2133600" cy="365125"/>
          </a:xfrm>
        </p:spPr>
        <p:txBody>
          <a:bodyPr/>
          <a:lstStyle/>
          <a:p>
            <a:fld id="{A94131EC-EA41-497C-8E12-E5C8AE2069A5}" type="slidenum">
              <a:rPr lang="en-US" smtClean="0"/>
              <a:pPr/>
              <a:t>18</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A262959-BDF7-C3BE-3CA0-7250107A3FC5}"/>
              </a:ext>
            </a:extLst>
          </p:cNvPr>
          <p:cNvSpPr txBox="1"/>
          <p:nvPr/>
        </p:nvSpPr>
        <p:spPr>
          <a:xfrm>
            <a:off x="304800" y="243142"/>
            <a:ext cx="8458200" cy="6760825"/>
          </a:xfrm>
          <a:prstGeom prst="rect">
            <a:avLst/>
          </a:prstGeom>
          <a:noFill/>
        </p:spPr>
        <p:txBody>
          <a:bodyPr wrap="square">
            <a:spAutoFit/>
          </a:bodyPr>
          <a:lstStyle/>
          <a:p>
            <a:pPr marL="457200" algn="just">
              <a:lnSpc>
                <a:spcPct val="150000"/>
              </a:lnSpc>
              <a:spcAft>
                <a:spcPts val="1000"/>
              </a:spcAft>
            </a:pPr>
            <a:r>
              <a:rPr lang="en-IN" sz="1800" b="1" u="sng" dirty="0">
                <a:effectLst/>
                <a:latin typeface="Times New Roman" panose="02020603050405020304" pitchFamily="18" charset="0"/>
                <a:ea typeface="Times New Roman" panose="02020603050405020304" pitchFamily="18" charset="0"/>
                <a:cs typeface="Times New Roman" panose="02020603050405020304" pitchFamily="18" charset="0"/>
              </a:rPr>
              <a:t>Structural </a:t>
            </a:r>
            <a:r>
              <a:rPr lang="en-IN" sz="1800" b="1" u="sng" dirty="0" err="1">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000000"/>
                </a:solidFill>
                <a:effectLst/>
                <a:latin typeface="Times New Roman" panose="02020603050405020304" pitchFamily="18" charset="0"/>
                <a:ea typeface="Times New Roman" panose="02020603050405020304" pitchFamily="18" charset="0"/>
              </a:rPr>
              <a:t>Structural </a:t>
            </a:r>
            <a:r>
              <a:rPr lang="en-IN" sz="1800" dirty="0" err="1">
                <a:solidFill>
                  <a:srgbClr val="000000"/>
                </a:solidFill>
                <a:effectLst/>
                <a:latin typeface="Times New Roman" panose="02020603050405020304" pitchFamily="18" charset="0"/>
                <a:ea typeface="Times New Roman" panose="02020603050405020304" pitchFamily="18" charset="0"/>
              </a:rPr>
              <a:t>modeling</a:t>
            </a:r>
            <a:r>
              <a:rPr lang="en-IN" sz="1800" dirty="0">
                <a:solidFill>
                  <a:srgbClr val="000000"/>
                </a:solidFill>
                <a:effectLst/>
                <a:latin typeface="Times New Roman" panose="02020603050405020304" pitchFamily="18" charset="0"/>
                <a:ea typeface="Times New Roman" panose="02020603050405020304" pitchFamily="18" charset="0"/>
              </a:rPr>
              <a:t> captures the static features of a system. </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Structural model represents the framework for the system and this framework is the place where all other components exist. Hence, the class diagram, component diagram and deployment diagrams are part of structural </a:t>
            </a:r>
            <a:r>
              <a:rPr lang="en-IN"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They all represent the elements and the mechanism to assemble them.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structural model never describes the dynamic </a:t>
            </a:r>
            <a:r>
              <a:rPr lang="en-IN"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behavior</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of the system. Class diagram is the most widely used structural diagram.</a:t>
            </a:r>
          </a:p>
          <a:p>
            <a:pPr marL="342900" lvl="0" indent="-342900" algn="just">
              <a:lnSpc>
                <a:spcPct val="150000"/>
              </a:lnSpc>
              <a:spcAft>
                <a:spcPts val="375"/>
              </a:spcAft>
              <a:buFont typeface="Wingdings" panose="05000000000000000000" pitchFamily="2" charset="2"/>
              <a:buChar char=""/>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Classes diagrams:</a:t>
            </a:r>
          </a:p>
          <a:p>
            <a:pPr lvl="0" algn="just">
              <a:lnSpc>
                <a:spcPct val="150000"/>
              </a:lnSpc>
              <a:spcAft>
                <a:spcPts val="375"/>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Class diagrams are the main building block of any object-oriented solution. It shows the classes in a system, attributes, and operations of each class and the relationship between each classes.</a:t>
            </a:r>
          </a:p>
          <a:p>
            <a:pPr lvl="0" algn="just">
              <a:lnSpc>
                <a:spcPct val="150000"/>
              </a:lnSpc>
              <a:spcAft>
                <a:spcPts val="375"/>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 class has three parts :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Font typeface="Symbol" panose="05050102010706020507" pitchFamily="18" charset="2"/>
              <a:buChar char=""/>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Name at the top</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Font typeface="Symbol" panose="05050102010706020507" pitchFamily="18" charset="2"/>
              <a:buChar char=""/>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Attributes in the middle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375"/>
              </a:spcAft>
              <a:buFont typeface="Symbol" panose="05050102010706020507" pitchFamily="18" charset="2"/>
              <a:buChar char=""/>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Operations or methods at the bottom.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23082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19</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256E9B51-7BDB-0060-EFB0-EABA40FB7844}"/>
              </a:ext>
            </a:extLst>
          </p:cNvPr>
          <p:cNvSpPr txBox="1"/>
          <p:nvPr/>
        </p:nvSpPr>
        <p:spPr>
          <a:xfrm>
            <a:off x="457199" y="306608"/>
            <a:ext cx="8610601" cy="4172104"/>
          </a:xfrm>
          <a:prstGeom prst="rect">
            <a:avLst/>
          </a:prstGeom>
          <a:noFill/>
        </p:spPr>
        <p:txBody>
          <a:bodyPr wrap="square">
            <a:spAutoFit/>
          </a:bodyPr>
          <a:lstStyle/>
          <a:p>
            <a:pPr algn="just">
              <a:lnSpc>
                <a:spcPct val="150000"/>
              </a:lnSpc>
              <a:spcAft>
                <a:spcPts val="1000"/>
              </a:spcAft>
            </a:pPr>
            <a:r>
              <a:rPr lang="en-IN" sz="1800" b="1" u="sng" dirty="0">
                <a:effectLst/>
                <a:latin typeface="Times New Roman" panose="02020603050405020304" pitchFamily="18" charset="0"/>
                <a:ea typeface="Calibri" panose="020F0502020204030204" pitchFamily="34" charset="0"/>
                <a:cs typeface="Times New Roman" panose="02020603050405020304" pitchFamily="18" charset="0"/>
              </a:rPr>
              <a:t>Data Attributes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Data attributes define the properties of a data object and take one of three   different characteristics. They can be used to</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Name an instance of the data objects.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Describe the instance.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Make reference to another instance in another table.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In addition, one or more of the attributes must be defined as an identifier, where the identifier attributes becomes a key  attributes when we want  to find  an instance of the  data objects.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19550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20</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2BC987D2-CAE3-0934-B8C3-063BDC3EF3C2}"/>
              </a:ext>
            </a:extLst>
          </p:cNvPr>
          <p:cNvSpPr txBox="1"/>
          <p:nvPr/>
        </p:nvSpPr>
        <p:spPr>
          <a:xfrm>
            <a:off x="-144380" y="1650877"/>
            <a:ext cx="8839200" cy="4043864"/>
          </a:xfrm>
          <a:prstGeom prst="rect">
            <a:avLst/>
          </a:prstGeom>
          <a:noFill/>
        </p:spPr>
        <p:txBody>
          <a:bodyPr wrap="square">
            <a:spAutoFit/>
          </a:bodyPr>
          <a:lstStyle/>
          <a:p>
            <a:pPr marL="457200" indent="457200"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values of the identifier must be unique, although this is not a requirement. The set of attributes that is appropriate for a given data object is determined through an understanding of the problem context.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attributes for car might serve well for an application that would be used by a department of motor vehicles, but these attributes would be useless for an automatic company that needs manufacturing control software.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To reduce the redundancy and to provide consistency in table these data objects tables are formalized by applying a set of normalization rules that will result in a relational model for the data. These normalization rules are: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77027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21</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5F575187-2162-EBD2-1667-6E5840FD1817}"/>
              </a:ext>
            </a:extLst>
          </p:cNvPr>
          <p:cNvSpPr txBox="1"/>
          <p:nvPr/>
        </p:nvSpPr>
        <p:spPr>
          <a:xfrm>
            <a:off x="762000" y="83470"/>
            <a:ext cx="8001000" cy="4202882"/>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 given instance of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adata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objects has one and only one value for each objects.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Attributes represent elementary data items they should contain no internal structure.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When more  than one attributes is used to identify  a data  objects  be sure that  descriptive  and referential attributes  represent  a characteristics of the  entire objects and not a characteristic of  some things that would be identified by only part of the  identifier.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All non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identifierattributes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must  represent some  characteristic of the  instance named  by the  identifier  of the data  objects  and describe some  other  attributes that is not  an identifier.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5614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19" name="TextBox 18">
            <a:extLst>
              <a:ext uri="{FF2B5EF4-FFF2-40B4-BE49-F238E27FC236}">
                <a16:creationId xmlns:a16="http://schemas.microsoft.com/office/drawing/2014/main" id="{00184457-0231-FC13-5ACF-FF8559D324B8}"/>
              </a:ext>
            </a:extLst>
          </p:cNvPr>
          <p:cNvSpPr txBox="1"/>
          <p:nvPr/>
        </p:nvSpPr>
        <p:spPr>
          <a:xfrm>
            <a:off x="152399" y="160588"/>
            <a:ext cx="8534399" cy="1926425"/>
          </a:xfrm>
          <a:prstGeom prst="rect">
            <a:avLst/>
          </a:prstGeom>
          <a:noFill/>
        </p:spPr>
        <p:txBody>
          <a:bodyPr wrap="square">
            <a:spAutoFit/>
          </a:bodyPr>
          <a:lstStyle/>
          <a:p>
            <a:pPr algn="just">
              <a:lnSpc>
                <a:spcPct val="150000"/>
              </a:lnSpc>
              <a:spcAft>
                <a:spcPts val="1000"/>
              </a:spcAft>
            </a:pPr>
            <a:r>
              <a:rPr lang="en-IN" sz="1800" b="1" u="sng" dirty="0">
                <a:effectLst/>
                <a:latin typeface="Times New Roman" panose="02020603050405020304" pitchFamily="18" charset="0"/>
                <a:ea typeface="Calibri" panose="020F0502020204030204" pitchFamily="34" charset="0"/>
                <a:cs typeface="Times New Roman" panose="02020603050405020304" pitchFamily="18" charset="0"/>
              </a:rPr>
              <a:t>Relationships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50000"/>
              </a:lnSpc>
              <a:spcAft>
                <a:spcPts val="1000"/>
              </a:spcAft>
            </a:pPr>
            <a:r>
              <a:rPr lang="en-IN" sz="1800" dirty="0">
                <a:effectLst/>
                <a:latin typeface="Times New Roman" panose="02020603050405020304" pitchFamily="18" charset="0"/>
                <a:ea typeface="Calibri" panose="020F0502020204030204" pitchFamily="34" charset="0"/>
              </a:rPr>
              <a:t>Data objects are connected to one another in different ways. Consider the two data objects, person and car. These objects can be represented using the simple notation.</a:t>
            </a:r>
          </a:p>
          <a:p>
            <a:pPr algn="just">
              <a:lnSpc>
                <a:spcPct val="150000"/>
              </a:lnSpc>
              <a:spcAft>
                <a:spcPts val="1000"/>
              </a:spcAf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1" name="Picture 20">
            <a:extLst>
              <a:ext uri="{FF2B5EF4-FFF2-40B4-BE49-F238E27FC236}">
                <a16:creationId xmlns:a16="http://schemas.microsoft.com/office/drawing/2014/main" id="{423899CE-F966-0CC7-FA43-DB1FCFBEB427}"/>
              </a:ext>
            </a:extLst>
          </p:cNvPr>
          <p:cNvPicPr>
            <a:picLocks noChangeAspect="1"/>
          </p:cNvPicPr>
          <p:nvPr/>
        </p:nvPicPr>
        <p:blipFill>
          <a:blip r:embed="rId2"/>
          <a:stretch>
            <a:fillRect/>
          </a:stretch>
        </p:blipFill>
        <p:spPr>
          <a:xfrm>
            <a:off x="2349386" y="1730287"/>
            <a:ext cx="4445228" cy="3397425"/>
          </a:xfrm>
          <a:prstGeom prst="rect">
            <a:avLst/>
          </a:prstGeom>
        </p:spPr>
      </p:pic>
    </p:spTree>
    <p:extLst>
      <p:ext uri="{BB962C8B-B14F-4D97-AF65-F5344CB8AC3E}">
        <p14:creationId xmlns:p14="http://schemas.microsoft.com/office/powerpoint/2010/main" val="2645639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23</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CDEBFEE7-FA64-3022-ECAE-4C822E2B71FC}"/>
              </a:ext>
            </a:extLst>
          </p:cNvPr>
          <p:cNvSpPr txBox="1"/>
          <p:nvPr/>
        </p:nvSpPr>
        <p:spPr>
          <a:xfrm>
            <a:off x="2286000" y="929856"/>
            <a:ext cx="4572000" cy="5003101"/>
          </a:xfrm>
          <a:prstGeom prst="rect">
            <a:avLst/>
          </a:prstGeom>
          <a:noFill/>
        </p:spPr>
        <p:txBody>
          <a:bodyPr wrap="square">
            <a:spAutoFit/>
          </a:bodyPr>
          <a:lstStyle/>
          <a:p>
            <a:pPr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 connection is established between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person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and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car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because the two objects are related.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For example,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 person owns a car.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 person is insured to drive a car.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47675"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relationships own and insured to drive define the relevant connections between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person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and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car.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It provide important information about the directionality of the relationship and often reduce ambiguity and misinterpretations.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675479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24</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B14B0FF5-3B71-80E4-5AFA-D61E65CAF380}"/>
              </a:ext>
            </a:extLst>
          </p:cNvPr>
          <p:cNvSpPr txBox="1"/>
          <p:nvPr/>
        </p:nvSpPr>
        <p:spPr>
          <a:xfrm>
            <a:off x="304798" y="1198727"/>
            <a:ext cx="8382001" cy="5516062"/>
          </a:xfrm>
          <a:prstGeom prst="rect">
            <a:avLst/>
          </a:prstGeom>
          <a:noFill/>
        </p:spPr>
        <p:txBody>
          <a:bodyPr wrap="square">
            <a:spAutoFit/>
          </a:bodyPr>
          <a:lstStyle/>
          <a:p>
            <a:pPr algn="just">
              <a:lnSpc>
                <a:spcPct val="150000"/>
              </a:lnSpc>
              <a:spcAft>
                <a:spcPts val="10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What is data </a:t>
            </a:r>
            <a:r>
              <a:rPr lang="en-IN" sz="1800" b="1" dirty="0" err="1">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in software engineering and Explain  its types.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Data modelling is the process used to structure how data is stored, as well as modelling relationships within the data. The goal is to create a visual data map that accurately describes the data structure, how data will flow through the system whilst highlighting important data relationships.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10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Types of Data Models: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There are mainly three different types of data models: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1.  Conceptual Data models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914400" indent="457200"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2. Logical Data models,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914400" indent="457200"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3. Physical Data models.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523875" algn="just">
              <a:lnSpc>
                <a:spcPct val="150000"/>
              </a:lnSpc>
              <a:spcAft>
                <a:spcPts val="10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04097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25</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5" name="Picture 4">
            <a:extLst>
              <a:ext uri="{FF2B5EF4-FFF2-40B4-BE49-F238E27FC236}">
                <a16:creationId xmlns:a16="http://schemas.microsoft.com/office/drawing/2014/main" id="{34D1B283-9E67-EC90-0762-6025E1331845}"/>
              </a:ext>
            </a:extLst>
          </p:cNvPr>
          <p:cNvPicPr>
            <a:picLocks noChangeAspect="1"/>
          </p:cNvPicPr>
          <p:nvPr/>
        </p:nvPicPr>
        <p:blipFill>
          <a:blip r:embed="rId2"/>
          <a:stretch>
            <a:fillRect/>
          </a:stretch>
        </p:blipFill>
        <p:spPr>
          <a:xfrm>
            <a:off x="1447800" y="206236"/>
            <a:ext cx="5353325" cy="2711589"/>
          </a:xfrm>
          <a:prstGeom prst="rect">
            <a:avLst/>
          </a:prstGeom>
        </p:spPr>
      </p:pic>
    </p:spTree>
    <p:extLst>
      <p:ext uri="{BB962C8B-B14F-4D97-AF65-F5344CB8AC3E}">
        <p14:creationId xmlns:p14="http://schemas.microsoft.com/office/powerpoint/2010/main" val="3684832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26</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C43FC5EA-D598-73F7-BE0D-7D4373B778DA}"/>
              </a:ext>
            </a:extLst>
          </p:cNvPr>
          <p:cNvSpPr txBox="1"/>
          <p:nvPr/>
        </p:nvSpPr>
        <p:spPr>
          <a:xfrm>
            <a:off x="-16043" y="1219200"/>
            <a:ext cx="8763000" cy="4587603"/>
          </a:xfrm>
          <a:prstGeom prst="rect">
            <a:avLst/>
          </a:prstGeom>
          <a:noFill/>
        </p:spPr>
        <p:txBody>
          <a:bodyPr wrap="square">
            <a:spAutoFit/>
          </a:bodyPr>
          <a:lstStyle/>
          <a:p>
            <a:pPr marL="523875" algn="just">
              <a:lnSpc>
                <a:spcPct val="150000"/>
              </a:lnSpc>
              <a:spcAft>
                <a:spcPts val="1000"/>
              </a:spcAft>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Conceptual Data models: </a:t>
            </a: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This Data Model defines </a:t>
            </a:r>
            <a:r>
              <a:rPr lang="en-IN" sz="18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WHAT</a:t>
            </a: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the system contains. This model is typically created by Business stakeholders and Data Architects. The purpose is to organize, scope and define business concepts and rules.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523875" algn="just">
              <a:lnSpc>
                <a:spcPct val="150000"/>
              </a:lnSpc>
              <a:spcAft>
                <a:spcPts val="1000"/>
              </a:spcAft>
            </a:pPr>
            <a:r>
              <a:rPr lang="en-IN" sz="1800" b="1" dirty="0">
                <a:solidFill>
                  <a:srgbClr val="222222"/>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523875" algn="just">
              <a:lnSpc>
                <a:spcPct val="150000"/>
              </a:lnSpc>
              <a:spcAft>
                <a:spcPts val="1000"/>
              </a:spcAft>
            </a:pPr>
            <a:r>
              <a:rPr lang="en-IN" sz="1800" b="1" dirty="0">
                <a:solidFill>
                  <a:srgbClr val="222222"/>
                </a:solidFill>
                <a:effectLst/>
                <a:latin typeface="Calibri" panose="020F0502020204030204" pitchFamily="34" charset="0"/>
                <a:ea typeface="Times New Roman" panose="02020603050405020304" pitchFamily="18" charset="0"/>
                <a:cs typeface="Times New Roman" panose="02020603050405020304" pitchFamily="18" charset="0"/>
              </a:rPr>
              <a:t>2. Logical Data Model:</a:t>
            </a: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Defines </a:t>
            </a:r>
            <a:r>
              <a:rPr lang="en-IN" sz="18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HOW</a:t>
            </a: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the system should be implemented regardless of the DBMS. This model is typically created by Data Architects and Business Analysts. The purpose is to developed technical map of rules and data structures.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523875" algn="just">
              <a:lnSpc>
                <a:spcPct val="150000"/>
              </a:lnSpc>
              <a:spcAft>
                <a:spcPts val="1000"/>
              </a:spcAft>
            </a:pPr>
            <a:r>
              <a:rPr lang="en-IN" sz="1800" b="1" dirty="0">
                <a:solidFill>
                  <a:srgbClr val="222222"/>
                </a:solidFill>
                <a:effectLst/>
                <a:latin typeface="Calibri" panose="020F0502020204030204" pitchFamily="34" charset="0"/>
                <a:ea typeface="Times New Roman" panose="02020603050405020304" pitchFamily="18" charset="0"/>
                <a:cs typeface="Times New Roman" panose="02020603050405020304" pitchFamily="18" charset="0"/>
              </a:rPr>
              <a:t>3. Physical Data Model</a:t>
            </a: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This Data Model describes </a:t>
            </a:r>
            <a:r>
              <a:rPr lang="en-IN" sz="18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HOW</a:t>
            </a: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the system will be implemented using a specific DBMS system. This model is typically created by DBA and developers. The purpose is actual implementation of the database.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12068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27</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3FC0B28B-068D-47D0-7526-E19DE072D24A}"/>
              </a:ext>
            </a:extLst>
          </p:cNvPr>
          <p:cNvSpPr txBox="1"/>
          <p:nvPr/>
        </p:nvSpPr>
        <p:spPr>
          <a:xfrm>
            <a:off x="152399" y="0"/>
            <a:ext cx="8839200" cy="6121356"/>
          </a:xfrm>
          <a:prstGeom prst="rect">
            <a:avLst/>
          </a:prstGeom>
          <a:noFill/>
        </p:spPr>
        <p:txBody>
          <a:bodyPr wrap="square">
            <a:spAutoFit/>
          </a:bodyPr>
          <a:lstStyle/>
          <a:p>
            <a:pPr algn="just">
              <a:lnSpc>
                <a:spcPct val="150000"/>
              </a:lnSpc>
              <a:spcAft>
                <a:spcPts val="10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Explain about dataflow diagrams with suitable example.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Data-flow diagrams: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Data-flow diagrams (DFDs) model a perspective of the system that is most readily understood by users – the flow of information through the system and the activities that process this information.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Data-flow diagrams provide a graphical representation of the system that aims to be accessible to computer specialist and non-specialist users alike.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models enable software engineers, customers and users to work together effectively during the analysis and specification of requirements.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Although this means that our customers are required to understand the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techniques and constructs, in data-flow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only a limited set of constructs are used, and the rules applied are designed to be simple and easy to follow.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These same rules and constructs apply to all data-flow diagrams (i.e., for each of the different software process activities in which DFDs can be used).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67550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28</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AFEB7846-0B6C-D093-DE95-D4B0C1134CF2}"/>
              </a:ext>
            </a:extLst>
          </p:cNvPr>
          <p:cNvSpPr txBox="1"/>
          <p:nvPr/>
        </p:nvSpPr>
        <p:spPr>
          <a:xfrm>
            <a:off x="2286000" y="-1835004"/>
            <a:ext cx="4572000" cy="10532820"/>
          </a:xfrm>
          <a:prstGeom prst="rect">
            <a:avLst/>
          </a:prstGeom>
          <a:noFill/>
        </p:spPr>
        <p:txBody>
          <a:bodyPr wrap="square">
            <a:spAutoFit/>
          </a:bodyPr>
          <a:lstStyle/>
          <a:p>
            <a:pPr marL="457200"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As can be seen, the DFD notation consists of only four main symbols: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Processes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 the activities carried out by the system which use and transform information. Processes are notated as rectangles with three parts, such as “Order Supplies” and “Make Payments” in the above example.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Data-flows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 the data inputs to and outputs from to these activities. Data-flows are notated as named arrows, such as “Delivery” and “Supply Order” in the example above.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External entities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 the sources from which information flows into the system and the recipients of information leaving the system. External entities are notated as ovals, such as “Supplier” in the example above.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Data stores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 where information is stored within the system. Data stores are notated as rectangles with two parts, such as “Supplier Details” and “Orders” in the example above.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01228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29</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5EB2F359-07A1-2BD9-4271-07DE5A60882C}"/>
              </a:ext>
            </a:extLst>
          </p:cNvPr>
          <p:cNvSpPr txBox="1"/>
          <p:nvPr/>
        </p:nvSpPr>
        <p:spPr>
          <a:xfrm>
            <a:off x="2286000" y="1953213"/>
            <a:ext cx="4572000" cy="2956387"/>
          </a:xfrm>
          <a:prstGeom prst="rect">
            <a:avLst/>
          </a:prstGeom>
          <a:noFill/>
        </p:spPr>
        <p:txBody>
          <a:bodyPr wrap="square">
            <a:spAutoFit/>
          </a:bodyPr>
          <a:lstStyle/>
          <a:p>
            <a:pPr marL="457200" indent="457200"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diagrams are supplemented by supporting documentation including a data dictionary, describing the contents of data-flows and data stores; and process definitions, which provide detailed descriptions of the processes identified in the data-flow diagram.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295866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30</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3EA5FEFA-59BE-F27D-05BE-64FB8FF98229}"/>
              </a:ext>
            </a:extLst>
          </p:cNvPr>
          <p:cNvSpPr txBox="1"/>
          <p:nvPr/>
        </p:nvSpPr>
        <p:spPr>
          <a:xfrm>
            <a:off x="437146" y="616964"/>
            <a:ext cx="7772400" cy="6001643"/>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Data Modeling: </a:t>
            </a:r>
            <a:r>
              <a:rPr lang="en-US" sz="2400" i="0" dirty="0">
                <a:solidFill>
                  <a:srgbClr val="202124"/>
                </a:solidFill>
                <a:effectLst/>
                <a:latin typeface="Times New Roman" panose="02020603050405020304" pitchFamily="18" charset="0"/>
                <a:cs typeface="Times New Roman" panose="02020603050405020304" pitchFamily="18" charset="0"/>
              </a:rPr>
              <a:t>Data modeling is the process of creating a simplified diagram of a software system and the data elements it contains, using text and symbols to represent the data and how it flows.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Modeling concepts:</a:t>
            </a:r>
          </a:p>
          <a:p>
            <a:r>
              <a:rPr lang="en-US" sz="2400" dirty="0">
                <a:latin typeface="Times New Roman" panose="02020603050405020304" pitchFamily="18" charset="0"/>
                <a:cs typeface="Times New Roman" panose="02020603050405020304" pitchFamily="18" charset="0"/>
              </a:rPr>
              <a:t>Data Objects :A data object can be an external entity , a thing ,an occurrence or event ,a role, an organizational unit, a place, or a structure. </a:t>
            </a:r>
          </a:p>
          <a:p>
            <a:r>
              <a:rPr lang="en-US" sz="2400" dirty="0">
                <a:latin typeface="Times New Roman" panose="02020603050405020304" pitchFamily="18" charset="0"/>
                <a:cs typeface="Times New Roman" panose="02020603050405020304" pitchFamily="18" charset="0"/>
              </a:rPr>
              <a:t>Data Attributes :Data attributes define the properties of a data object.</a:t>
            </a:r>
          </a:p>
          <a:p>
            <a:r>
              <a:rPr lang="en-US" sz="2400" dirty="0">
                <a:latin typeface="Times New Roman" panose="02020603050405020304" pitchFamily="18" charset="0"/>
                <a:cs typeface="Times New Roman" panose="02020603050405020304" pitchFamily="18" charset="0"/>
              </a:rPr>
              <a:t>They can be used to (1) name an instance of the data object, </a:t>
            </a:r>
          </a:p>
          <a:p>
            <a:r>
              <a:rPr lang="en-US" sz="2400" dirty="0">
                <a:latin typeface="Times New Roman" panose="02020603050405020304" pitchFamily="18" charset="0"/>
                <a:cs typeface="Times New Roman" panose="02020603050405020304" pitchFamily="18" charset="0"/>
              </a:rPr>
              <a:t>(2) describe the instance, or (3) make reference to another instance in another table.</a:t>
            </a:r>
          </a:p>
          <a:p>
            <a:r>
              <a:rPr lang="en-US" sz="2400" dirty="0">
                <a:latin typeface="Times New Roman" panose="02020603050405020304" pitchFamily="18" charset="0"/>
                <a:cs typeface="Times New Roman" panose="02020603050405020304" pitchFamily="18" charset="0"/>
              </a:rPr>
              <a:t> In addition, one or more of the attributes must be defined as an identifier—that is, the identifier attribute becomes a "key" when we want to find an instance of the data object.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7109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31</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3" name="Picture 2">
            <a:extLst>
              <a:ext uri="{FF2B5EF4-FFF2-40B4-BE49-F238E27FC236}">
                <a16:creationId xmlns:a16="http://schemas.microsoft.com/office/drawing/2014/main" id="{70E238AA-E4EC-D986-66F8-BDA7EDDBF86A}"/>
              </a:ext>
            </a:extLst>
          </p:cNvPr>
          <p:cNvPicPr>
            <a:picLocks noChangeAspect="1"/>
          </p:cNvPicPr>
          <p:nvPr/>
        </p:nvPicPr>
        <p:blipFill>
          <a:blip r:embed="rId2"/>
          <a:stretch>
            <a:fillRect/>
          </a:stretch>
        </p:blipFill>
        <p:spPr>
          <a:xfrm>
            <a:off x="1504749" y="328480"/>
            <a:ext cx="5150115" cy="2559182"/>
          </a:xfrm>
          <a:prstGeom prst="rect">
            <a:avLst/>
          </a:prstGeom>
        </p:spPr>
      </p:pic>
      <p:pic>
        <p:nvPicPr>
          <p:cNvPr id="5" name="Picture 4">
            <a:extLst>
              <a:ext uri="{FF2B5EF4-FFF2-40B4-BE49-F238E27FC236}">
                <a16:creationId xmlns:a16="http://schemas.microsoft.com/office/drawing/2014/main" id="{CDF9BECA-3E0A-9562-160C-FA785DF75DA0}"/>
              </a:ext>
            </a:extLst>
          </p:cNvPr>
          <p:cNvPicPr>
            <a:picLocks noChangeAspect="1"/>
          </p:cNvPicPr>
          <p:nvPr/>
        </p:nvPicPr>
        <p:blipFill>
          <a:blip r:embed="rId3"/>
          <a:stretch>
            <a:fillRect/>
          </a:stretch>
        </p:blipFill>
        <p:spPr>
          <a:xfrm>
            <a:off x="1524000" y="3505201"/>
            <a:ext cx="5226319" cy="2502029"/>
          </a:xfrm>
          <a:prstGeom prst="rect">
            <a:avLst/>
          </a:prstGeom>
        </p:spPr>
      </p:pic>
    </p:spTree>
    <p:extLst>
      <p:ext uri="{BB962C8B-B14F-4D97-AF65-F5344CB8AC3E}">
        <p14:creationId xmlns:p14="http://schemas.microsoft.com/office/powerpoint/2010/main" val="35225129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51A2773B-A33D-C8A4-A7D0-EE51109E11E7}"/>
              </a:ext>
            </a:extLst>
          </p:cNvPr>
          <p:cNvSpPr txBox="1"/>
          <p:nvPr/>
        </p:nvSpPr>
        <p:spPr>
          <a:xfrm>
            <a:off x="445968" y="762000"/>
            <a:ext cx="7772399" cy="3785652"/>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Data objects are connected to one another in different ways. Consider the two objects person and car ,a connection is established between them because they are related. For example </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person owns a car </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person is insured to drive a car.</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Cardinality and Modality </a:t>
            </a:r>
          </a:p>
          <a:p>
            <a:r>
              <a:rPr lang="en-US" sz="2400" dirty="0">
                <a:latin typeface="Times New Roman" panose="02020603050405020304" pitchFamily="18" charset="0"/>
                <a:cs typeface="Times New Roman" panose="02020603050405020304" pitchFamily="18" charset="0"/>
              </a:rPr>
              <a:t>We must understand how many occurrences of object X are related to how many occurrences of </a:t>
            </a:r>
            <a:r>
              <a:rPr lang="en-US" sz="2400" dirty="0" err="1">
                <a:latin typeface="Times New Roman" panose="02020603050405020304" pitchFamily="18" charset="0"/>
                <a:cs typeface="Times New Roman" panose="02020603050405020304" pitchFamily="18" charset="0"/>
              </a:rPr>
              <a:t>objectY</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This leads to a data modeling concept called cardinality.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16431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33</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5" name="Picture 4">
            <a:extLst>
              <a:ext uri="{FF2B5EF4-FFF2-40B4-BE49-F238E27FC236}">
                <a16:creationId xmlns:a16="http://schemas.microsoft.com/office/drawing/2014/main" id="{2D3D8B2F-84AD-5E83-6D73-A52D734A9838}"/>
              </a:ext>
            </a:extLst>
          </p:cNvPr>
          <p:cNvPicPr>
            <a:picLocks noChangeAspect="1"/>
          </p:cNvPicPr>
          <p:nvPr/>
        </p:nvPicPr>
        <p:blipFill>
          <a:blip r:embed="rId2"/>
          <a:stretch>
            <a:fillRect/>
          </a:stretch>
        </p:blipFill>
        <p:spPr>
          <a:xfrm>
            <a:off x="457197" y="457200"/>
            <a:ext cx="7077230" cy="6172197"/>
          </a:xfrm>
          <a:prstGeom prst="rect">
            <a:avLst/>
          </a:prstGeom>
        </p:spPr>
      </p:pic>
    </p:spTree>
    <p:extLst>
      <p:ext uri="{BB962C8B-B14F-4D97-AF65-F5344CB8AC3E}">
        <p14:creationId xmlns:p14="http://schemas.microsoft.com/office/powerpoint/2010/main" val="1288345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34</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50E5AE75-AF22-BFD2-FDF2-485219B96260}"/>
              </a:ext>
            </a:extLst>
          </p:cNvPr>
          <p:cNvSpPr txBox="1"/>
          <p:nvPr/>
        </p:nvSpPr>
        <p:spPr>
          <a:xfrm>
            <a:off x="457197" y="753750"/>
            <a:ext cx="8229600" cy="6304611"/>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Flow-Oriented Modeling </a:t>
            </a:r>
          </a:p>
          <a:p>
            <a:endParaRPr lang="en-US" sz="2400" dirty="0">
              <a:latin typeface="Times New Roman" panose="02020603050405020304" pitchFamily="18" charset="0"/>
              <a:cs typeface="Times New Roman" panose="02020603050405020304" pitchFamily="18" charset="0"/>
            </a:endParaRPr>
          </a:p>
          <a:p>
            <a:pPr>
              <a:lnSpc>
                <a:spcPct val="150000"/>
              </a:lnSpc>
            </a:pPr>
            <a:r>
              <a:rPr lang="en-US" sz="2400" b="1" i="0" dirty="0">
                <a:solidFill>
                  <a:srgbClr val="333333"/>
                </a:solidFill>
                <a:effectLst/>
                <a:latin typeface="Times New Roman" panose="02020603050405020304" pitchFamily="18" charset="0"/>
                <a:cs typeface="Times New Roman" panose="02020603050405020304" pitchFamily="18" charset="0"/>
              </a:rPr>
              <a:t>A Data Flow Diagram (DFD) </a:t>
            </a:r>
            <a:r>
              <a:rPr lang="en-US" sz="2400" b="0" i="0" dirty="0">
                <a:solidFill>
                  <a:srgbClr val="333333"/>
                </a:solidFill>
                <a:effectLst/>
                <a:latin typeface="Times New Roman" panose="02020603050405020304" pitchFamily="18" charset="0"/>
                <a:cs typeface="Times New Roman" panose="02020603050405020304" pitchFamily="18" charset="0"/>
              </a:rPr>
              <a:t>is a traditional visual representation of the information flows within a system. A neat and clear DFD can depict the right amount of the system requirement graphically.</a:t>
            </a:r>
          </a:p>
          <a:p>
            <a:pPr>
              <a:lnSpc>
                <a:spcPct val="150000"/>
              </a:lnSpc>
            </a:pPr>
            <a:r>
              <a:rPr lang="en-US" sz="2400" b="0" i="0" dirty="0">
                <a:solidFill>
                  <a:srgbClr val="333333"/>
                </a:solidFill>
                <a:effectLst/>
                <a:latin typeface="Times New Roman" panose="02020603050405020304" pitchFamily="18" charset="0"/>
                <a:cs typeface="Times New Roman" panose="02020603050405020304" pitchFamily="18" charset="0"/>
              </a:rPr>
              <a:t>The objective of a DFD is to show the scope and boundaries of a system as a whole. </a:t>
            </a:r>
          </a:p>
          <a:p>
            <a:pPr>
              <a:lnSpc>
                <a:spcPct val="150000"/>
              </a:lnSpc>
            </a:pPr>
            <a:r>
              <a:rPr lang="en-US" sz="2400" b="0" i="0" dirty="0">
                <a:solidFill>
                  <a:srgbClr val="333333"/>
                </a:solidFill>
                <a:effectLst/>
                <a:latin typeface="Times New Roman" panose="02020603050405020304" pitchFamily="18" charset="0"/>
                <a:cs typeface="Times New Roman" panose="02020603050405020304" pitchFamily="18" charset="0"/>
              </a:rPr>
              <a:t>It may be used as a communication tool between a system analyst and any person who plays a part in the order that acts as a starting point for designing a system. </a:t>
            </a:r>
          </a:p>
          <a:p>
            <a:pPr>
              <a:lnSpc>
                <a:spcPct val="150000"/>
              </a:lnSpc>
            </a:pPr>
            <a:r>
              <a:rPr lang="en-US" sz="2400" b="0" i="0" dirty="0">
                <a:solidFill>
                  <a:srgbClr val="333333"/>
                </a:solidFill>
                <a:effectLst/>
                <a:latin typeface="Times New Roman" panose="02020603050405020304" pitchFamily="18" charset="0"/>
                <a:cs typeface="Times New Roman" panose="02020603050405020304" pitchFamily="18" charset="0"/>
              </a:rPr>
              <a:t>The DFD is also called as a data flow graph or bubble chart.</a:t>
            </a:r>
            <a:endParaRPr lang="en-US" sz="2400" dirty="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3043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35</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5" name="Picture 4">
            <a:extLst>
              <a:ext uri="{FF2B5EF4-FFF2-40B4-BE49-F238E27FC236}">
                <a16:creationId xmlns:a16="http://schemas.microsoft.com/office/drawing/2014/main" id="{67DD9EC5-60B0-013D-3425-D512B8F92B3E}"/>
              </a:ext>
            </a:extLst>
          </p:cNvPr>
          <p:cNvPicPr>
            <a:picLocks noChangeAspect="1"/>
          </p:cNvPicPr>
          <p:nvPr/>
        </p:nvPicPr>
        <p:blipFill>
          <a:blip r:embed="rId2"/>
          <a:stretch>
            <a:fillRect/>
          </a:stretch>
        </p:blipFill>
        <p:spPr>
          <a:xfrm>
            <a:off x="1720703" y="1057153"/>
            <a:ext cx="5702593" cy="4743694"/>
          </a:xfrm>
          <a:prstGeom prst="rect">
            <a:avLst/>
          </a:prstGeom>
        </p:spPr>
      </p:pic>
    </p:spTree>
    <p:extLst>
      <p:ext uri="{BB962C8B-B14F-4D97-AF65-F5344CB8AC3E}">
        <p14:creationId xmlns:p14="http://schemas.microsoft.com/office/powerpoint/2010/main" val="34437750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36</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A79690EE-1E88-036B-63F2-70E5CF9BEF75}"/>
              </a:ext>
            </a:extLst>
          </p:cNvPr>
          <p:cNvSpPr txBox="1"/>
          <p:nvPr/>
        </p:nvSpPr>
        <p:spPr>
          <a:xfrm>
            <a:off x="304800" y="559459"/>
            <a:ext cx="8077200" cy="6119945"/>
          </a:xfrm>
          <a:prstGeom prst="rect">
            <a:avLst/>
          </a:prstGeom>
          <a:noFill/>
        </p:spPr>
        <p:txBody>
          <a:bodyPr wrap="square">
            <a:spAutoFit/>
          </a:bodyPr>
          <a:lstStyle/>
          <a:p>
            <a:pPr algn="just">
              <a:lnSpc>
                <a:spcPct val="150000"/>
              </a:lnSpc>
            </a:pPr>
            <a:r>
              <a:rPr lang="en-US" sz="2400" b="1" i="0" dirty="0">
                <a:solidFill>
                  <a:srgbClr val="333333"/>
                </a:solidFill>
                <a:effectLst/>
                <a:latin typeface="Times New Roman" panose="02020603050405020304" pitchFamily="18" charset="0"/>
                <a:cs typeface="Times New Roman" panose="02020603050405020304" pitchFamily="18" charset="0"/>
              </a:rPr>
              <a:t>Circle:</a:t>
            </a:r>
            <a:r>
              <a:rPr lang="en-US" sz="2400" b="0" i="0" dirty="0">
                <a:solidFill>
                  <a:srgbClr val="333333"/>
                </a:solidFill>
                <a:effectLst/>
                <a:latin typeface="Times New Roman" panose="02020603050405020304" pitchFamily="18" charset="0"/>
                <a:cs typeface="Times New Roman" panose="02020603050405020304" pitchFamily="18" charset="0"/>
              </a:rPr>
              <a:t> A circle (bubble) shows a process that transforms data inputs into data outputs.</a:t>
            </a:r>
          </a:p>
          <a:p>
            <a:pPr algn="just">
              <a:lnSpc>
                <a:spcPct val="150000"/>
              </a:lnSpc>
            </a:pPr>
            <a:r>
              <a:rPr lang="en-US" sz="2400" b="1" i="0" dirty="0">
                <a:solidFill>
                  <a:srgbClr val="333333"/>
                </a:solidFill>
                <a:effectLst/>
                <a:latin typeface="Times New Roman" panose="02020603050405020304" pitchFamily="18" charset="0"/>
                <a:cs typeface="Times New Roman" panose="02020603050405020304" pitchFamily="18" charset="0"/>
              </a:rPr>
              <a:t>Data Flow:</a:t>
            </a:r>
            <a:r>
              <a:rPr lang="en-US" sz="2400" b="0" i="0" dirty="0">
                <a:solidFill>
                  <a:srgbClr val="333333"/>
                </a:solidFill>
                <a:effectLst/>
                <a:latin typeface="Times New Roman" panose="02020603050405020304" pitchFamily="18" charset="0"/>
                <a:cs typeface="Times New Roman" panose="02020603050405020304" pitchFamily="18" charset="0"/>
              </a:rPr>
              <a:t> A curved line shows the flow of data into or out of a process or data store.</a:t>
            </a:r>
          </a:p>
          <a:p>
            <a:pPr algn="just">
              <a:lnSpc>
                <a:spcPct val="150000"/>
              </a:lnSpc>
            </a:pPr>
            <a:r>
              <a:rPr lang="en-US" sz="2400" b="1" i="0" dirty="0">
                <a:solidFill>
                  <a:srgbClr val="333333"/>
                </a:solidFill>
                <a:effectLst/>
                <a:latin typeface="Times New Roman" panose="02020603050405020304" pitchFamily="18" charset="0"/>
                <a:cs typeface="Times New Roman" panose="02020603050405020304" pitchFamily="18" charset="0"/>
              </a:rPr>
              <a:t>Data Store:</a:t>
            </a:r>
            <a:r>
              <a:rPr lang="en-US" sz="2400" b="0" i="0" dirty="0">
                <a:solidFill>
                  <a:srgbClr val="333333"/>
                </a:solidFill>
                <a:effectLst/>
                <a:latin typeface="Times New Roman" panose="02020603050405020304" pitchFamily="18" charset="0"/>
                <a:cs typeface="Times New Roman" panose="02020603050405020304" pitchFamily="18" charset="0"/>
              </a:rPr>
              <a:t> A set of parallel lines shows a place for the collection of data items. A data store indicates that the data is stored which can be used at a later stage or by the other processes in a different order. The data store can have an element or group of elements.</a:t>
            </a:r>
          </a:p>
          <a:p>
            <a:pPr algn="just">
              <a:lnSpc>
                <a:spcPct val="150000"/>
              </a:lnSpc>
            </a:pPr>
            <a:r>
              <a:rPr lang="en-US" sz="2400" b="1" i="0" dirty="0">
                <a:solidFill>
                  <a:srgbClr val="333333"/>
                </a:solidFill>
                <a:effectLst/>
                <a:latin typeface="Times New Roman" panose="02020603050405020304" pitchFamily="18" charset="0"/>
                <a:cs typeface="Times New Roman" panose="02020603050405020304" pitchFamily="18" charset="0"/>
              </a:rPr>
              <a:t>Source or Sink:</a:t>
            </a:r>
            <a:r>
              <a:rPr lang="en-US" sz="2400" b="0" i="0" dirty="0">
                <a:solidFill>
                  <a:srgbClr val="333333"/>
                </a:solidFill>
                <a:effectLst/>
                <a:latin typeface="Times New Roman" panose="02020603050405020304" pitchFamily="18" charset="0"/>
                <a:cs typeface="Times New Roman" panose="02020603050405020304" pitchFamily="18" charset="0"/>
              </a:rPr>
              <a:t> Source or Sink is an external entity and acts as a source of system inputs or sink of system outputs.</a:t>
            </a:r>
          </a:p>
        </p:txBody>
      </p:sp>
    </p:spTree>
    <p:extLst>
      <p:ext uri="{BB962C8B-B14F-4D97-AF65-F5344CB8AC3E}">
        <p14:creationId xmlns:p14="http://schemas.microsoft.com/office/powerpoint/2010/main" val="33698546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37</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5D6ACFE7-6364-BD69-83D5-76A7832E059B}"/>
              </a:ext>
            </a:extLst>
          </p:cNvPr>
          <p:cNvSpPr txBox="1"/>
          <p:nvPr/>
        </p:nvSpPr>
        <p:spPr>
          <a:xfrm>
            <a:off x="761999" y="227994"/>
            <a:ext cx="7924799" cy="2677656"/>
          </a:xfrm>
          <a:prstGeom prst="rect">
            <a:avLst/>
          </a:prstGeom>
          <a:noFill/>
        </p:spPr>
        <p:txBody>
          <a:bodyPr wrap="square">
            <a:spAutoFit/>
          </a:bodyPr>
          <a:lstStyle/>
          <a:p>
            <a:pPr algn="l" fontAlgn="base">
              <a:lnSpc>
                <a:spcPct val="150000"/>
              </a:lnSpc>
            </a:pPr>
            <a:r>
              <a:rPr lang="en-US" sz="2000" b="1" i="0" dirty="0">
                <a:solidFill>
                  <a:srgbClr val="273239"/>
                </a:solidFill>
                <a:effectLst/>
                <a:latin typeface="Times New Roman" panose="02020603050405020304" pitchFamily="18" charset="0"/>
                <a:cs typeface="Times New Roman" panose="02020603050405020304" pitchFamily="18" charset="0"/>
              </a:rPr>
              <a:t>0-level DFD:</a:t>
            </a:r>
            <a:r>
              <a:rPr lang="en-US" sz="2000" b="0" i="0" dirty="0">
                <a:solidFill>
                  <a:srgbClr val="273239"/>
                </a:solidFill>
                <a:effectLst/>
                <a:latin typeface="Times New Roman" panose="02020603050405020304" pitchFamily="18" charset="0"/>
                <a:cs typeface="Times New Roman" panose="02020603050405020304" pitchFamily="18" charset="0"/>
              </a:rPr>
              <a:t> </a:t>
            </a:r>
            <a:br>
              <a:rPr lang="en-US" sz="2000" b="0" i="0" dirty="0">
                <a:solidFill>
                  <a:srgbClr val="273239"/>
                </a:solidFill>
                <a:effectLst/>
                <a:latin typeface="Times New Roman" panose="02020603050405020304" pitchFamily="18" charset="0"/>
                <a:cs typeface="Times New Roman" panose="02020603050405020304" pitchFamily="18" charset="0"/>
              </a:rPr>
            </a:br>
            <a:r>
              <a:rPr lang="en-US" sz="2000" b="0" i="0" dirty="0">
                <a:solidFill>
                  <a:srgbClr val="273239"/>
                </a:solidFill>
                <a:effectLst/>
                <a:latin typeface="Times New Roman" panose="02020603050405020304" pitchFamily="18" charset="0"/>
                <a:cs typeface="Times New Roman" panose="02020603050405020304" pitchFamily="18" charset="0"/>
              </a:rPr>
              <a:t>It is also known as a context diagram. It’s designed to be an abstraction view, showing the system as a single process with its relationship to external entities. It represents the entire system as a single bubble with input and output data indicated by incoming/outgoing arrows. </a:t>
            </a:r>
          </a:p>
          <a:p>
            <a:pPr algn="l" fontAlgn="base"/>
            <a:r>
              <a:rPr lang="en-US" b="0" i="0" dirty="0">
                <a:solidFill>
                  <a:srgbClr val="273239"/>
                </a:solidFill>
                <a:effectLst/>
                <a:latin typeface="urw-din"/>
              </a:rPr>
              <a:t> </a:t>
            </a:r>
          </a:p>
        </p:txBody>
      </p:sp>
      <p:pic>
        <p:nvPicPr>
          <p:cNvPr id="8" name="Picture 7">
            <a:extLst>
              <a:ext uri="{FF2B5EF4-FFF2-40B4-BE49-F238E27FC236}">
                <a16:creationId xmlns:a16="http://schemas.microsoft.com/office/drawing/2014/main" id="{96EAF252-3D70-BEC9-853C-BE1DC3EB8116}"/>
              </a:ext>
            </a:extLst>
          </p:cNvPr>
          <p:cNvPicPr>
            <a:picLocks noChangeAspect="1"/>
          </p:cNvPicPr>
          <p:nvPr/>
        </p:nvPicPr>
        <p:blipFill>
          <a:blip r:embed="rId2"/>
          <a:stretch>
            <a:fillRect/>
          </a:stretch>
        </p:blipFill>
        <p:spPr>
          <a:xfrm>
            <a:off x="1143000" y="3276532"/>
            <a:ext cx="6083613" cy="2654436"/>
          </a:xfrm>
          <a:prstGeom prst="rect">
            <a:avLst/>
          </a:prstGeom>
        </p:spPr>
      </p:pic>
    </p:spTree>
    <p:extLst>
      <p:ext uri="{BB962C8B-B14F-4D97-AF65-F5344CB8AC3E}">
        <p14:creationId xmlns:p14="http://schemas.microsoft.com/office/powerpoint/2010/main" val="1715054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38</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47C5056B-D38F-93E3-70DE-017BACE3EF9F}"/>
              </a:ext>
            </a:extLst>
          </p:cNvPr>
          <p:cNvSpPr txBox="1"/>
          <p:nvPr/>
        </p:nvSpPr>
        <p:spPr>
          <a:xfrm>
            <a:off x="685800" y="457200"/>
            <a:ext cx="7696200" cy="4062651"/>
          </a:xfrm>
          <a:prstGeom prst="rect">
            <a:avLst/>
          </a:prstGeom>
          <a:noFill/>
        </p:spPr>
        <p:txBody>
          <a:bodyPr wrap="square">
            <a:spAutoFit/>
          </a:bodyPr>
          <a:lstStyle/>
          <a:p>
            <a:pPr algn="l" fontAlgn="base"/>
            <a:r>
              <a:rPr lang="en-US" sz="2400" b="1" i="0" dirty="0">
                <a:solidFill>
                  <a:srgbClr val="273239"/>
                </a:solidFill>
                <a:effectLst/>
                <a:latin typeface="Times New Roman" panose="02020603050405020304" pitchFamily="18" charset="0"/>
                <a:cs typeface="Times New Roman" panose="02020603050405020304" pitchFamily="18" charset="0"/>
              </a:rPr>
              <a:t>Levels in Data Flow Diagrams (DFD)</a:t>
            </a: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In Software engineering DFD(data flow diagram) can be drawn to represent the system of different levels of abstraction. </a:t>
            </a: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Higher-level DFDs are partitioned into low levels-hacking more information and functional elements. </a:t>
            </a: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Levels in DFD are numbered 0, 1, 2 or beyond. Here, we will see mainly 3 levels in the data flow diagram, which are: 0-level DFD, 1-level DFD, and 2-level DFD.</a:t>
            </a: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 </a:t>
            </a:r>
            <a:endParaRPr lang="en-US" sz="2400" b="1" i="0" dirty="0">
              <a:solidFill>
                <a:srgbClr val="273239"/>
              </a:solidFill>
              <a:effectLst/>
              <a:latin typeface="Times New Roman" panose="02020603050405020304" pitchFamily="18" charset="0"/>
              <a:cs typeface="Times New Roman" panose="02020603050405020304" pitchFamily="18" charset="0"/>
            </a:endParaRPr>
          </a:p>
          <a:p>
            <a:pPr algn="l" fontAlgn="base"/>
            <a:endParaRPr lang="en-US" b="1" i="0" dirty="0">
              <a:solidFill>
                <a:srgbClr val="273239"/>
              </a:solidFill>
              <a:effectLst/>
              <a:latin typeface="sofia-pro"/>
            </a:endParaRPr>
          </a:p>
        </p:txBody>
      </p:sp>
      <p:pic>
        <p:nvPicPr>
          <p:cNvPr id="8" name="Picture 7">
            <a:extLst>
              <a:ext uri="{FF2B5EF4-FFF2-40B4-BE49-F238E27FC236}">
                <a16:creationId xmlns:a16="http://schemas.microsoft.com/office/drawing/2014/main" id="{4BABD24D-5956-F635-E89E-3A34F3383E28}"/>
              </a:ext>
            </a:extLst>
          </p:cNvPr>
          <p:cNvPicPr>
            <a:picLocks noChangeAspect="1"/>
          </p:cNvPicPr>
          <p:nvPr/>
        </p:nvPicPr>
        <p:blipFill>
          <a:blip r:embed="rId2"/>
          <a:stretch>
            <a:fillRect/>
          </a:stretch>
        </p:blipFill>
        <p:spPr>
          <a:xfrm>
            <a:off x="1371600" y="4143341"/>
            <a:ext cx="6045511" cy="2349621"/>
          </a:xfrm>
          <a:prstGeom prst="rect">
            <a:avLst/>
          </a:prstGeom>
        </p:spPr>
      </p:pic>
    </p:spTree>
    <p:extLst>
      <p:ext uri="{BB962C8B-B14F-4D97-AF65-F5344CB8AC3E}">
        <p14:creationId xmlns:p14="http://schemas.microsoft.com/office/powerpoint/2010/main" val="5244668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39</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B47C6228-0731-FD9C-D6CF-7D299B911C14}"/>
              </a:ext>
            </a:extLst>
          </p:cNvPr>
          <p:cNvSpPr txBox="1"/>
          <p:nvPr/>
        </p:nvSpPr>
        <p:spPr>
          <a:xfrm>
            <a:off x="457198" y="446425"/>
            <a:ext cx="8229599" cy="3349956"/>
          </a:xfrm>
          <a:prstGeom prst="rect">
            <a:avLst/>
          </a:prstGeom>
          <a:noFill/>
        </p:spPr>
        <p:txBody>
          <a:bodyPr wrap="square">
            <a:spAutoFit/>
          </a:bodyPr>
          <a:lstStyle/>
          <a:p>
            <a:pPr algn="l" fontAlgn="base">
              <a:lnSpc>
                <a:spcPct val="150000"/>
              </a:lnSpc>
            </a:pPr>
            <a:r>
              <a:rPr lang="en-US" sz="2400" b="1" i="0" dirty="0">
                <a:solidFill>
                  <a:srgbClr val="273239"/>
                </a:solidFill>
                <a:effectLst/>
                <a:latin typeface="Times New Roman" panose="02020603050405020304" pitchFamily="18" charset="0"/>
                <a:cs typeface="Times New Roman" panose="02020603050405020304" pitchFamily="18" charset="0"/>
              </a:rPr>
              <a:t>1-level DFD:</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In 1-level DFD, the context diagram is decomposed into multiple bubbles/processes. In this level, we highlight the main functions of the system and breakdown the high-level process of 0-level DFD into subprocesses. </a:t>
            </a:r>
          </a:p>
          <a:p>
            <a:pPr algn="l" fontAlgn="base">
              <a:lnSpc>
                <a:spcPct val="150000"/>
              </a:lnSpc>
            </a:pPr>
            <a:r>
              <a:rPr lang="en-US" sz="2400" b="0" i="0" dirty="0">
                <a:solidFill>
                  <a:srgbClr val="273239"/>
                </a:solidFill>
                <a:effectLst/>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2918A009-33D1-F492-960D-350922ACF834}"/>
              </a:ext>
            </a:extLst>
          </p:cNvPr>
          <p:cNvPicPr>
            <a:picLocks noChangeAspect="1"/>
          </p:cNvPicPr>
          <p:nvPr/>
        </p:nvPicPr>
        <p:blipFill>
          <a:blip r:embed="rId2"/>
          <a:stretch>
            <a:fillRect/>
          </a:stretch>
        </p:blipFill>
        <p:spPr>
          <a:xfrm>
            <a:off x="1600200" y="3216698"/>
            <a:ext cx="5607338" cy="3035456"/>
          </a:xfrm>
          <a:prstGeom prst="rect">
            <a:avLst/>
          </a:prstGeom>
        </p:spPr>
      </p:pic>
    </p:spTree>
    <p:extLst>
      <p:ext uri="{BB962C8B-B14F-4D97-AF65-F5344CB8AC3E}">
        <p14:creationId xmlns:p14="http://schemas.microsoft.com/office/powerpoint/2010/main" val="12694643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40</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20EF4A8B-24B9-43FC-25EC-661451D49131}"/>
              </a:ext>
            </a:extLst>
          </p:cNvPr>
          <p:cNvSpPr txBox="1"/>
          <p:nvPr/>
        </p:nvSpPr>
        <p:spPr>
          <a:xfrm>
            <a:off x="381000" y="533403"/>
            <a:ext cx="8534400" cy="2585323"/>
          </a:xfrm>
          <a:prstGeom prst="rect">
            <a:avLst/>
          </a:prstGeom>
          <a:noFill/>
        </p:spPr>
        <p:txBody>
          <a:bodyPr wrap="square">
            <a:spAutoFit/>
          </a:bodyPr>
          <a:lstStyle/>
          <a:p>
            <a:pPr>
              <a:lnSpc>
                <a:spcPct val="150000"/>
              </a:lnSpc>
            </a:pPr>
            <a:r>
              <a:rPr lang="en-US" sz="2400" b="1" i="0" dirty="0">
                <a:solidFill>
                  <a:srgbClr val="273239"/>
                </a:solidFill>
                <a:effectLst/>
                <a:latin typeface="Times New Roman" panose="02020603050405020304" pitchFamily="18" charset="0"/>
                <a:cs typeface="Times New Roman" panose="02020603050405020304" pitchFamily="18" charset="0"/>
              </a:rPr>
              <a:t>2-level DFD:</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2-level DFD goes one step deeper into parts of 1-level DFD. It can be used to plan or record the specific/necessary detail about the system’s functioning. </a:t>
            </a:r>
          </a:p>
          <a:p>
            <a:endParaRPr lang="en-IN" dirty="0"/>
          </a:p>
        </p:txBody>
      </p:sp>
      <p:pic>
        <p:nvPicPr>
          <p:cNvPr id="8" name="Picture 7">
            <a:extLst>
              <a:ext uri="{FF2B5EF4-FFF2-40B4-BE49-F238E27FC236}">
                <a16:creationId xmlns:a16="http://schemas.microsoft.com/office/drawing/2014/main" id="{F934DB28-C749-9E89-4892-3D6A30DB6274}"/>
              </a:ext>
            </a:extLst>
          </p:cNvPr>
          <p:cNvPicPr>
            <a:picLocks noChangeAspect="1"/>
          </p:cNvPicPr>
          <p:nvPr/>
        </p:nvPicPr>
        <p:blipFill>
          <a:blip r:embed="rId2"/>
          <a:stretch>
            <a:fillRect/>
          </a:stretch>
        </p:blipFill>
        <p:spPr>
          <a:xfrm>
            <a:off x="1524000" y="2887662"/>
            <a:ext cx="5435879" cy="3016405"/>
          </a:xfrm>
          <a:prstGeom prst="rect">
            <a:avLst/>
          </a:prstGeom>
        </p:spPr>
      </p:pic>
    </p:spTree>
    <p:extLst>
      <p:ext uri="{BB962C8B-B14F-4D97-AF65-F5344CB8AC3E}">
        <p14:creationId xmlns:p14="http://schemas.microsoft.com/office/powerpoint/2010/main" val="4833565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41</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11" name="TextBox 10">
            <a:extLst>
              <a:ext uri="{FF2B5EF4-FFF2-40B4-BE49-F238E27FC236}">
                <a16:creationId xmlns:a16="http://schemas.microsoft.com/office/drawing/2014/main" id="{2BF96322-47C4-D849-BA7C-2AA3CB4ACEF4}"/>
              </a:ext>
            </a:extLst>
          </p:cNvPr>
          <p:cNvSpPr txBox="1"/>
          <p:nvPr/>
        </p:nvSpPr>
        <p:spPr>
          <a:xfrm>
            <a:off x="762000" y="1446247"/>
            <a:ext cx="7696200" cy="3785652"/>
          </a:xfrm>
          <a:prstGeom prst="rect">
            <a:avLst/>
          </a:prstGeom>
          <a:noFill/>
        </p:spPr>
        <p:txBody>
          <a:bodyPr wrap="square">
            <a:spAutoFit/>
          </a:bodyPr>
          <a:lstStyle/>
          <a:p>
            <a:pPr algn="l"/>
            <a:r>
              <a:rPr lang="en-US" sz="2400" b="0" i="0" dirty="0">
                <a:solidFill>
                  <a:srgbClr val="333333"/>
                </a:solidFill>
                <a:effectLst/>
                <a:latin typeface="Times New Roman" panose="02020603050405020304" pitchFamily="18" charset="0"/>
                <a:cs typeface="Times New Roman" panose="02020603050405020304" pitchFamily="18" charset="0"/>
              </a:rPr>
              <a:t>Purpose of Class Diagrams</a:t>
            </a:r>
          </a:p>
          <a:p>
            <a:pPr algn="l">
              <a:buFont typeface="+mj-lt"/>
              <a:buAutoNum type="arabicPeriod"/>
            </a:pPr>
            <a:r>
              <a:rPr lang="en-US" sz="2400" b="0" i="0" dirty="0">
                <a:solidFill>
                  <a:srgbClr val="737C85"/>
                </a:solidFill>
                <a:effectLst/>
                <a:latin typeface="Times New Roman" panose="02020603050405020304" pitchFamily="18" charset="0"/>
                <a:cs typeface="Times New Roman" panose="02020603050405020304" pitchFamily="18" charset="0"/>
              </a:rPr>
              <a:t>Shows static structure of classifiers in a system</a:t>
            </a:r>
          </a:p>
          <a:p>
            <a:pPr algn="l">
              <a:buFont typeface="+mj-lt"/>
              <a:buAutoNum type="arabicPeriod"/>
            </a:pPr>
            <a:r>
              <a:rPr lang="en-US" sz="2400" b="0" i="0" dirty="0">
                <a:solidFill>
                  <a:srgbClr val="737C85"/>
                </a:solidFill>
                <a:effectLst/>
                <a:latin typeface="Times New Roman" panose="02020603050405020304" pitchFamily="18" charset="0"/>
                <a:cs typeface="Times New Roman" panose="02020603050405020304" pitchFamily="18" charset="0"/>
              </a:rPr>
              <a:t>Diagram provides a basic notation for other structure diagrams prescribed by UML</a:t>
            </a:r>
          </a:p>
          <a:p>
            <a:pPr algn="l">
              <a:buFont typeface="+mj-lt"/>
              <a:buAutoNum type="arabicPeriod"/>
            </a:pPr>
            <a:r>
              <a:rPr lang="en-US" sz="2400" b="0" i="0" dirty="0">
                <a:solidFill>
                  <a:srgbClr val="737C85"/>
                </a:solidFill>
                <a:effectLst/>
                <a:latin typeface="Times New Roman" panose="02020603050405020304" pitchFamily="18" charset="0"/>
                <a:cs typeface="Times New Roman" panose="02020603050405020304" pitchFamily="18" charset="0"/>
              </a:rPr>
              <a:t>Helpful for developers and other team members too</a:t>
            </a:r>
          </a:p>
          <a:p>
            <a:pPr algn="l">
              <a:buFont typeface="+mj-lt"/>
              <a:buAutoNum type="arabicPeriod"/>
            </a:pPr>
            <a:r>
              <a:rPr lang="en-US" sz="2400" b="0" i="0" dirty="0">
                <a:solidFill>
                  <a:srgbClr val="737C85"/>
                </a:solidFill>
                <a:effectLst/>
                <a:latin typeface="Times New Roman" panose="02020603050405020304" pitchFamily="18" charset="0"/>
                <a:cs typeface="Times New Roman" panose="02020603050405020304" pitchFamily="18" charset="0"/>
              </a:rPr>
              <a:t>Business Analysts can use class diagrams to model systems from a business perspective</a:t>
            </a:r>
          </a:p>
          <a:p>
            <a:pPr algn="l"/>
            <a:r>
              <a:rPr lang="en-US" sz="2400" b="0" i="0" dirty="0">
                <a:solidFill>
                  <a:srgbClr val="737C85"/>
                </a:solidFill>
                <a:effectLst/>
                <a:latin typeface="Times New Roman" panose="02020603050405020304" pitchFamily="18" charset="0"/>
                <a:cs typeface="Times New Roman" panose="02020603050405020304" pitchFamily="18" charset="0"/>
              </a:rPr>
              <a:t>A UML class diagram is made up of:</a:t>
            </a:r>
          </a:p>
          <a:p>
            <a:pPr algn="l">
              <a:buFont typeface="Arial" panose="020B0604020202020204" pitchFamily="34" charset="0"/>
              <a:buChar char="•"/>
            </a:pPr>
            <a:r>
              <a:rPr lang="en-US" sz="2400" b="0" i="0" dirty="0">
                <a:solidFill>
                  <a:srgbClr val="737C85"/>
                </a:solidFill>
                <a:effectLst/>
                <a:latin typeface="Times New Roman" panose="02020603050405020304" pitchFamily="18" charset="0"/>
                <a:cs typeface="Times New Roman" panose="02020603050405020304" pitchFamily="18" charset="0"/>
              </a:rPr>
              <a:t>A set of classes and</a:t>
            </a:r>
          </a:p>
          <a:p>
            <a:pPr algn="l">
              <a:buFont typeface="Arial" panose="020B0604020202020204" pitchFamily="34" charset="0"/>
              <a:buChar char="•"/>
            </a:pPr>
            <a:r>
              <a:rPr lang="en-US" sz="2400" b="0" i="0" dirty="0">
                <a:solidFill>
                  <a:srgbClr val="737C85"/>
                </a:solidFill>
                <a:effectLst/>
                <a:latin typeface="Times New Roman" panose="02020603050405020304" pitchFamily="18" charset="0"/>
                <a:cs typeface="Times New Roman" panose="02020603050405020304" pitchFamily="18" charset="0"/>
              </a:rPr>
              <a:t>A set of relationships between classes</a:t>
            </a:r>
          </a:p>
        </p:txBody>
      </p:sp>
    </p:spTree>
    <p:extLst>
      <p:ext uri="{BB962C8B-B14F-4D97-AF65-F5344CB8AC3E}">
        <p14:creationId xmlns:p14="http://schemas.microsoft.com/office/powerpoint/2010/main" val="41896512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90C2651-55FD-3F34-7F64-D45F71BDB899}"/>
              </a:ext>
            </a:extLst>
          </p:cNvPr>
          <p:cNvSpPr txBox="1"/>
          <p:nvPr/>
        </p:nvSpPr>
        <p:spPr>
          <a:xfrm>
            <a:off x="0" y="34491"/>
            <a:ext cx="8686800" cy="7017306"/>
          </a:xfrm>
          <a:prstGeom prst="rect">
            <a:avLst/>
          </a:prstGeom>
          <a:noFill/>
        </p:spPr>
        <p:txBody>
          <a:bodyPr wrap="square">
            <a:spAutoFit/>
          </a:bodyPr>
          <a:lstStyle/>
          <a:p>
            <a:r>
              <a:rPr lang="en-US" b="0" i="0" dirty="0">
                <a:solidFill>
                  <a:srgbClr val="333333"/>
                </a:solidFill>
                <a:effectLst/>
                <a:latin typeface="Open Sans" panose="020B0606030504020204" pitchFamily="34" charset="0"/>
              </a:rPr>
              <a:t>What is a Class</a:t>
            </a:r>
          </a:p>
          <a:p>
            <a:r>
              <a:rPr lang="en-US" b="0" dirty="0">
                <a:solidFill>
                  <a:srgbClr val="737C85"/>
                </a:solidFill>
                <a:effectLst/>
                <a:latin typeface="Open Sans" panose="020B0606030504020204" pitchFamily="34" charset="0"/>
              </a:rPr>
              <a:t>A description of a group of objects all with similar roles in the system, which consists of:</a:t>
            </a:r>
          </a:p>
          <a:p>
            <a:pPr>
              <a:buFont typeface="Arial" panose="020B0604020202020204" pitchFamily="34" charset="0"/>
              <a:buChar char="•"/>
            </a:pPr>
            <a:r>
              <a:rPr lang="en-US" b="1" dirty="0">
                <a:solidFill>
                  <a:srgbClr val="737C85"/>
                </a:solidFill>
                <a:effectLst/>
                <a:latin typeface="Open Sans" panose="020B0606030504020204" pitchFamily="34" charset="0"/>
              </a:rPr>
              <a:t>Structural features</a:t>
            </a:r>
            <a:r>
              <a:rPr lang="en-US" b="0" dirty="0">
                <a:solidFill>
                  <a:srgbClr val="737C85"/>
                </a:solidFill>
                <a:effectLst/>
                <a:latin typeface="Open Sans" panose="020B0606030504020204" pitchFamily="34" charset="0"/>
              </a:rPr>
              <a:t> (attributes) define what objects of the class "know"</a:t>
            </a:r>
          </a:p>
          <a:p>
            <a:pPr marL="742950" lvl="1" indent="-285750">
              <a:buFont typeface="Arial" panose="020B0604020202020204" pitchFamily="34" charset="0"/>
              <a:buChar char="•"/>
            </a:pPr>
            <a:r>
              <a:rPr lang="en-US" b="0" dirty="0">
                <a:solidFill>
                  <a:srgbClr val="737C85"/>
                </a:solidFill>
                <a:effectLst/>
                <a:latin typeface="Open Sans" panose="020B0606030504020204" pitchFamily="34" charset="0"/>
              </a:rPr>
              <a:t>Represent the state of an object of the class</a:t>
            </a:r>
          </a:p>
          <a:p>
            <a:pPr marL="742950" lvl="1" indent="-285750">
              <a:buFont typeface="Arial" panose="020B0604020202020204" pitchFamily="34" charset="0"/>
              <a:buChar char="•"/>
            </a:pPr>
            <a:r>
              <a:rPr lang="en-US" b="0" dirty="0">
                <a:solidFill>
                  <a:srgbClr val="737C85"/>
                </a:solidFill>
                <a:effectLst/>
                <a:latin typeface="Open Sans" panose="020B0606030504020204" pitchFamily="34" charset="0"/>
              </a:rPr>
              <a:t>Are descriptions of the structural or static features of a class</a:t>
            </a:r>
          </a:p>
          <a:p>
            <a:pPr>
              <a:buFont typeface="Arial" panose="020B0604020202020204" pitchFamily="34" charset="0"/>
              <a:buChar char="•"/>
            </a:pPr>
            <a:r>
              <a:rPr lang="en-US" b="1" dirty="0">
                <a:solidFill>
                  <a:srgbClr val="737C85"/>
                </a:solidFill>
                <a:effectLst/>
                <a:latin typeface="Open Sans" panose="020B0606030504020204" pitchFamily="34" charset="0"/>
              </a:rPr>
              <a:t>Behavioral features</a:t>
            </a:r>
            <a:r>
              <a:rPr lang="en-US" b="0" dirty="0">
                <a:solidFill>
                  <a:srgbClr val="737C85"/>
                </a:solidFill>
                <a:effectLst/>
                <a:latin typeface="Open Sans" panose="020B0606030504020204" pitchFamily="34" charset="0"/>
              </a:rPr>
              <a:t> (operations) define what objects of the class "can do"</a:t>
            </a:r>
          </a:p>
          <a:p>
            <a:pPr marL="742950" lvl="1" indent="-285750">
              <a:buFont typeface="Arial" panose="020B0604020202020204" pitchFamily="34" charset="0"/>
              <a:buChar char="•"/>
            </a:pPr>
            <a:r>
              <a:rPr lang="en-US" b="0" dirty="0">
                <a:solidFill>
                  <a:srgbClr val="737C85"/>
                </a:solidFill>
                <a:effectLst/>
                <a:latin typeface="Open Sans" panose="020B0606030504020204" pitchFamily="34" charset="0"/>
              </a:rPr>
              <a:t>Define the way in which objects may interact</a:t>
            </a:r>
          </a:p>
          <a:p>
            <a:pPr marL="742950" lvl="1" indent="-285750">
              <a:buFont typeface="Arial" panose="020B0604020202020204" pitchFamily="34" charset="0"/>
              <a:buChar char="•"/>
            </a:pPr>
            <a:r>
              <a:rPr lang="en-US" b="0" dirty="0">
                <a:solidFill>
                  <a:srgbClr val="737C85"/>
                </a:solidFill>
                <a:effectLst/>
                <a:latin typeface="Open Sans" panose="020B0606030504020204" pitchFamily="34" charset="0"/>
              </a:rPr>
              <a:t>Operations are descriptions of behavioral or dynamic features of a class</a:t>
            </a:r>
          </a:p>
          <a:p>
            <a:r>
              <a:rPr lang="en-US" b="0" i="0" dirty="0">
                <a:solidFill>
                  <a:srgbClr val="333333"/>
                </a:solidFill>
                <a:effectLst/>
                <a:latin typeface="Open Sans" panose="020B0606030504020204" pitchFamily="34" charset="0"/>
              </a:rPr>
              <a:t>Class Notation</a:t>
            </a:r>
          </a:p>
          <a:p>
            <a:r>
              <a:rPr lang="en-US" b="0" dirty="0">
                <a:solidFill>
                  <a:srgbClr val="737C85"/>
                </a:solidFill>
                <a:effectLst/>
                <a:latin typeface="Open Sans" panose="020B0606030504020204" pitchFamily="34" charset="0"/>
              </a:rPr>
              <a:t>A class notation consists of three parts:</a:t>
            </a:r>
          </a:p>
          <a:p>
            <a:pPr>
              <a:buFont typeface="+mj-lt"/>
              <a:buAutoNum type="arabicPeriod"/>
            </a:pPr>
            <a:r>
              <a:rPr lang="en-US" b="1" dirty="0">
                <a:solidFill>
                  <a:srgbClr val="737C85"/>
                </a:solidFill>
                <a:effectLst/>
                <a:latin typeface="Open Sans" panose="020B0606030504020204" pitchFamily="34" charset="0"/>
              </a:rPr>
              <a:t>Class Name</a:t>
            </a:r>
            <a:endParaRPr lang="en-US" b="0" dirty="0">
              <a:solidFill>
                <a:srgbClr val="737C85"/>
              </a:solidFill>
              <a:effectLst/>
              <a:latin typeface="Open Sans" panose="020B0606030504020204" pitchFamily="34" charset="0"/>
            </a:endParaRPr>
          </a:p>
          <a:p>
            <a:pPr marL="742950" lvl="1" indent="-285750">
              <a:buFont typeface="+mj-lt"/>
              <a:buAutoNum type="arabicPeriod"/>
            </a:pPr>
            <a:r>
              <a:rPr lang="en-US" b="0" dirty="0">
                <a:solidFill>
                  <a:srgbClr val="737C85"/>
                </a:solidFill>
                <a:effectLst/>
                <a:latin typeface="Open Sans" panose="020B0606030504020204" pitchFamily="34" charset="0"/>
              </a:rPr>
              <a:t>The name of the class appears in the first partition.</a:t>
            </a:r>
          </a:p>
          <a:p>
            <a:pPr>
              <a:buFont typeface="+mj-lt"/>
              <a:buAutoNum type="arabicPeriod"/>
            </a:pPr>
            <a:r>
              <a:rPr lang="en-US" b="1" dirty="0">
                <a:solidFill>
                  <a:srgbClr val="737C85"/>
                </a:solidFill>
                <a:effectLst/>
                <a:latin typeface="Open Sans" panose="020B0606030504020204" pitchFamily="34" charset="0"/>
              </a:rPr>
              <a:t>Class Attributes</a:t>
            </a:r>
            <a:endParaRPr lang="en-US" b="0" dirty="0">
              <a:solidFill>
                <a:srgbClr val="737C85"/>
              </a:solidFill>
              <a:effectLst/>
              <a:latin typeface="Open Sans" panose="020B0606030504020204" pitchFamily="34" charset="0"/>
            </a:endParaRPr>
          </a:p>
          <a:p>
            <a:pPr marL="742950" lvl="1" indent="-285750">
              <a:buFont typeface="+mj-lt"/>
              <a:buAutoNum type="arabicPeriod"/>
            </a:pPr>
            <a:r>
              <a:rPr lang="en-US" b="0" dirty="0">
                <a:solidFill>
                  <a:srgbClr val="737C85"/>
                </a:solidFill>
                <a:effectLst/>
                <a:latin typeface="Open Sans" panose="020B0606030504020204" pitchFamily="34" charset="0"/>
              </a:rPr>
              <a:t>Attributes are shown in the second partition.</a:t>
            </a:r>
          </a:p>
          <a:p>
            <a:pPr marL="742950" lvl="1" indent="-285750">
              <a:buFont typeface="+mj-lt"/>
              <a:buAutoNum type="arabicPeriod"/>
            </a:pPr>
            <a:r>
              <a:rPr lang="en-US" b="0" dirty="0">
                <a:solidFill>
                  <a:srgbClr val="737C85"/>
                </a:solidFill>
                <a:effectLst/>
                <a:latin typeface="Open Sans" panose="020B0606030504020204" pitchFamily="34" charset="0"/>
              </a:rPr>
              <a:t>The attribute type is shown after the colon.</a:t>
            </a:r>
          </a:p>
          <a:p>
            <a:pPr marL="742950" lvl="1" indent="-285750">
              <a:buFont typeface="+mj-lt"/>
              <a:buAutoNum type="arabicPeriod"/>
            </a:pPr>
            <a:r>
              <a:rPr lang="en-US" b="0" dirty="0">
                <a:solidFill>
                  <a:srgbClr val="737C85"/>
                </a:solidFill>
                <a:effectLst/>
                <a:latin typeface="Open Sans" panose="020B0606030504020204" pitchFamily="34" charset="0"/>
              </a:rPr>
              <a:t>Attributes map onto member variables (data members) in code.</a:t>
            </a:r>
          </a:p>
          <a:p>
            <a:pPr>
              <a:buFont typeface="+mj-lt"/>
              <a:buAutoNum type="arabicPeriod"/>
            </a:pPr>
            <a:r>
              <a:rPr lang="en-US" b="1" dirty="0">
                <a:solidFill>
                  <a:srgbClr val="737C85"/>
                </a:solidFill>
                <a:effectLst/>
                <a:latin typeface="Open Sans" panose="020B0606030504020204" pitchFamily="34" charset="0"/>
              </a:rPr>
              <a:t>Class Operations</a:t>
            </a:r>
            <a:r>
              <a:rPr lang="en-US" b="0" dirty="0">
                <a:solidFill>
                  <a:srgbClr val="737C85"/>
                </a:solidFill>
                <a:effectLst/>
                <a:latin typeface="Open Sans" panose="020B0606030504020204" pitchFamily="34" charset="0"/>
              </a:rPr>
              <a:t> (Methods)</a:t>
            </a:r>
          </a:p>
          <a:p>
            <a:pPr marL="742950" lvl="1" indent="-285750">
              <a:buFont typeface="+mj-lt"/>
              <a:buAutoNum type="arabicPeriod"/>
            </a:pPr>
            <a:r>
              <a:rPr lang="en-US" b="0" dirty="0">
                <a:solidFill>
                  <a:srgbClr val="737C85"/>
                </a:solidFill>
                <a:effectLst/>
                <a:latin typeface="Open Sans" panose="020B0606030504020204" pitchFamily="34" charset="0"/>
              </a:rPr>
              <a:t>Operations are shown in the third partition. They are services the class provides.</a:t>
            </a:r>
          </a:p>
          <a:p>
            <a:pPr marL="742950" lvl="1" indent="-285750">
              <a:buFont typeface="+mj-lt"/>
              <a:buAutoNum type="arabicPeriod"/>
            </a:pPr>
            <a:r>
              <a:rPr lang="en-US" b="0" dirty="0">
                <a:solidFill>
                  <a:srgbClr val="737C85"/>
                </a:solidFill>
                <a:effectLst/>
                <a:latin typeface="Open Sans" panose="020B0606030504020204" pitchFamily="34" charset="0"/>
              </a:rPr>
              <a:t>The return type of a method is shown after the colon at the end of the method signature.</a:t>
            </a:r>
          </a:p>
          <a:p>
            <a:pPr marL="742950" lvl="1" indent="-285750">
              <a:buFont typeface="+mj-lt"/>
              <a:buAutoNum type="arabicPeriod"/>
            </a:pPr>
            <a:r>
              <a:rPr lang="en-US" b="0" dirty="0">
                <a:solidFill>
                  <a:srgbClr val="737C85"/>
                </a:solidFill>
                <a:effectLst/>
                <a:latin typeface="Open Sans" panose="020B0606030504020204" pitchFamily="34" charset="0"/>
              </a:rPr>
              <a:t>The return type of method parameters is shown after the colon following the parameter name.</a:t>
            </a:r>
          </a:p>
          <a:p>
            <a:pPr marL="742950" lvl="1" indent="-285750">
              <a:buFont typeface="+mj-lt"/>
              <a:buAutoNum type="arabicPeriod"/>
            </a:pPr>
            <a:r>
              <a:rPr lang="en-US" b="0" dirty="0">
                <a:solidFill>
                  <a:srgbClr val="737C85"/>
                </a:solidFill>
                <a:effectLst/>
                <a:latin typeface="Open Sans" panose="020B0606030504020204" pitchFamily="34" charset="0"/>
              </a:rPr>
              <a:t>Operations map onto class methods in code</a:t>
            </a:r>
          </a:p>
        </p:txBody>
      </p:sp>
    </p:spTree>
    <p:extLst>
      <p:ext uri="{BB962C8B-B14F-4D97-AF65-F5344CB8AC3E}">
        <p14:creationId xmlns:p14="http://schemas.microsoft.com/office/powerpoint/2010/main" val="1375992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20107</TotalTime>
  <Words>3379</Words>
  <Application>Microsoft Office PowerPoint</Application>
  <PresentationFormat>On-screen Show (4:3)</PresentationFormat>
  <Paragraphs>280</Paragraphs>
  <Slides>42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Arial</vt:lpstr>
      <vt:lpstr>Calibri</vt:lpstr>
      <vt:lpstr>Courier New</vt:lpstr>
      <vt:lpstr>Open Sans</vt:lpstr>
      <vt:lpstr>sofia-pro</vt:lpstr>
      <vt:lpstr>Symbol</vt:lpstr>
      <vt:lpstr>Times New Roman</vt:lpstr>
      <vt:lpstr>urw-din</vt:lpstr>
      <vt:lpstr>Verdana</vt:lpstr>
      <vt:lpstr>Wingdings</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Company>vb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Simply</dc:creator>
  <cp:lastModifiedBy>Lipsa Nayak</cp:lastModifiedBy>
  <cp:revision>347</cp:revision>
  <dcterms:created xsi:type="dcterms:W3CDTF">2021-10-10T16:43:15Z</dcterms:created>
  <dcterms:modified xsi:type="dcterms:W3CDTF">2023-06-26T17:34:48Z</dcterms:modified>
</cp:coreProperties>
</file>