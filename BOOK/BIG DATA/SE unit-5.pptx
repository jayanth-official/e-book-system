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2"/>
  </p:notesMasterIdLst>
  <p:sldIdLst>
    <p:sldId id="321" r:id="rId2"/>
    <p:sldId id="446" r:id="rId3"/>
    <p:sldId id="437" r:id="rId4"/>
    <p:sldId id="438" r:id="rId5"/>
    <p:sldId id="439" r:id="rId6"/>
    <p:sldId id="409" r:id="rId7"/>
    <p:sldId id="410" r:id="rId8"/>
    <p:sldId id="411" r:id="rId9"/>
    <p:sldId id="412" r:id="rId10"/>
    <p:sldId id="413" r:id="rId11"/>
    <p:sldId id="414" r:id="rId12"/>
    <p:sldId id="447" r:id="rId13"/>
    <p:sldId id="448" r:id="rId14"/>
    <p:sldId id="449" r:id="rId15"/>
    <p:sldId id="450" r:id="rId16"/>
    <p:sldId id="451" r:id="rId17"/>
    <p:sldId id="452" r:id="rId18"/>
    <p:sldId id="453" r:id="rId19"/>
    <p:sldId id="454" r:id="rId20"/>
    <p:sldId id="45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49" autoAdjust="0"/>
    <p:restoredTop sz="94660"/>
  </p:normalViewPr>
  <p:slideViewPr>
    <p:cSldViewPr>
      <p:cViewPr varScale="1">
        <p:scale>
          <a:sx n="63" d="100"/>
          <a:sy n="63" d="100"/>
        </p:scale>
        <p:origin x="1576"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173879-A493-4EDB-A790-6038B1CDDF14}" type="datetimeFigureOut">
              <a:rPr lang="en-US" smtClean="0"/>
              <a:t>6/26/2023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062DEC-2A34-4AE2-AC2C-326F81FB9D92}" type="slidenum">
              <a:rPr lang="en-US" smtClean="0"/>
              <a:t>‹#›</a:t>
            </a:fld>
            <a:endParaRPr lang="en-US"/>
          </a:p>
        </p:txBody>
      </p:sp>
    </p:spTree>
    <p:extLst>
      <p:ext uri="{BB962C8B-B14F-4D97-AF65-F5344CB8AC3E}">
        <p14:creationId xmlns:p14="http://schemas.microsoft.com/office/powerpoint/2010/main" val="791132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3223548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12142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26598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227389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02B0A-0B99-47D4-AFD3-140C34F2A7C7}" type="datetimeFigureOut">
              <a:rPr lang="en-US" smtClean="0"/>
              <a:t>6/26/2023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0735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02B0A-0B99-47D4-AFD3-140C34F2A7C7}" type="datetimeFigureOut">
              <a:rPr lang="en-US" smtClean="0"/>
              <a:t>6/26/2023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40727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02B0A-0B99-47D4-AFD3-140C34F2A7C7}" type="datetimeFigureOut">
              <a:rPr lang="en-US" smtClean="0"/>
              <a:t>6/26/2023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707093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8109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165690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990458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341546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7686">
              <a:srgbClr val="E7F0F9"/>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02B0A-0B99-47D4-AFD3-140C34F2A7C7}" type="datetimeFigureOut">
              <a:rPr lang="en-US" smtClean="0"/>
              <a:t>6/26/2023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C7416A-A348-47FF-937D-7E980B76C6D7}" type="slidenum">
              <a:rPr lang="en-US" smtClean="0"/>
              <a:t>‹#›</a:t>
            </a:fld>
            <a:endParaRPr lang="en-US"/>
          </a:p>
        </p:txBody>
      </p:sp>
    </p:spTree>
    <p:extLst>
      <p:ext uri="{BB962C8B-B14F-4D97-AF65-F5344CB8AC3E}">
        <p14:creationId xmlns:p14="http://schemas.microsoft.com/office/powerpoint/2010/main" val="300956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r>
              <a:rPr lang="en-US" sz="3600" dirty="0">
                <a:solidFill>
                  <a:srgbClr val="FF0000"/>
                </a:solidFill>
                <a:latin typeface="Times New Roman" pitchFamily="18" charset="0"/>
                <a:cs typeface="Times New Roman" pitchFamily="18" charset="0"/>
              </a:rPr>
              <a:t>SOFTWARE ENGINEERING</a:t>
            </a: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a:t>
            </a:fld>
            <a:endParaRPr lang="en-US" dirty="0"/>
          </a:p>
        </p:txBody>
      </p:sp>
    </p:spTree>
    <p:extLst>
      <p:ext uri="{BB962C8B-B14F-4D97-AF65-F5344CB8AC3E}">
        <p14:creationId xmlns:p14="http://schemas.microsoft.com/office/powerpoint/2010/main" val="982860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462AE7D-3D31-B113-3368-7E2E8A1BD83B}"/>
              </a:ext>
            </a:extLst>
          </p:cNvPr>
          <p:cNvSpPr txBox="1"/>
          <p:nvPr/>
        </p:nvSpPr>
        <p:spPr>
          <a:xfrm>
            <a:off x="685800" y="304800"/>
            <a:ext cx="7772400" cy="4154984"/>
          </a:xfrm>
          <a:prstGeom prst="rect">
            <a:avLst/>
          </a:prstGeom>
          <a:noFill/>
        </p:spPr>
        <p:txBody>
          <a:bodyPr wrap="square">
            <a:spAutoFit/>
          </a:bodyPr>
          <a:lstStyle/>
          <a:p>
            <a:r>
              <a:rPr lang="en-IN" sz="1800" b="1" dirty="0">
                <a:solidFill>
                  <a:srgbClr val="222222"/>
                </a:solidFill>
                <a:effectLst/>
                <a:latin typeface="Times New Roman" panose="02020603050405020304" pitchFamily="18" charset="0"/>
                <a:ea typeface="Times New Roman" panose="02020603050405020304" pitchFamily="18" charset="0"/>
              </a:rPr>
              <a:t>Software Configuration Management</a:t>
            </a:r>
          </a:p>
          <a:p>
            <a:endParaRPr lang="en-IN" sz="1800" b="1" dirty="0">
              <a:solidFill>
                <a:srgbClr val="222222"/>
              </a:solidFill>
              <a:effectLst/>
              <a:latin typeface="Times New Roman" panose="02020603050405020304" pitchFamily="18" charset="0"/>
              <a:ea typeface="Times New Roman" panose="02020603050405020304" pitchFamily="18" charset="0"/>
            </a:endParaRPr>
          </a:p>
          <a:p>
            <a:pPr>
              <a:lnSpc>
                <a:spcPct val="150000"/>
              </a:lnSpc>
            </a:pPr>
            <a:r>
              <a:rPr lang="en-IN"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In Software Engineering, Software Configuration Management(SCM) is a process to systematically manage, organize, and control the changes in the documents, codes, and other entities during the Software Development Life Cycle. The primary goal is to increase productivity with minimal mistakes. SCM is part of cross-disciplinary field of configuration management and it can accurately determine who made which revision.</a:t>
            </a:r>
          </a:p>
          <a:p>
            <a:pPr>
              <a:lnSpc>
                <a:spcPct val="150000"/>
              </a:lnSpc>
            </a:pPr>
            <a:endParaRPr lang="en-IN" sz="2000" dirty="0">
              <a:solidFill>
                <a:srgbClr val="222222"/>
              </a:solidFill>
              <a:latin typeface="Times New Roman" panose="02020603050405020304" pitchFamily="18" charset="0"/>
              <a:ea typeface="DengXian" panose="020B0503020204020204" pitchFamily="2" charset="-122"/>
              <a:cs typeface="Times New Roman" panose="02020603050405020304" pitchFamily="18" charset="0"/>
            </a:endParaRPr>
          </a:p>
          <a:p>
            <a:endParaRPr lang="en-IN" dirty="0"/>
          </a:p>
        </p:txBody>
      </p:sp>
    </p:spTree>
    <p:extLst>
      <p:ext uri="{BB962C8B-B14F-4D97-AF65-F5344CB8AC3E}">
        <p14:creationId xmlns:p14="http://schemas.microsoft.com/office/powerpoint/2010/main" val="1876217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a:t>
            </a:fld>
            <a:endParaRPr lang="en-US" dirty="0"/>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CF0F645A-D096-0136-2113-2921B80A2E83}"/>
              </a:ext>
            </a:extLst>
          </p:cNvPr>
          <p:cNvSpPr txBox="1"/>
          <p:nvPr/>
        </p:nvSpPr>
        <p:spPr>
          <a:xfrm>
            <a:off x="304798" y="798837"/>
            <a:ext cx="8382001" cy="5336525"/>
          </a:xfrm>
          <a:prstGeom prst="rect">
            <a:avLst/>
          </a:prstGeom>
          <a:noFill/>
        </p:spPr>
        <p:txBody>
          <a:bodyPr wrap="square">
            <a:spAutoFit/>
          </a:bodyPr>
          <a:lstStyle/>
          <a:p>
            <a:pPr>
              <a:lnSpc>
                <a:spcPct val="150000"/>
              </a:lnSpc>
              <a:spcAft>
                <a:spcPts val="800"/>
              </a:spcAft>
            </a:pPr>
            <a:r>
              <a:rPr lang="en-IN" b="1"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N</a:t>
            </a:r>
            <a:r>
              <a:rPr lang="en-IN" sz="18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eed of Configuration management</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 primary reasons for Implementing Technical Software Configuration Management System are</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There are multiple people working on software which is continually updating</a:t>
            </a:r>
            <a:endParaRPr lang="en-IN" sz="1600" dirty="0">
              <a:solidFill>
                <a:srgbClr val="222222"/>
              </a:solidFill>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It may be a case where multiple version, branches, authors are involved in a software config project, and the team is geographically distributed and works concurrently</a:t>
            </a:r>
            <a:endParaRPr lang="en-IN" sz="1600" dirty="0">
              <a:solidFill>
                <a:srgbClr val="222222"/>
              </a:solidFill>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Changes in user requirement, policy, budget, schedule need to be accommodated.</a:t>
            </a:r>
            <a:endParaRPr lang="en-IN" sz="1600" dirty="0">
              <a:solidFill>
                <a:srgbClr val="222222"/>
              </a:solidFill>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Software should able to run on various machines and Operating Systems</a:t>
            </a:r>
            <a:endParaRPr lang="en-IN" sz="1600" dirty="0">
              <a:solidFill>
                <a:srgbClr val="222222"/>
              </a:solidFill>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Helps to develop coordination among stakeholders</a:t>
            </a:r>
            <a:endParaRPr lang="en-IN" sz="1600" dirty="0">
              <a:solidFill>
                <a:srgbClr val="222222"/>
              </a:solidFill>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a:lnSpc>
                <a:spcPct val="150000"/>
              </a:lnSpc>
              <a:spcAft>
                <a:spcPts val="800"/>
              </a:spcAft>
              <a:buSzPts val="1000"/>
              <a:buFont typeface="Symbol" panose="05050102010706020507" pitchFamily="18" charset="2"/>
              <a:buChar char=""/>
              <a:tabLst>
                <a:tab pos="457200" algn="l"/>
              </a:tabLst>
            </a:pPr>
            <a:r>
              <a:rPr lang="en-IN"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SCM process is also beneficial to control the costs involved in making changes to a </a:t>
            </a:r>
            <a:r>
              <a:rPr lang="en-US" sz="1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endParaRPr lang="en-IN" sz="1600" dirty="0">
              <a:solidFill>
                <a:srgbClr val="222222"/>
              </a:solidFill>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99607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E44BC650-8E5D-10B0-6B20-12B6F020BBB8}"/>
              </a:ext>
            </a:extLst>
          </p:cNvPr>
          <p:cNvSpPr txBox="1"/>
          <p:nvPr/>
        </p:nvSpPr>
        <p:spPr>
          <a:xfrm>
            <a:off x="492757" y="912103"/>
            <a:ext cx="8001000" cy="5444247"/>
          </a:xfrm>
          <a:prstGeom prst="rect">
            <a:avLst/>
          </a:prstGeom>
          <a:noFill/>
        </p:spPr>
        <p:txBody>
          <a:bodyPr wrap="square">
            <a:spAutoFit/>
          </a:bodyPr>
          <a:lstStyle/>
          <a:p>
            <a:pPr lvl="0">
              <a:lnSpc>
                <a:spcPct val="150000"/>
              </a:lnSpc>
              <a:spcAft>
                <a:spcPts val="800"/>
              </a:spcAft>
            </a:pP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project management concepts.</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A project is a group of tasks that need to complete to reach a clear result. A project also defines as a set of inputs and outputs which are required to achieve a goal. Projects can vary from simple to difficult and can be operated by one person or a hundred.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Projects usually described and approved by a project manager or team executive. They go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beyond their expectations and objects, and it's up to the team to handle logistics and complete the project on time. For good project development, some teams split the project into specific tasks so they can manage responsibility and utilize team strengths</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3667312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85B6ED80-D092-B982-FB6F-B1D8F9987293}"/>
              </a:ext>
            </a:extLst>
          </p:cNvPr>
          <p:cNvSpPr txBox="1"/>
          <p:nvPr/>
        </p:nvSpPr>
        <p:spPr>
          <a:xfrm>
            <a:off x="380999" y="706877"/>
            <a:ext cx="8305799" cy="4197752"/>
          </a:xfrm>
          <a:prstGeom prst="rect">
            <a:avLst/>
          </a:prstGeom>
          <a:noFill/>
        </p:spPr>
        <p:txBody>
          <a:bodyPr wrap="square">
            <a:spAutoFit/>
          </a:bodyPr>
          <a:lstStyle/>
          <a:p>
            <a:pPr>
              <a:lnSpc>
                <a:spcPct val="150000"/>
              </a:lnSpc>
              <a:spcAft>
                <a:spcPts val="800"/>
              </a:spcAft>
            </a:pP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Software project management</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is an art and discipline of planning and supervising software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projects. It is a sub-discipline of software project management in which software projects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planned, implemented, monitored and controlled.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It is a procedure of managing, allocating and timing resources to develop computer software that fulfills requirements.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In software Project Management, the client and the developers need to know the length, period and cost of the project.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3334608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A17D88F7-C9A4-10FA-01AF-C489D2FF20F9}"/>
              </a:ext>
            </a:extLst>
          </p:cNvPr>
          <p:cNvSpPr txBox="1"/>
          <p:nvPr/>
        </p:nvSpPr>
        <p:spPr>
          <a:xfrm>
            <a:off x="838199" y="1066800"/>
            <a:ext cx="7467600" cy="4300344"/>
          </a:xfrm>
          <a:prstGeom prst="rect">
            <a:avLst/>
          </a:prstGeom>
          <a:noFill/>
        </p:spPr>
        <p:txBody>
          <a:bodyPr wrap="square">
            <a:spAutoFit/>
          </a:bodyPr>
          <a:lstStyle/>
          <a:p>
            <a:pPr>
              <a:lnSpc>
                <a:spcPct val="150000"/>
              </a:lnSpc>
              <a:spcAft>
                <a:spcPts val="800"/>
              </a:spcAft>
            </a:pPr>
            <a:r>
              <a:rPr lang="en-US" sz="1800" b="1" dirty="0">
                <a:effectLst/>
                <a:latin typeface="Times New Roman" panose="02020603050405020304" pitchFamily="18" charset="0"/>
                <a:ea typeface="TimesNewRomanPS-BoldMT"/>
                <a:cs typeface="Times New Roman" panose="02020603050405020304" pitchFamily="18" charset="0"/>
              </a:rPr>
              <a:t>Prerequisite of software project management</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There are three needs for software project management. These are: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1. Time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2. Cost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3. Quality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It is an essential part of the software organization to deliver a quality product, keeping the cost within the </a:t>
            </a:r>
            <a:r>
              <a:rPr lang="en-US" sz="1800" dirty="0" err="1">
                <a:effectLst/>
                <a:latin typeface="Times New Roman" panose="02020603050405020304" pitchFamily="18" charset="0"/>
                <a:ea typeface="SimSun" panose="02010600030101010101" pitchFamily="2" charset="-122"/>
                <a:cs typeface="Times New Roman" panose="02020603050405020304" pitchFamily="18" charset="0"/>
              </a:rPr>
              <a:t>client?s</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 budget and deliver the project as per schedule. There are various factors, both external and internal, which may impact this triple factor. Any of three-factor can severely affect the other two.</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2230163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344B553A-CBB5-3C69-949C-6232519A593A}"/>
              </a:ext>
            </a:extLst>
          </p:cNvPr>
          <p:cNvSpPr txBox="1"/>
          <p:nvPr/>
        </p:nvSpPr>
        <p:spPr>
          <a:xfrm>
            <a:off x="457197" y="396632"/>
            <a:ext cx="7696203" cy="3987245"/>
          </a:xfrm>
          <a:prstGeom prst="rect">
            <a:avLst/>
          </a:prstGeom>
          <a:noFill/>
        </p:spPr>
        <p:txBody>
          <a:bodyPr wrap="square">
            <a:spAutoFit/>
          </a:bodyPr>
          <a:lstStyle/>
          <a:p>
            <a:pPr>
              <a:lnSpc>
                <a:spcPct val="150000"/>
              </a:lnSpc>
              <a:spcAft>
                <a:spcPts val="800"/>
              </a:spcAft>
            </a:pPr>
            <a:r>
              <a:rPr lang="en-IN" b="1" dirty="0">
                <a:latin typeface="Times New Roman" panose="02020603050405020304" pitchFamily="18" charset="0"/>
                <a:ea typeface="DengXian" panose="020B0503020204020204" pitchFamily="2" charset="-122"/>
                <a:cs typeface="Times New Roman" panose="02020603050405020304" pitchFamily="18" charset="0"/>
              </a:rPr>
              <a:t>P</a:t>
            </a:r>
            <a:r>
              <a:rPr lang="en-IN" sz="1800" b="1" dirty="0">
                <a:effectLst/>
                <a:latin typeface="Times New Roman" panose="02020603050405020304" pitchFamily="18" charset="0"/>
                <a:ea typeface="DengXian" panose="020B0503020204020204" pitchFamily="2" charset="-122"/>
                <a:cs typeface="Times New Roman" panose="02020603050405020304" pitchFamily="18" charset="0"/>
              </a:rPr>
              <a:t>rocess and project metrics:</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b="1" u="sng" kern="1400" spc="-50" dirty="0">
                <a:solidFill>
                  <a:srgbClr val="2F5496"/>
                </a:solidFill>
                <a:effectLst/>
                <a:latin typeface="Times New Roman" panose="02020603050405020304" pitchFamily="18" charset="0"/>
                <a:ea typeface="DengXian Light" panose="020B0503020204020204" pitchFamily="2" charset="-122"/>
                <a:cs typeface="Times New Roman" panose="02020603050405020304" pitchFamily="18" charset="0"/>
              </a:rPr>
              <a:t>Software Metrics</a:t>
            </a:r>
            <a:endParaRPr lang="en-IN" sz="4000" kern="1400" spc="-50" dirty="0">
              <a:effectLst/>
              <a:latin typeface="Calibri Light" panose="020F0302020204030204" pitchFamily="34" charset="0"/>
              <a:ea typeface="DengXian Light" panose="020B0503020204020204" pitchFamily="2" charset="-122"/>
              <a:cs typeface="Times New Roman" panose="02020603050405020304" pitchFamily="18" charset="0"/>
            </a:endParaRPr>
          </a:p>
          <a:p>
            <a:pPr marL="342900" lvl="0" indent="-342900" algn="just">
              <a:lnSpc>
                <a:spcPct val="150000"/>
              </a:lnSpc>
              <a:buFont typeface="Wingdings" panose="05000000000000000000" pitchFamily="2" charset="2"/>
              <a:buChar char=""/>
            </a:pPr>
            <a:r>
              <a:rPr lang="en-IN" sz="1800" dirty="0">
                <a:solidFill>
                  <a:srgbClr val="000000"/>
                </a:solidFill>
                <a:effectLst/>
                <a:latin typeface="Times New Roman" panose="02020603050405020304" pitchFamily="18" charset="0"/>
                <a:ea typeface="Times New Roman" panose="02020603050405020304" pitchFamily="18" charset="0"/>
              </a:rPr>
              <a:t>A software metric is a measure of software characteristics which are measurable or countable. Software metrics are valuable for many reasons, including measuring software performance, planning work items, measuring productivity, and many other uses.</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Wingdings" panose="05000000000000000000" pitchFamily="2" charset="2"/>
              <a:buChar char=""/>
            </a:pPr>
            <a:r>
              <a:rPr lang="en-IN" sz="1800" dirty="0">
                <a:solidFill>
                  <a:srgbClr val="000000"/>
                </a:solidFill>
                <a:effectLst/>
                <a:latin typeface="Times New Roman" panose="02020603050405020304" pitchFamily="18" charset="0"/>
                <a:ea typeface="Times New Roman" panose="02020603050405020304" pitchFamily="18" charset="0"/>
              </a:rPr>
              <a:t>Within the software development process, many metrics are that are all connected. Software metrics are similar to the four functions of management: Planning, Organization, Control, or Improvement.</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68713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90AA3A2B-F9D3-85C4-DBED-8B0B95CFE68F}"/>
              </a:ext>
            </a:extLst>
          </p:cNvPr>
          <p:cNvSpPr txBox="1"/>
          <p:nvPr/>
        </p:nvSpPr>
        <p:spPr>
          <a:xfrm>
            <a:off x="304800" y="1226497"/>
            <a:ext cx="7772400" cy="4895186"/>
          </a:xfrm>
          <a:prstGeom prst="rect">
            <a:avLst/>
          </a:prstGeom>
          <a:noFill/>
        </p:spPr>
        <p:txBody>
          <a:bodyPr wrap="square">
            <a:spAutoFit/>
          </a:bodyPr>
          <a:lstStyle/>
          <a:p>
            <a:pPr algn="just">
              <a:lnSpc>
                <a:spcPct val="150000"/>
              </a:lnSpc>
            </a:pPr>
            <a:r>
              <a:rPr lang="en-US" sz="1800" b="1" u="sng" dirty="0">
                <a:solidFill>
                  <a:srgbClr val="000000"/>
                </a:solidFill>
                <a:effectLst/>
                <a:latin typeface="Times New Roman" panose="02020603050405020304" pitchFamily="18" charset="0"/>
                <a:ea typeface="SimSun" panose="02010600030101010101" pitchFamily="2" charset="-122"/>
              </a:rPr>
              <a:t>Classification of Software Metrics</a:t>
            </a:r>
            <a:endParaRPr lang="en-IN" sz="2800" b="1" dirty="0">
              <a:effectLst/>
              <a:latin typeface="SimSun" panose="02010600030101010101" pitchFamily="2" charset="-122"/>
              <a:ea typeface="SimSun" panose="02010600030101010101" pitchFamily="2" charset="-122"/>
            </a:endParaRPr>
          </a:p>
          <a:p>
            <a:pPr algn="just">
              <a:lnSpc>
                <a:spcPct val="150000"/>
              </a:lnSpc>
            </a:pPr>
            <a:r>
              <a:rPr lang="en-IN" sz="1800" b="1" dirty="0">
                <a:solidFill>
                  <a:srgbClr val="000000"/>
                </a:solidFill>
                <a:effectLst/>
                <a:latin typeface="Times New Roman" panose="02020603050405020304" pitchFamily="18" charset="0"/>
                <a:ea typeface="DengXian Light" panose="020B0503020204020204" pitchFamily="2" charset="-122"/>
              </a:rPr>
              <a:t>Software metrics can be classified into two types as follows:</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IN" sz="1800" b="1" dirty="0">
                <a:solidFill>
                  <a:srgbClr val="000000"/>
                </a:solidFill>
                <a:effectLst/>
                <a:latin typeface="Times New Roman" panose="02020603050405020304" pitchFamily="18" charset="0"/>
                <a:ea typeface="DengXian Light" panose="020B0503020204020204" pitchFamily="2" charset="-122"/>
              </a:rPr>
              <a:t>1. Product Metrics:</a:t>
            </a:r>
            <a:r>
              <a:rPr lang="en-IN" sz="1800" dirty="0">
                <a:solidFill>
                  <a:srgbClr val="000000"/>
                </a:solidFill>
                <a:effectLst/>
                <a:latin typeface="Times New Roman" panose="02020603050405020304" pitchFamily="18" charset="0"/>
                <a:ea typeface="Times New Roman" panose="02020603050405020304" pitchFamily="18" charset="0"/>
              </a:rPr>
              <a:t> These are the measures of various characteristics of the software product. The two important software characteristics are:</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300"/>
              </a:spcBef>
              <a:spcAft>
                <a:spcPts val="800"/>
              </a:spcAft>
              <a:buFont typeface="+mj-lt"/>
              <a:buAutoNum type="arabicPeriod"/>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Size and complexity of software.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300"/>
              </a:spcBef>
              <a:spcAft>
                <a:spcPts val="800"/>
              </a:spcAft>
              <a:buFont typeface="+mj-lt"/>
              <a:buAutoNum type="arabicPeriod"/>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Quality and reliability of software.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IN" sz="1800" dirty="0">
                <a:solidFill>
                  <a:srgbClr val="000000"/>
                </a:solidFill>
                <a:effectLst/>
                <a:latin typeface="Times New Roman" panose="02020603050405020304" pitchFamily="18" charset="0"/>
                <a:ea typeface="Times New Roman" panose="02020603050405020304" pitchFamily="18" charset="0"/>
              </a:rPr>
              <a:t>These metrics can be computed for different stages of SDLC.</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IN" sz="1800" b="1" dirty="0">
                <a:solidFill>
                  <a:srgbClr val="000000"/>
                </a:solidFill>
                <a:effectLst/>
                <a:latin typeface="Times New Roman" panose="02020603050405020304" pitchFamily="18" charset="0"/>
                <a:ea typeface="DengXian Light" panose="020B0503020204020204" pitchFamily="2" charset="-122"/>
              </a:rPr>
              <a:t>2. Process Metrics:</a:t>
            </a:r>
            <a:r>
              <a:rPr lang="en-IN" sz="1800" dirty="0">
                <a:solidFill>
                  <a:srgbClr val="000000"/>
                </a:solidFill>
                <a:effectLst/>
                <a:latin typeface="Times New Roman" panose="02020603050405020304" pitchFamily="18" charset="0"/>
                <a:ea typeface="Times New Roman" panose="02020603050405020304" pitchFamily="18" charset="0"/>
              </a:rPr>
              <a:t> These are the measures of various characteristics of the software development process. For example, the efficiency of fault detection. They are used to measure the characteristics of methods, techniques, and tools that are used for developing software.</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53665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D9174C98-62BD-C856-A03E-4A4BCAE198D2}"/>
              </a:ext>
            </a:extLst>
          </p:cNvPr>
          <p:cNvSpPr txBox="1"/>
          <p:nvPr/>
        </p:nvSpPr>
        <p:spPr>
          <a:xfrm>
            <a:off x="457197" y="530086"/>
            <a:ext cx="7848598" cy="6186309"/>
          </a:xfrm>
          <a:prstGeom prst="rect">
            <a:avLst/>
          </a:prstGeom>
          <a:noFill/>
        </p:spPr>
        <p:txBody>
          <a:bodyPr wrap="square">
            <a:spAutoFit/>
          </a:bodyPr>
          <a:lstStyle/>
          <a:p>
            <a:pPr algn="just">
              <a:lnSpc>
                <a:spcPct val="150000"/>
              </a:lnSpc>
            </a:pPr>
            <a:r>
              <a:rPr lang="en-US" sz="1800" b="1" dirty="0">
                <a:solidFill>
                  <a:srgbClr val="000000"/>
                </a:solidFill>
                <a:effectLst/>
                <a:latin typeface="Times New Roman" panose="02020603050405020304" pitchFamily="18" charset="0"/>
                <a:ea typeface="SimSun" panose="02010600030101010101" pitchFamily="2" charset="-122"/>
              </a:rPr>
              <a:t>Types of Metrics</a:t>
            </a:r>
            <a:endParaRPr lang="en-IN" sz="2800" b="1" dirty="0">
              <a:effectLst/>
              <a:latin typeface="SimSun" panose="02010600030101010101" pitchFamily="2" charset="-122"/>
              <a:ea typeface="SimSun" panose="02010600030101010101" pitchFamily="2" charset="-122"/>
            </a:endParaRPr>
          </a:p>
          <a:p>
            <a:pPr algn="just">
              <a:lnSpc>
                <a:spcPct val="150000"/>
              </a:lnSpc>
            </a:pPr>
            <a:r>
              <a:rPr lang="en-IN" sz="1800" b="1" dirty="0">
                <a:solidFill>
                  <a:srgbClr val="000000"/>
                </a:solidFill>
                <a:effectLst/>
                <a:latin typeface="Times New Roman" panose="02020603050405020304" pitchFamily="18" charset="0"/>
                <a:ea typeface="DengXian Light" panose="020B0503020204020204" pitchFamily="2" charset="-122"/>
              </a:rPr>
              <a:t>Internal metrics:</a:t>
            </a:r>
            <a:r>
              <a:rPr lang="en-IN" sz="1800" dirty="0">
                <a:solidFill>
                  <a:srgbClr val="000000"/>
                </a:solidFill>
                <a:effectLst/>
                <a:latin typeface="Times New Roman" panose="02020603050405020304" pitchFamily="18" charset="0"/>
                <a:ea typeface="Times New Roman" panose="02020603050405020304" pitchFamily="18" charset="0"/>
              </a:rPr>
              <a:t> Internal metrics are the metrics used for measuring properties that are viewed to be of greater importance to a software developer. For example, Lines of Code (LOC) measure.</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IN" sz="1800" b="1" dirty="0">
                <a:solidFill>
                  <a:srgbClr val="000000"/>
                </a:solidFill>
                <a:effectLst/>
                <a:latin typeface="Times New Roman" panose="02020603050405020304" pitchFamily="18" charset="0"/>
                <a:ea typeface="DengXian Light" panose="020B0503020204020204" pitchFamily="2" charset="-122"/>
              </a:rPr>
              <a:t>External metrics:</a:t>
            </a:r>
            <a:r>
              <a:rPr lang="en-IN" sz="1800" dirty="0">
                <a:solidFill>
                  <a:srgbClr val="000000"/>
                </a:solidFill>
                <a:effectLst/>
                <a:latin typeface="Times New Roman" panose="02020603050405020304" pitchFamily="18" charset="0"/>
                <a:ea typeface="Times New Roman" panose="02020603050405020304" pitchFamily="18" charset="0"/>
              </a:rPr>
              <a:t> External metrics are the metrics used for measuring properties that are viewed to be of greater importance to the user, e.g., portability, reliability, functionality, usability, etc.</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IN" sz="1800" b="1" dirty="0">
                <a:solidFill>
                  <a:srgbClr val="000000"/>
                </a:solidFill>
                <a:effectLst/>
                <a:latin typeface="Times New Roman" panose="02020603050405020304" pitchFamily="18" charset="0"/>
                <a:ea typeface="DengXian Light" panose="020B0503020204020204" pitchFamily="2" charset="-122"/>
              </a:rPr>
              <a:t>Hybrid metrics:</a:t>
            </a:r>
            <a:r>
              <a:rPr lang="en-IN" sz="1800" dirty="0">
                <a:solidFill>
                  <a:srgbClr val="000000"/>
                </a:solidFill>
                <a:effectLst/>
                <a:latin typeface="Times New Roman" panose="02020603050405020304" pitchFamily="18" charset="0"/>
                <a:ea typeface="Times New Roman" panose="02020603050405020304" pitchFamily="18" charset="0"/>
              </a:rPr>
              <a:t> Hybrid metrics are the metrics that combine product, process, and resource metrics. For example, cost per FP where FP stands for Function Point Metric.</a:t>
            </a:r>
            <a:endParaRPr lang="en-IN" sz="1800" dirty="0">
              <a:effectLst/>
              <a:latin typeface="Times New Roman" panose="02020603050405020304" pitchFamily="18" charset="0"/>
              <a:ea typeface="Times New Roman" panose="02020603050405020304" pitchFamily="18" charset="0"/>
            </a:endParaRPr>
          </a:p>
          <a:p>
            <a:r>
              <a:rPr lang="en-IN" sz="1800" b="1" dirty="0">
                <a:effectLst/>
                <a:ea typeface="DengXian Light" panose="020B0503020204020204" pitchFamily="2" charset="-122"/>
              </a:rPr>
              <a:t>Project metrics:</a:t>
            </a:r>
            <a:r>
              <a:rPr lang="en-IN" sz="1800" dirty="0">
                <a:effectLst/>
                <a:latin typeface="Times New Roman" panose="02020603050405020304" pitchFamily="18" charset="0"/>
                <a:ea typeface="DengXian" panose="020B0503020204020204" pitchFamily="2" charset="-122"/>
              </a:rPr>
              <a:t> Project metrics are the metrics used by the project manager to check the project's progress. Data from the past projects are used to collect various metrics, like time and cost; these estimates are used as a base of new software. Note that as the project proceeds, the project manager will check its progress from time-to-time and will compare the effort, cost, and time with the original effort, cost and time. Also understand that these metrics are used to decrease the development costs, time efforts and risks. </a:t>
            </a:r>
            <a:endParaRPr lang="en-IN" dirty="0"/>
          </a:p>
        </p:txBody>
      </p:sp>
    </p:spTree>
    <p:extLst>
      <p:ext uri="{BB962C8B-B14F-4D97-AF65-F5344CB8AC3E}">
        <p14:creationId xmlns:p14="http://schemas.microsoft.com/office/powerpoint/2010/main" val="1761374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CB054554-3E3F-CC5D-821F-5B298C18E697}"/>
              </a:ext>
            </a:extLst>
          </p:cNvPr>
          <p:cNvSpPr txBox="1"/>
          <p:nvPr/>
        </p:nvSpPr>
        <p:spPr>
          <a:xfrm>
            <a:off x="685801" y="-1368050"/>
            <a:ext cx="8000998" cy="6270114"/>
          </a:xfrm>
          <a:prstGeom prst="rect">
            <a:avLst/>
          </a:prstGeom>
          <a:noFill/>
        </p:spPr>
        <p:txBody>
          <a:bodyPr wrap="square">
            <a:spAutoFit/>
          </a:bodyPr>
          <a:lstStyle/>
          <a:p>
            <a:pPr>
              <a:lnSpc>
                <a:spcPct val="150000"/>
              </a:lnSpc>
              <a:spcAft>
                <a:spcPts val="800"/>
              </a:spcAft>
            </a:pPr>
            <a:r>
              <a:rPr lang="en-IN" sz="1800" b="1" u="sng" dirty="0">
                <a:effectLst/>
                <a:latin typeface="Times New Roman" panose="02020603050405020304" pitchFamily="18" charset="0"/>
                <a:ea typeface="DengXian" panose="020B0503020204020204" pitchFamily="2" charset="-122"/>
                <a:cs typeface="Times New Roman" panose="02020603050405020304" pitchFamily="18" charset="0"/>
              </a:rPr>
              <a:t>Software Cost Estimation</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For any new software project, it is necessary to know how much it will cost to develop and how much development time will it take. These estimates are needed before development is initiated, but how is this done? Several estimation procedures have been developed and are having the following attributes in common.</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1.Project scope must be established in advanced.</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2.Software metrics are used as a support from which evaluation is made.</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3.The project is broken into small PCs which are estimated individually.</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    To achieve true cost &amp; schedule estimate, several option arise.</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4.Delay estimation</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5.Used symbol decomposition techniques to generate project cost and schedule estimates.</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6.Acquire one or more automated estimation tools.</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2420170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BCD961E-FC59-0A84-F67E-5250D1C3AAF7}"/>
              </a:ext>
            </a:extLst>
          </p:cNvPr>
          <p:cNvSpPr txBox="1"/>
          <p:nvPr/>
        </p:nvSpPr>
        <p:spPr>
          <a:xfrm>
            <a:off x="838200" y="345336"/>
            <a:ext cx="7620000" cy="4089838"/>
          </a:xfrm>
          <a:prstGeom prst="rect">
            <a:avLst/>
          </a:prstGeom>
          <a:noFill/>
        </p:spPr>
        <p:txBody>
          <a:bodyPr wrap="square">
            <a:spAutoFit/>
          </a:bodyPr>
          <a:lstStyle/>
          <a:p>
            <a:pPr>
              <a:lnSpc>
                <a:spcPct val="150000"/>
              </a:lnSpc>
              <a:spcAft>
                <a:spcPts val="800"/>
              </a:spcAft>
            </a:pPr>
            <a:r>
              <a:rPr lang="en-IN" sz="1800" b="1" u="sng" dirty="0">
                <a:effectLst/>
                <a:latin typeface="Times New Roman" panose="02020603050405020304" pitchFamily="18" charset="0"/>
                <a:ea typeface="DengXian" panose="020B0503020204020204" pitchFamily="2" charset="-122"/>
                <a:cs typeface="Times New Roman" panose="02020603050405020304" pitchFamily="18" charset="0"/>
              </a:rPr>
              <a:t>Uses of Cost Estimation</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1.During the planning stage, one needs to choose how many engineers are required for the        project and to develop a schedule.</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dirty="0">
                <a:effectLst/>
                <a:latin typeface="Times New Roman" panose="02020603050405020304" pitchFamily="18" charset="0"/>
                <a:ea typeface="DengXian" panose="020B0503020204020204" pitchFamily="2" charset="-122"/>
                <a:cs typeface="Times New Roman" panose="02020603050405020304" pitchFamily="18" charset="0"/>
              </a:rPr>
              <a:t>2.In monitoring the project's progress, one needs to access whether the project is progressing according to the procedure and takes corrective action, if necessary.</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gn="just">
              <a:lnSpc>
                <a:spcPct val="150000"/>
              </a:lnSpc>
            </a:pPr>
            <a:r>
              <a:rPr lang="en-US" sz="1800" b="1" u="sng" dirty="0">
                <a:solidFill>
                  <a:srgbClr val="000000"/>
                </a:solidFill>
                <a:effectLst/>
                <a:latin typeface="Times New Roman" panose="02020603050405020304" pitchFamily="18" charset="0"/>
                <a:ea typeface="Helvetica" panose="020B0604020202020204" pitchFamily="34" charset="0"/>
              </a:rPr>
              <a:t>Cost Estimation Models</a:t>
            </a:r>
            <a:endParaRPr lang="en-IN" sz="2800" b="1" dirty="0">
              <a:effectLst/>
              <a:latin typeface="SimSun" panose="02010600030101010101" pitchFamily="2" charset="-122"/>
              <a:ea typeface="SimSun" panose="02010600030101010101" pitchFamily="2" charset="-122"/>
            </a:endParaRPr>
          </a:p>
          <a:p>
            <a:pPr algn="just">
              <a:lnSpc>
                <a:spcPct val="150000"/>
              </a:lnSpc>
            </a:pPr>
            <a:r>
              <a:rPr lang="en-IN" sz="1800" dirty="0">
                <a:solidFill>
                  <a:srgbClr val="000000"/>
                </a:solidFill>
                <a:effectLst/>
                <a:latin typeface="Times New Roman" panose="02020603050405020304" pitchFamily="18" charset="0"/>
                <a:ea typeface="Segoe UI" panose="020B0502040204020203" pitchFamily="34" charset="0"/>
              </a:rPr>
              <a:t>A model may be static or dynamic. In a static model, a single variable is taken as a key element for calculating cost and time. In a dynamic model, all variable are interdependent, and there is no basic variable.</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86970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5676D91-2086-CAC0-04C0-D5CDE557D1B3}"/>
              </a:ext>
            </a:extLst>
          </p:cNvPr>
          <p:cNvSpPr txBox="1"/>
          <p:nvPr/>
        </p:nvSpPr>
        <p:spPr>
          <a:xfrm>
            <a:off x="457197" y="610244"/>
            <a:ext cx="8077198" cy="5028556"/>
          </a:xfrm>
          <a:prstGeom prst="rect">
            <a:avLst/>
          </a:prstGeom>
          <a:noFill/>
        </p:spPr>
        <p:txBody>
          <a:bodyPr wrap="square">
            <a:spAutoFit/>
          </a:bodyPr>
          <a:lstStyle/>
          <a:p>
            <a:pPr>
              <a:lnSpc>
                <a:spcPct val="150000"/>
              </a:lnSpc>
            </a:pPr>
            <a:r>
              <a:rPr lang="en-US" sz="1800" b="1" dirty="0">
                <a:solidFill>
                  <a:srgbClr val="000000"/>
                </a:solidFill>
                <a:effectLst/>
                <a:latin typeface="Times New Roman" panose="02020603050405020304" pitchFamily="18" charset="0"/>
                <a:ea typeface=""/>
              </a:rPr>
              <a:t>Role of QA in Software Development?</a:t>
            </a:r>
            <a:endParaRPr lang="en-IN" sz="2800" b="1" dirty="0">
              <a:effectLst/>
              <a:latin typeface="SimSun" panose="02010600030101010101" pitchFamily="2" charset="-122"/>
              <a:ea typeface="SimSun" panose="02010600030101010101" pitchFamily="2" charset="-122"/>
            </a:endParaRPr>
          </a:p>
          <a:p>
            <a:pPr>
              <a:lnSpc>
                <a:spcPct val="150000"/>
              </a:lnSpc>
            </a:pPr>
            <a:r>
              <a:rPr lang="en-IN" sz="1800" dirty="0">
                <a:solidFill>
                  <a:srgbClr val="000000"/>
                </a:solidFill>
                <a:effectLst/>
                <a:latin typeface="Times New Roman" panose="02020603050405020304" pitchFamily="18" charset="0"/>
                <a:ea typeface=""/>
              </a:rPr>
              <a:t>A QA team, working on piece of software, will work with a Solution Architect to analyse the requirements, define the parameters that determine if the product meets their needs, and create a set of </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US" sz="1800" b="1" dirty="0">
                <a:solidFill>
                  <a:srgbClr val="000000"/>
                </a:solidFill>
                <a:effectLst/>
                <a:latin typeface="Times New Roman" panose="02020603050405020304" pitchFamily="18" charset="0"/>
                <a:ea typeface=""/>
              </a:rPr>
              <a:t>The Importance of QA in Software Development</a:t>
            </a:r>
            <a:endParaRPr lang="en-IN" sz="2800" b="1" dirty="0">
              <a:effectLst/>
              <a:latin typeface="SimSun" panose="02010600030101010101" pitchFamily="2" charset="-122"/>
              <a:ea typeface="SimSun" panose="02010600030101010101" pitchFamily="2" charset="-122"/>
            </a:endParaRPr>
          </a:p>
          <a:p>
            <a:pPr>
              <a:lnSpc>
                <a:spcPct val="150000"/>
              </a:lnSpc>
            </a:pPr>
            <a:r>
              <a:rPr lang="en-US" sz="1800" b="1" dirty="0">
                <a:solidFill>
                  <a:srgbClr val="000000"/>
                </a:solidFill>
                <a:effectLst/>
                <a:latin typeface="Times New Roman" panose="02020603050405020304" pitchFamily="18" charset="0"/>
                <a:ea typeface=""/>
              </a:rPr>
              <a:t>Saves Time and Money</a:t>
            </a:r>
            <a:endParaRPr lang="en-IN" sz="2000" b="1" dirty="0">
              <a:effectLst/>
              <a:latin typeface="SimSun" panose="02010600030101010101" pitchFamily="2" charset="-122"/>
              <a:ea typeface="SimSun" panose="02010600030101010101" pitchFamily="2" charset="-122"/>
            </a:endParaRPr>
          </a:p>
          <a:p>
            <a:pPr>
              <a:lnSpc>
                <a:spcPct val="150000"/>
              </a:lnSpc>
            </a:pPr>
            <a:r>
              <a:rPr lang="en-IN" sz="1800" dirty="0">
                <a:solidFill>
                  <a:srgbClr val="000000"/>
                </a:solidFill>
                <a:effectLst/>
                <a:latin typeface="Times New Roman" panose="02020603050405020304" pitchFamily="18" charset="0"/>
                <a:ea typeface=""/>
              </a:rPr>
              <a:t>The advantage of having systems and processes in place during development is that they anticipate and prevent most bugs and flaws from developing in the first place. As a result, the errors that do surface are relatively minor, and can be fixed easily.</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IN" sz="1800" dirty="0">
                <a:solidFill>
                  <a:srgbClr val="000000"/>
                </a:solidFill>
                <a:effectLst/>
                <a:latin typeface="Times New Roman" panose="02020603050405020304" pitchFamily="18" charset="0"/>
                <a:ea typeface=""/>
              </a:rPr>
              <a:t>On the other hand, without QA, most bugs would potentially be bigger and may only be caught in the testing phase, or after the program was released. Fixing these bugs after the fact would require more time, which in turn could cost more.</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45484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6B980EE-4DD9-9189-4C8D-B9F8D6B30FC1}"/>
              </a:ext>
            </a:extLst>
          </p:cNvPr>
          <p:cNvSpPr txBox="1"/>
          <p:nvPr/>
        </p:nvSpPr>
        <p:spPr>
          <a:xfrm>
            <a:off x="762000" y="706973"/>
            <a:ext cx="7696200" cy="3782061"/>
          </a:xfrm>
          <a:prstGeom prst="rect">
            <a:avLst/>
          </a:prstGeom>
          <a:noFill/>
        </p:spPr>
        <p:txBody>
          <a:bodyPr wrap="square">
            <a:spAutoFit/>
          </a:bodyPr>
          <a:lstStyle/>
          <a:p>
            <a:pPr>
              <a:lnSpc>
                <a:spcPct val="150000"/>
              </a:lnSpc>
            </a:pPr>
            <a:r>
              <a:rPr lang="en-US" sz="1800" b="1" dirty="0">
                <a:solidFill>
                  <a:srgbClr val="000000"/>
                </a:solidFill>
                <a:effectLst/>
                <a:latin typeface="Times New Roman" panose="02020603050405020304" pitchFamily="18" charset="0"/>
                <a:ea typeface=""/>
              </a:rPr>
              <a:t>Maintains Product Quality</a:t>
            </a:r>
            <a:endParaRPr lang="en-IN" sz="2000" b="1" dirty="0">
              <a:effectLst/>
              <a:latin typeface="SimSun" panose="02010600030101010101" pitchFamily="2" charset="-122"/>
              <a:ea typeface="SimSun" panose="02010600030101010101" pitchFamily="2" charset="-122"/>
            </a:endParaRPr>
          </a:p>
          <a:p>
            <a:pPr>
              <a:lnSpc>
                <a:spcPct val="150000"/>
              </a:lnSpc>
            </a:pPr>
            <a:r>
              <a:rPr lang="en-IN" sz="1800" dirty="0">
                <a:solidFill>
                  <a:srgbClr val="000000"/>
                </a:solidFill>
                <a:effectLst/>
                <a:latin typeface="Times New Roman" panose="02020603050405020304" pitchFamily="18" charset="0"/>
                <a:ea typeface=""/>
              </a:rPr>
              <a:t>QA processes are designed to ensure that the software product works reliably and is stable. In addition, there are Quality Control (QC) tests designed to test the functionality, performance, security, usability, and more.</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IN" sz="1800" dirty="0">
                <a:solidFill>
                  <a:srgbClr val="000000"/>
                </a:solidFill>
                <a:effectLst/>
                <a:latin typeface="Times New Roman" panose="02020603050405020304" pitchFamily="18" charset="0"/>
                <a:ea typeface=""/>
              </a:rPr>
              <a:t>Furthermore, these tests also consider the fact that the user might not use the program as it was intended. Part of this testing is to ‘idiot-proof’ the product so that improper use does cause failure.</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IN" sz="1800" dirty="0">
                <a:solidFill>
                  <a:srgbClr val="000000"/>
                </a:solidFill>
                <a:effectLst/>
                <a:latin typeface="Times New Roman" panose="02020603050405020304" pitchFamily="18" charset="0"/>
                <a:ea typeface=""/>
              </a:rPr>
              <a:t>As a result, the final product has minimal defects and is guaranteed to work as intended.</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15357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EC261532-8B70-300C-93E8-5348E65D560B}"/>
              </a:ext>
            </a:extLst>
          </p:cNvPr>
          <p:cNvSpPr txBox="1"/>
          <p:nvPr/>
        </p:nvSpPr>
        <p:spPr>
          <a:xfrm>
            <a:off x="487677" y="553521"/>
            <a:ext cx="7772400" cy="5444054"/>
          </a:xfrm>
          <a:prstGeom prst="rect">
            <a:avLst/>
          </a:prstGeom>
          <a:noFill/>
        </p:spPr>
        <p:txBody>
          <a:bodyPr wrap="square">
            <a:spAutoFit/>
          </a:bodyPr>
          <a:lstStyle/>
          <a:p>
            <a:pPr>
              <a:lnSpc>
                <a:spcPct val="150000"/>
              </a:lnSpc>
            </a:pPr>
            <a:r>
              <a:rPr lang="en-US" sz="1800" b="1" dirty="0">
                <a:solidFill>
                  <a:srgbClr val="000000"/>
                </a:solidFill>
                <a:effectLst/>
                <a:latin typeface="Times New Roman" panose="02020603050405020304" pitchFamily="18" charset="0"/>
                <a:ea typeface=""/>
              </a:rPr>
              <a:t>Ensures Security</a:t>
            </a:r>
            <a:endParaRPr lang="en-IN" sz="2000" b="1" dirty="0">
              <a:effectLst/>
              <a:latin typeface="SimSun" panose="02010600030101010101" pitchFamily="2" charset="-122"/>
              <a:ea typeface="SimSun" panose="02010600030101010101" pitchFamily="2" charset="-122"/>
            </a:endParaRPr>
          </a:p>
          <a:p>
            <a:pPr>
              <a:lnSpc>
                <a:spcPct val="150000"/>
              </a:lnSpc>
            </a:pPr>
            <a:r>
              <a:rPr lang="en-IN" sz="1800" dirty="0">
                <a:solidFill>
                  <a:srgbClr val="000000"/>
                </a:solidFill>
                <a:effectLst/>
                <a:latin typeface="Times New Roman" panose="02020603050405020304" pitchFamily="18" charset="0"/>
                <a:ea typeface=""/>
              </a:rPr>
              <a:t>Whilst a software program might perform all functions as intended, it may not necessarily be completely secure. If there are any weakness in its defences, the product and users’ data could be compromised.</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IN" sz="1800" dirty="0">
                <a:solidFill>
                  <a:srgbClr val="000000"/>
                </a:solidFill>
                <a:effectLst/>
                <a:latin typeface="Times New Roman" panose="02020603050405020304" pitchFamily="18" charset="0"/>
                <a:ea typeface=""/>
              </a:rPr>
              <a:t>One of the reasons QA is so important in software development is to ensure that your product is built with security in mind, and has been tested properly to ensure that the safeguards in place work.</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US" sz="1800" b="1" dirty="0">
                <a:solidFill>
                  <a:srgbClr val="000000"/>
                </a:solidFill>
                <a:effectLst/>
                <a:latin typeface="Times New Roman" panose="02020603050405020304" pitchFamily="18" charset="0"/>
                <a:ea typeface=""/>
              </a:rPr>
              <a:t>Protects Your Reputation</a:t>
            </a:r>
            <a:endParaRPr lang="en-IN" sz="2000" b="1" dirty="0">
              <a:effectLst/>
              <a:latin typeface="SimSun" panose="02010600030101010101" pitchFamily="2" charset="-122"/>
              <a:ea typeface="SimSun" panose="02010600030101010101" pitchFamily="2" charset="-122"/>
            </a:endParaRPr>
          </a:p>
          <a:p>
            <a:pPr>
              <a:lnSpc>
                <a:spcPct val="150000"/>
              </a:lnSpc>
            </a:pPr>
            <a:r>
              <a:rPr lang="en-IN" sz="1800" dirty="0">
                <a:solidFill>
                  <a:srgbClr val="000000"/>
                </a:solidFill>
                <a:effectLst/>
                <a:latin typeface="Times New Roman" panose="02020603050405020304" pitchFamily="18" charset="0"/>
                <a:ea typeface=""/>
              </a:rPr>
              <a:t>The quality of your software can reflect on your company and brand. By releasing a high-quality product that offers excellent features with comprehensive security, you can build a positive reputation for your business.</a:t>
            </a:r>
            <a:endParaRPr lang="en-IN" sz="1800" dirty="0">
              <a:effectLst/>
              <a:latin typeface="Times New Roman" panose="02020603050405020304" pitchFamily="18" charset="0"/>
              <a:ea typeface="Times New Roman" panose="02020603050405020304" pitchFamily="18" charset="0"/>
            </a:endParaRPr>
          </a:p>
          <a:p>
            <a:pPr>
              <a:lnSpc>
                <a:spcPct val="150000"/>
              </a:lnSpc>
            </a:pPr>
            <a:r>
              <a:rPr lang="en-IN" sz="1800" dirty="0">
                <a:solidFill>
                  <a:srgbClr val="000000"/>
                </a:solidFill>
                <a:effectLst/>
                <a:latin typeface="Times New Roman" panose="02020603050405020304" pitchFamily="18" charset="0"/>
                <a:ea typeface=""/>
              </a:rPr>
              <a:t>This is where the importance of QA in software development is most evident. It ensures that your product serves as a fitting brand ambassador for your business.</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33122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6B37AB24-C9DB-D626-905F-B063900453BD}"/>
              </a:ext>
            </a:extLst>
          </p:cNvPr>
          <p:cNvSpPr txBox="1"/>
          <p:nvPr/>
        </p:nvSpPr>
        <p:spPr>
          <a:xfrm>
            <a:off x="609600" y="499224"/>
            <a:ext cx="7924800" cy="4653646"/>
          </a:xfrm>
          <a:prstGeom prst="rect">
            <a:avLst/>
          </a:prstGeom>
          <a:noFill/>
        </p:spPr>
        <p:txBody>
          <a:bodyPr wrap="square">
            <a:spAutoFit/>
          </a:bodyPr>
          <a:lstStyle/>
          <a:p>
            <a:pPr>
              <a:lnSpc>
                <a:spcPct val="150000"/>
              </a:lnSpc>
            </a:pPr>
            <a:r>
              <a:rPr lang="en-US" sz="1800" b="1" dirty="0">
                <a:solidFill>
                  <a:srgbClr val="000000"/>
                </a:solidFill>
                <a:effectLst/>
                <a:latin typeface="Times New Roman" panose="02020603050405020304" pitchFamily="18" charset="0"/>
                <a:ea typeface=""/>
              </a:rPr>
              <a:t>C</a:t>
            </a:r>
            <a:r>
              <a:rPr lang="en-US" sz="2000" b="1" dirty="0">
                <a:solidFill>
                  <a:srgbClr val="000000"/>
                </a:solidFill>
                <a:effectLst/>
                <a:latin typeface="Times New Roman" panose="02020603050405020304" pitchFamily="18" charset="0"/>
                <a:ea typeface=""/>
              </a:rPr>
              <a:t>ustomer Satisfaction</a:t>
            </a:r>
            <a:endParaRPr lang="en-IN" sz="2000" b="1" dirty="0">
              <a:effectLst/>
              <a:latin typeface="SimSun" panose="02010600030101010101" pitchFamily="2" charset="-122"/>
              <a:ea typeface="SimSun" panose="02010600030101010101" pitchFamily="2" charset="-122"/>
            </a:endParaRPr>
          </a:p>
          <a:p>
            <a:pPr>
              <a:lnSpc>
                <a:spcPct val="150000"/>
              </a:lnSpc>
            </a:pPr>
            <a:r>
              <a:rPr lang="en-IN" sz="2000" dirty="0">
                <a:solidFill>
                  <a:srgbClr val="000000"/>
                </a:solidFill>
                <a:effectLst/>
                <a:latin typeface="Times New Roman" panose="02020603050405020304" pitchFamily="18" charset="0"/>
                <a:ea typeface=""/>
              </a:rPr>
              <a:t>In order to ensure satisfied customers, your product needs to fulfil their needs. It should have all the features required and work properly. The role of QA is exactly that – to make sure that the software gives your customers exactly what they expect.</a:t>
            </a:r>
            <a:endParaRPr lang="en-IN" sz="2000" dirty="0">
              <a:effectLst/>
              <a:latin typeface="Times New Roman" panose="02020603050405020304" pitchFamily="18" charset="0"/>
              <a:ea typeface="Times New Roman" panose="02020603050405020304" pitchFamily="18" charset="0"/>
            </a:endParaRPr>
          </a:p>
          <a:p>
            <a:pPr>
              <a:lnSpc>
                <a:spcPct val="150000"/>
              </a:lnSpc>
            </a:pPr>
            <a:r>
              <a:rPr lang="en-IN" sz="2000" dirty="0">
                <a:solidFill>
                  <a:srgbClr val="000000"/>
                </a:solidFill>
                <a:effectLst/>
                <a:latin typeface="Times New Roman" panose="02020603050405020304" pitchFamily="18" charset="0"/>
                <a:ea typeface=""/>
              </a:rPr>
              <a:t> The QA team would define the features of the deliverables and then work through each step of the development process to ensure that they are being delivered. They then check to see if the software works smoothly and without any problems. As a result, customers get a quality product that they are happy to use.</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87267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AAC40E0-F9D0-A235-EA5B-3FA159277D1A}"/>
              </a:ext>
            </a:extLst>
          </p:cNvPr>
          <p:cNvSpPr txBox="1"/>
          <p:nvPr/>
        </p:nvSpPr>
        <p:spPr>
          <a:xfrm>
            <a:off x="457199" y="136525"/>
            <a:ext cx="8686801" cy="6480428"/>
          </a:xfrm>
          <a:prstGeom prst="rect">
            <a:avLst/>
          </a:prstGeom>
          <a:noFill/>
        </p:spPr>
        <p:txBody>
          <a:bodyPr wrap="square">
            <a:spAutoFit/>
          </a:bodyPr>
          <a:lstStyle/>
          <a:p>
            <a:pPr>
              <a:lnSpc>
                <a:spcPct val="150000"/>
              </a:lnSpc>
              <a:spcAft>
                <a:spcPts val="800"/>
              </a:spcAft>
            </a:pPr>
            <a:r>
              <a:rPr lang="en-IN" b="1" spc="10" dirty="0">
                <a:solidFill>
                  <a:srgbClr val="273239"/>
                </a:solidFill>
                <a:latin typeface="Calibri" panose="020F0502020204030204" pitchFamily="34" charset="0"/>
                <a:ea typeface="DengXian" panose="020B0503020204020204" pitchFamily="2" charset="-122"/>
                <a:cs typeface="Times New Roman" panose="02020603050405020304" pitchFamily="18" charset="0"/>
              </a:rPr>
              <a:t>V</a:t>
            </a:r>
            <a:r>
              <a:rPr lang="en-IN" sz="1800" b="1" spc="10" dirty="0">
                <a:solidFill>
                  <a:srgbClr val="273239"/>
                </a:solidFill>
                <a:effectLst/>
                <a:latin typeface="Calibri" panose="020F0502020204030204" pitchFamily="34" charset="0"/>
                <a:ea typeface="DengXian" panose="020B0503020204020204" pitchFamily="2" charset="-122"/>
                <a:cs typeface="Times New Roman" panose="02020603050405020304" pitchFamily="18" charset="0"/>
              </a:rPr>
              <a:t>arious types of reengineering activities</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a:lnSpc>
                <a:spcPct val="150000"/>
              </a:lnSpc>
              <a:spcAft>
                <a:spcPts val="800"/>
              </a:spcAft>
            </a:pPr>
            <a:r>
              <a:rPr lang="en-IN" sz="1800" b="1" spc="10" dirty="0">
                <a:solidFill>
                  <a:srgbClr val="273239"/>
                </a:solidFill>
                <a:effectLst/>
                <a:latin typeface="Calibri" panose="020F0502020204030204" pitchFamily="34" charset="0"/>
                <a:ea typeface="DengXian" panose="020B0503020204020204" pitchFamily="2" charset="-122"/>
                <a:cs typeface="Times New Roman" panose="02020603050405020304" pitchFamily="18" charset="0"/>
              </a:rPr>
              <a:t>Software Re-engineering</a:t>
            </a:r>
            <a:r>
              <a:rPr lang="en-IN" sz="1800" spc="10" dirty="0">
                <a:solidFill>
                  <a:srgbClr val="273239"/>
                </a:solidFill>
                <a:effectLst/>
                <a:latin typeface="Times New Roman" panose="02020603050405020304" pitchFamily="18" charset="0"/>
                <a:ea typeface="DengXian" panose="020B0503020204020204" pitchFamily="2" charset="-122"/>
                <a:cs typeface="Times New Roman" panose="02020603050405020304" pitchFamily="18" charset="0"/>
              </a:rPr>
              <a:t> is a process of software development which is done to improve the maintainability of a software system. Re-engineering is the examination and alteration of a system to reconstitute it in a new form. This process encompasses a combination of sub-processes like reverse engineering, forward engineering, reconstructing etc</a:t>
            </a:r>
            <a:r>
              <a:rPr lang="en-US" sz="1800" spc="10" dirty="0">
                <a:solidFill>
                  <a:srgbClr val="273239"/>
                </a:solidFill>
                <a:effectLst/>
                <a:latin typeface="Times New Roman" panose="02020603050405020304" pitchFamily="18" charset="0"/>
                <a:ea typeface="DengXian" panose="020B0503020204020204" pitchFamily="2" charset="-122"/>
                <a:cs typeface="Times New Roman" panose="02020603050405020304" pitchFamily="18" charset="0"/>
              </a:rPr>
              <a:t>.</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fontAlgn="base">
              <a:lnSpc>
                <a:spcPct val="150000"/>
              </a:lnSpc>
              <a:spcAft>
                <a:spcPts val="800"/>
              </a:spcAft>
            </a:pPr>
            <a:r>
              <a:rPr lang="en-IN" sz="1800" b="1" u="sng"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Software Re-Engineering Activities:</a:t>
            </a:r>
            <a:r>
              <a:rPr lang="en-IN" sz="1800" u="sng"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fontAlgn="base">
              <a:lnSpc>
                <a:spcPct val="150000"/>
              </a:lnSpc>
              <a:spcAft>
                <a:spcPts val="800"/>
              </a:spcAft>
            </a:pPr>
            <a:r>
              <a:rPr lang="en-IN" sz="18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1. Inventory Analysis:</a:t>
            </a: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Every software organisation should have an inventory of all the applications. </a:t>
            </a:r>
            <a:b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lnSpc>
                <a:spcPct val="150000"/>
              </a:lnSpc>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Inventory can be nothing more than a spreadsheet model containing information that provides a detailed description of every active application.</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lnSpc>
                <a:spcPct val="150000"/>
              </a:lnSpc>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By sorting this information according to business criticality, longevity, current maintainability and other local important criteria, candidates for re-engineering appear.</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lnSpc>
                <a:spcPct val="150000"/>
              </a:lnSpc>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The resource can then be allocated to a candidate application for re-engineering work.</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2389108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B40247A1-C5D7-06F6-ACC7-7D8E39CBC942}"/>
              </a:ext>
            </a:extLst>
          </p:cNvPr>
          <p:cNvSpPr txBox="1"/>
          <p:nvPr/>
        </p:nvSpPr>
        <p:spPr>
          <a:xfrm>
            <a:off x="114299" y="466174"/>
            <a:ext cx="8915399" cy="5613524"/>
          </a:xfrm>
          <a:prstGeom prst="rect">
            <a:avLst/>
          </a:prstGeom>
          <a:noFill/>
        </p:spPr>
        <p:txBody>
          <a:bodyPr wrap="square">
            <a:spAutoFit/>
          </a:bodyPr>
          <a:lstStyle/>
          <a:p>
            <a:pPr fontAlgn="base">
              <a:spcAft>
                <a:spcPts val="800"/>
              </a:spcAft>
            </a:pPr>
            <a:r>
              <a:rPr lang="en-IN" sz="18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2. Document reconstructing:</a:t>
            </a: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Documentation of a system either explains how it operates or how to use it. </a:t>
            </a:r>
          </a:p>
          <a:p>
            <a:pPr fontAlgn="base">
              <a:spcAft>
                <a:spcPts val="800"/>
              </a:spcAf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Documentation must be updated.</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It may not be necessary to fully document an application.</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The system is business-critical and must be fully re-documented.</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fontAlgn="base">
              <a:lnSpc>
                <a:spcPct val="150000"/>
              </a:lnSpc>
              <a:spcAft>
                <a:spcPts val="800"/>
              </a:spcAft>
            </a:pPr>
            <a:r>
              <a:rPr lang="en-IN" sz="18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3. Reverse Engineering:</a:t>
            </a: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Reverse engineering is a process of design recovery. Reverse engineering tools extract data, architectural and procedural design information from an existing program.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fontAlgn="base">
              <a:spcAft>
                <a:spcPts val="800"/>
              </a:spcAft>
            </a:pPr>
            <a:r>
              <a:rPr lang="en-IN" sz="18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4. Code Reconstructing:</a:t>
            </a: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To accomplish code reconstructing, the source code is analysed using a reconstructing tool. Violations of structured programming construct are noted and code is then reconstructed.</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lnSpc>
                <a:spcPct val="150000"/>
              </a:lnSpc>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The resultant restructured code is reviewed and tested to ensure that no anomalies have been introduced.</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1451796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DB5F730A-A66C-9389-8D38-23070A89C416}"/>
              </a:ext>
            </a:extLst>
          </p:cNvPr>
          <p:cNvSpPr txBox="1"/>
          <p:nvPr/>
        </p:nvSpPr>
        <p:spPr>
          <a:xfrm>
            <a:off x="233679" y="1035709"/>
            <a:ext cx="8458200" cy="4613251"/>
          </a:xfrm>
          <a:prstGeom prst="rect">
            <a:avLst/>
          </a:prstGeom>
          <a:noFill/>
        </p:spPr>
        <p:txBody>
          <a:bodyPr wrap="square">
            <a:spAutoFit/>
          </a:bodyPr>
          <a:lstStyle/>
          <a:p>
            <a:pPr fontAlgn="base">
              <a:lnSpc>
                <a:spcPct val="150000"/>
              </a:lnSpc>
              <a:spcAft>
                <a:spcPts val="800"/>
              </a:spcAft>
            </a:pPr>
            <a:r>
              <a:rPr lang="en-IN" sz="18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5. Data Restructuring:</a:t>
            </a: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lnSpc>
                <a:spcPct val="150000"/>
              </a:lnSpc>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Data restructuring begins with a reverse engineering activity.</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lnSpc>
                <a:spcPct val="150000"/>
              </a:lnSpc>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Current data architecture is dissected, and the necessary data models are defined.</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marL="342900" lvl="0" indent="-342900" fontAlgn="base">
              <a:lnSpc>
                <a:spcPct val="150000"/>
              </a:lnSpc>
              <a:spcAft>
                <a:spcPts val="800"/>
              </a:spcAft>
              <a:buSzPts val="1000"/>
              <a:buFont typeface="Symbol" panose="05050102010706020507" pitchFamily="18" charset="2"/>
              <a:buChar char=""/>
              <a:tabLst>
                <a:tab pos="457200" algn="l"/>
              </a:tabLst>
            </a:pP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Data objects and attributes are identified, and existing data structure are reviewed for quality.</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a:p>
            <a:pPr fontAlgn="base">
              <a:lnSpc>
                <a:spcPct val="150000"/>
              </a:lnSpc>
              <a:spcAft>
                <a:spcPts val="800"/>
              </a:spcAft>
            </a:pPr>
            <a:r>
              <a:rPr lang="en-IN" sz="18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6. Forward Engineering:</a:t>
            </a: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Forward Engineering also called as renovation or reclamation not only for recovers design information from existing software but uses this information to alter or reconstitute the existing system in an effort to improve its overall quality.</a:t>
            </a:r>
            <a:endParaRPr lang="en-IN" sz="1600" dirty="0">
              <a:effectLst/>
              <a:latin typeface="Calibri" panose="020F0502020204030204" pitchFamily="34" charset="0"/>
              <a:ea typeface="DengXian" panose="020B0503020204020204" pitchFamily="2" charset="-122"/>
              <a:cs typeface="Times New Roman" panose="02020603050405020304" pitchFamily="18" charset="0"/>
            </a:endParaRPr>
          </a:p>
        </p:txBody>
      </p:sp>
    </p:spTree>
    <p:extLst>
      <p:ext uri="{BB962C8B-B14F-4D97-AF65-F5344CB8AC3E}">
        <p14:creationId xmlns:p14="http://schemas.microsoft.com/office/powerpoint/2010/main" val="820892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636919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3890808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19713</TotalTime>
  <Words>2016</Words>
  <Application>Microsoft Office PowerPoint</Application>
  <PresentationFormat>On-screen Show (4:3)</PresentationFormat>
  <Paragraphs>138</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SimSun</vt:lpstr>
      <vt:lpstr>Arial</vt:lpstr>
      <vt:lpstr>Calibri</vt:lpstr>
      <vt:lpstr>Calibri Light</vt:lpstr>
      <vt:lpstr>Symbol</vt:lpstr>
      <vt:lpstr>Times New Roman</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Company>vb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Simply</dc:creator>
  <cp:lastModifiedBy>Lipsa Nayak</cp:lastModifiedBy>
  <cp:revision>346</cp:revision>
  <dcterms:created xsi:type="dcterms:W3CDTF">2021-10-10T16:43:15Z</dcterms:created>
  <dcterms:modified xsi:type="dcterms:W3CDTF">2023-06-26T18:24:07Z</dcterms:modified>
</cp:coreProperties>
</file>