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48"/>
  </p:notesMasterIdLst>
  <p:sldIdLst>
    <p:sldId id="321" r:id="rId2"/>
    <p:sldId id="319" r:id="rId3"/>
    <p:sldId id="318" r:id="rId4"/>
    <p:sldId id="320" r:id="rId5"/>
    <p:sldId id="315" r:id="rId6"/>
    <p:sldId id="323" r:id="rId7"/>
    <p:sldId id="324" r:id="rId8"/>
    <p:sldId id="325" r:id="rId9"/>
    <p:sldId id="326" r:id="rId10"/>
    <p:sldId id="342" r:id="rId11"/>
    <p:sldId id="327" r:id="rId12"/>
    <p:sldId id="334" r:id="rId13"/>
    <p:sldId id="336" r:id="rId14"/>
    <p:sldId id="335" r:id="rId15"/>
    <p:sldId id="337" r:id="rId16"/>
    <p:sldId id="343" r:id="rId17"/>
    <p:sldId id="344" r:id="rId18"/>
    <p:sldId id="345" r:id="rId19"/>
    <p:sldId id="356" r:id="rId20"/>
    <p:sldId id="346" r:id="rId21"/>
    <p:sldId id="347" r:id="rId22"/>
    <p:sldId id="348" r:id="rId23"/>
    <p:sldId id="349" r:id="rId24"/>
    <p:sldId id="341" r:id="rId25"/>
    <p:sldId id="350" r:id="rId26"/>
    <p:sldId id="355" r:id="rId27"/>
    <p:sldId id="354" r:id="rId28"/>
    <p:sldId id="351" r:id="rId29"/>
    <p:sldId id="352" r:id="rId30"/>
    <p:sldId id="358" r:id="rId31"/>
    <p:sldId id="359" r:id="rId32"/>
    <p:sldId id="360" r:id="rId33"/>
    <p:sldId id="363" r:id="rId34"/>
    <p:sldId id="371" r:id="rId35"/>
    <p:sldId id="365" r:id="rId36"/>
    <p:sldId id="372" r:id="rId37"/>
    <p:sldId id="366" r:id="rId38"/>
    <p:sldId id="367" r:id="rId39"/>
    <p:sldId id="368" r:id="rId40"/>
    <p:sldId id="369" r:id="rId41"/>
    <p:sldId id="370" r:id="rId42"/>
    <p:sldId id="375" r:id="rId43"/>
    <p:sldId id="376" r:id="rId44"/>
    <p:sldId id="378" r:id="rId45"/>
    <p:sldId id="357" r:id="rId46"/>
    <p:sldId id="381"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49" autoAdjust="0"/>
    <p:restoredTop sz="94660"/>
  </p:normalViewPr>
  <p:slideViewPr>
    <p:cSldViewPr>
      <p:cViewPr varScale="1">
        <p:scale>
          <a:sx n="63" d="100"/>
          <a:sy n="63" d="100"/>
        </p:scale>
        <p:origin x="1576" y="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173879-A493-4EDB-A790-6038B1CDDF14}" type="datetimeFigureOut">
              <a:rPr lang="en-US" smtClean="0"/>
              <a:t>6/26/2023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062DEC-2A34-4AE2-AC2C-326F81FB9D92}" type="slidenum">
              <a:rPr lang="en-US" smtClean="0"/>
              <a:t>‹#›</a:t>
            </a:fld>
            <a:endParaRPr lang="en-US"/>
          </a:p>
        </p:txBody>
      </p:sp>
    </p:spTree>
    <p:extLst>
      <p:ext uri="{BB962C8B-B14F-4D97-AF65-F5344CB8AC3E}">
        <p14:creationId xmlns:p14="http://schemas.microsoft.com/office/powerpoint/2010/main" val="791132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3223548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12142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265980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4227389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602B0A-0B99-47D4-AFD3-140C34F2A7C7}" type="datetimeFigureOut">
              <a:rPr lang="en-US" smtClean="0"/>
              <a:t>6/26/2023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607358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02B0A-0B99-47D4-AFD3-140C34F2A7C7}" type="datetimeFigureOut">
              <a:rPr lang="en-US" smtClean="0"/>
              <a:t>6/26/2023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140727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602B0A-0B99-47D4-AFD3-140C34F2A7C7}" type="datetimeFigureOut">
              <a:rPr lang="en-US" smtClean="0"/>
              <a:t>6/26/2023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707093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681099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4165690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1990458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341546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7686">
              <a:srgbClr val="E7F0F9"/>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602B0A-0B99-47D4-AFD3-140C34F2A7C7}" type="datetimeFigureOut">
              <a:rPr lang="en-US" smtClean="0"/>
              <a:t>6/26/2023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C7416A-A348-47FF-937D-7E980B76C6D7}" type="slidenum">
              <a:rPr lang="en-US" smtClean="0"/>
              <a:t>‹#›</a:t>
            </a:fld>
            <a:endParaRPr lang="en-US"/>
          </a:p>
        </p:txBody>
      </p:sp>
    </p:spTree>
    <p:extLst>
      <p:ext uri="{BB962C8B-B14F-4D97-AF65-F5344CB8AC3E}">
        <p14:creationId xmlns:p14="http://schemas.microsoft.com/office/powerpoint/2010/main" val="3009563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r>
              <a:rPr lang="en-US" sz="3600" dirty="0">
                <a:solidFill>
                  <a:srgbClr val="FF0000"/>
                </a:solidFill>
                <a:latin typeface="Times New Roman" pitchFamily="18" charset="0"/>
                <a:cs typeface="Times New Roman" pitchFamily="18" charset="0"/>
              </a:rPr>
              <a:t>SOFTWARE ENGINEERING</a:t>
            </a: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a:t>
            </a:fld>
            <a:endParaRPr lang="en-US" dirty="0"/>
          </a:p>
        </p:txBody>
      </p:sp>
    </p:spTree>
    <p:extLst>
      <p:ext uri="{BB962C8B-B14F-4D97-AF65-F5344CB8AC3E}">
        <p14:creationId xmlns:p14="http://schemas.microsoft.com/office/powerpoint/2010/main" val="982860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304800"/>
            <a:ext cx="9144000" cy="5645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SOFTWARE ENGINEERING        </a:t>
            </a:r>
          </a:p>
          <a:p>
            <a:pPr>
              <a:spcAft>
                <a:spcPts val="368"/>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It is the systematic, disciplined, cost effective technique for software development.</a:t>
            </a:r>
          </a:p>
          <a:p>
            <a:pPr>
              <a:lnSpc>
                <a:spcPct val="107000"/>
              </a:lnSpc>
              <a:spcAft>
                <a:spcPts val="800"/>
              </a:spcAft>
            </a:pPr>
            <a:r>
              <a:rPr lang="en-IN" sz="2400" spc="10" dirty="0">
                <a:solidFill>
                  <a:srgbClr val="273239"/>
                </a:solidFill>
                <a:effectLst/>
                <a:latin typeface="Times New Roman" panose="02020603050405020304" pitchFamily="18" charset="0"/>
                <a:ea typeface="Calibri" panose="020F0502020204030204" pitchFamily="34" charset="0"/>
                <a:cs typeface="Times New Roman" panose="02020603050405020304" pitchFamily="18" charset="0"/>
              </a:rPr>
              <a:t>Software is a program or set of programs containing instructions that provide desired functionality. </a:t>
            </a:r>
          </a:p>
          <a:p>
            <a:pPr>
              <a:lnSpc>
                <a:spcPct val="107000"/>
              </a:lnSpc>
              <a:spcAft>
                <a:spcPts val="800"/>
              </a:spcAft>
            </a:pPr>
            <a:r>
              <a:rPr lang="en-US" sz="2400" b="0" i="0" dirty="0">
                <a:solidFill>
                  <a:srgbClr val="000000"/>
                </a:solidFill>
                <a:effectLst/>
                <a:latin typeface="Times New Roman" panose="02020603050405020304" pitchFamily="18" charset="0"/>
                <a:cs typeface="Times New Roman" panose="02020603050405020304" pitchFamily="18" charset="0"/>
              </a:rPr>
              <a:t>Software, when made for a specific requirement is called </a:t>
            </a:r>
            <a:r>
              <a:rPr lang="en-US" sz="2400" b="1" i="0" dirty="0">
                <a:solidFill>
                  <a:srgbClr val="000000"/>
                </a:solidFill>
                <a:effectLst/>
                <a:latin typeface="Times New Roman" panose="02020603050405020304" pitchFamily="18" charset="0"/>
                <a:cs typeface="Times New Roman" panose="02020603050405020304" pitchFamily="18" charset="0"/>
              </a:rPr>
              <a:t>software product.</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400" spc="10" dirty="0">
                <a:solidFill>
                  <a:srgbClr val="273239"/>
                </a:solidFill>
                <a:effectLst/>
                <a:latin typeface="Times New Roman" panose="02020603050405020304" pitchFamily="18" charset="0"/>
                <a:ea typeface="Calibri" panose="020F0502020204030204" pitchFamily="34" charset="0"/>
                <a:cs typeface="Times New Roman" panose="02020603050405020304" pitchFamily="18" charset="0"/>
              </a:rPr>
              <a:t>And Engineering is the process of designing and building something that serves a particular purpose and finds a cost-effective solution to problems. </a:t>
            </a:r>
          </a:p>
          <a:p>
            <a:pPr>
              <a:lnSpc>
                <a:spcPct val="107000"/>
              </a:lnSpc>
              <a:spcAft>
                <a:spcPts val="800"/>
              </a:spcAft>
            </a:pPr>
            <a:r>
              <a:rPr lang="en-US" sz="2400" b="1" i="0" dirty="0">
                <a:solidFill>
                  <a:srgbClr val="000000"/>
                </a:solidFill>
                <a:effectLst/>
                <a:latin typeface="Times New Roman" panose="02020603050405020304" pitchFamily="18" charset="0"/>
                <a:cs typeface="Times New Roman" panose="02020603050405020304" pitchFamily="18" charset="0"/>
              </a:rPr>
              <a:t>Software engineering</a:t>
            </a:r>
            <a:r>
              <a:rPr lang="en-US" sz="2400" b="0" i="0" dirty="0">
                <a:solidFill>
                  <a:srgbClr val="000000"/>
                </a:solidFill>
                <a:effectLst/>
                <a:latin typeface="Times New Roman" panose="02020603050405020304" pitchFamily="18" charset="0"/>
                <a:cs typeface="Times New Roman" panose="02020603050405020304" pitchFamily="18" charset="0"/>
              </a:rPr>
              <a:t> is an engineering branch associated with development of software product using well-defined scientific principles, methods and procedures. The outcome of software engineering is an efficient and reliable software product.</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spcAft>
                <a:spcPts val="368"/>
              </a:spcAft>
              <a:buNone/>
            </a:pP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a:t>
            </a:fld>
            <a:endParaRPr lang="en-US" dirty="0"/>
          </a:p>
        </p:txBody>
      </p:sp>
    </p:spTree>
    <p:extLst>
      <p:ext uri="{BB962C8B-B14F-4D97-AF65-F5344CB8AC3E}">
        <p14:creationId xmlns:p14="http://schemas.microsoft.com/office/powerpoint/2010/main" val="2989548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228600"/>
            <a:ext cx="9144000" cy="5721595"/>
          </a:xfrm>
        </p:spPr>
        <p:txBody>
          <a:bodyPr>
            <a:noAutofit/>
          </a:bodyPr>
          <a:lstStyle/>
          <a:p>
            <a:pPr marL="0" indent="0" algn="just">
              <a:spcBef>
                <a:spcPts val="600"/>
              </a:spcBef>
              <a:spcAft>
                <a:spcPts val="720"/>
              </a:spcAft>
              <a:buNone/>
            </a:pP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0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NEED OF SOFTWARE ENGINEERING</a:t>
            </a:r>
          </a:p>
          <a:p>
            <a:pPr marL="0" indent="0" algn="just">
              <a:spcBef>
                <a:spcPts val="600"/>
              </a:spcBef>
              <a:spcAft>
                <a:spcPts val="720"/>
              </a:spcAft>
              <a:buNone/>
            </a:pP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need of software engineering arises because of higher rate of change in user    </a:t>
            </a:r>
          </a:p>
          <a:p>
            <a:pPr marL="0" indent="0" algn="just">
              <a:spcBef>
                <a:spcPts val="600"/>
              </a:spcBef>
              <a:spcAft>
                <a:spcPts val="720"/>
              </a:spcAft>
              <a:buNone/>
            </a:pP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requirements and environment on which the software is working.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manage Large software - </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is easier to build a wall than to a house or building, likewise, as the size of software become large engineering has to step to give it a scientific process.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 more Scalability- </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If the software process were not based on scientific and engineering concepts, it would be easier to re-create new software than to scale an existing one.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Cost Management- </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 hardware industry has shown its skills and huge manufacturing has lower down he price of computer and electronic hardware. But the cost of software remains high if proper process is not adapted.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manage the Dynamic Nature- </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always growing and adapting nature of software hugely depends upon the environment in which user works. If the nature of software is always changing, new enhancements need to be done in the existing one. This is where software engineering plays a good role.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 better Quality Management- </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Better process of software development provides better and quality software product.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spcAft>
                <a:spcPts val="368"/>
              </a:spcAft>
              <a:buNone/>
            </a:pP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a:t>
            </a:fld>
            <a:endParaRPr lang="en-US" dirty="0"/>
          </a:p>
        </p:txBody>
      </p:sp>
    </p:spTree>
    <p:extLst>
      <p:ext uri="{BB962C8B-B14F-4D97-AF65-F5344CB8AC3E}">
        <p14:creationId xmlns:p14="http://schemas.microsoft.com/office/powerpoint/2010/main" val="1720972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381000"/>
            <a:ext cx="9144000" cy="5569195"/>
          </a:xfrm>
        </p:spPr>
        <p:txBody>
          <a:bodyPr>
            <a:noAutofit/>
          </a:bodyPr>
          <a:lstStyle/>
          <a:p>
            <a:pPr marL="0" indent="0">
              <a:lnSpc>
                <a:spcPct val="150000"/>
              </a:lnSpc>
              <a:spcAft>
                <a:spcPts val="368"/>
              </a:spcAft>
              <a:buNone/>
            </a:pPr>
            <a:r>
              <a:rPr lang="en-IN" sz="2400" b="1" spc="10" dirty="0">
                <a:solidFill>
                  <a:srgbClr val="273239"/>
                </a:solidFill>
                <a:effectLst/>
                <a:latin typeface="Times New Roman" panose="02020603050405020304" pitchFamily="18" charset="0"/>
                <a:ea typeface="Calibri" panose="020F0502020204030204" pitchFamily="34" charset="0"/>
                <a:cs typeface="Times New Roman" panose="02020603050405020304" pitchFamily="18" charset="0"/>
              </a:rPr>
              <a:t>Product:</a:t>
            </a:r>
            <a:r>
              <a:rPr lang="en-IN" sz="2400" spc="10" dirty="0">
                <a:solidFill>
                  <a:srgbClr val="273239"/>
                </a:solidFill>
                <a:effectLst/>
                <a:latin typeface="Times New Roman" panose="02020603050405020304" pitchFamily="18" charset="0"/>
                <a:ea typeface="Calibri" panose="020F0502020204030204" pitchFamily="34" charset="0"/>
                <a:cs typeface="Times New Roman" panose="02020603050405020304" pitchFamily="18" charset="0"/>
              </a:rPr>
              <a:t> </a:t>
            </a:r>
            <a:br>
              <a:rPr lang="en-IN" sz="2400" spc="10" dirty="0">
                <a:solidFill>
                  <a:srgbClr val="273239"/>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400" spc="10" dirty="0">
                <a:solidFill>
                  <a:srgbClr val="273239"/>
                </a:solidFill>
                <a:effectLst/>
                <a:latin typeface="Times New Roman" panose="02020603050405020304" pitchFamily="18" charset="0"/>
                <a:ea typeface="Calibri" panose="020F0502020204030204" pitchFamily="34" charset="0"/>
                <a:cs typeface="Times New Roman" panose="02020603050405020304" pitchFamily="18" charset="0"/>
              </a:rPr>
              <a:t>In the context of software engineering, Product includes any software manufactured based on the customer’s request. This can be a problem solving software or computer based system. It can also be said that this is the result of a project.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50000"/>
              </a:lnSpc>
              <a:buNone/>
            </a:pPr>
            <a:r>
              <a:rPr lang="en-US" sz="24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Process:</a:t>
            </a:r>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Process is a set of sequence steps that have to be followed to create a project. The main purpose of a process is to improve the quality of the project. The process serves as a template that can be used through the creation of its examples and is used to direct the project.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fontAlgn="base">
              <a:spcAft>
                <a:spcPts val="625"/>
              </a:spcAft>
              <a:buNone/>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spcAft>
                <a:spcPts val="368"/>
              </a:spcAft>
              <a:buNone/>
            </a:pPr>
            <a:endParaRPr lang="en-US" sz="2400" dirty="0">
              <a:solidFill>
                <a:srgbClr val="FF0000"/>
              </a:solidFill>
              <a:latin typeface="Times New Roman" panose="02020603050405020304"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a:t>
            </a:fld>
            <a:endParaRPr lang="en-US" dirty="0"/>
          </a:p>
        </p:txBody>
      </p:sp>
    </p:spTree>
    <p:extLst>
      <p:ext uri="{BB962C8B-B14F-4D97-AF65-F5344CB8AC3E}">
        <p14:creationId xmlns:p14="http://schemas.microsoft.com/office/powerpoint/2010/main" val="643031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Difference between Product &amp; process                 </a:t>
            </a:r>
          </a:p>
          <a:p>
            <a:pPr>
              <a:lnSpc>
                <a:spcPct val="150000"/>
              </a:lnSpc>
              <a:spcAft>
                <a:spcPts val="368"/>
              </a:spcAft>
              <a:buFont typeface="Wingdings" panose="05000000000000000000" pitchFamily="2" charset="2"/>
              <a:buChar char="Ø"/>
            </a:pPr>
            <a:r>
              <a:rPr lang="en-US" sz="2400" spc="10" dirty="0">
                <a:latin typeface="Times New Roman" pitchFamily="18" charset="0"/>
                <a:cs typeface="Times New Roman" pitchFamily="18" charset="0"/>
              </a:rPr>
              <a:t>The main difference between a process and a product is that the process is a set of steps that guide the project to achieve a convenient product. </a:t>
            </a:r>
          </a:p>
          <a:p>
            <a:pPr>
              <a:lnSpc>
                <a:spcPct val="150000"/>
              </a:lnSpc>
              <a:spcAft>
                <a:spcPts val="368"/>
              </a:spcAft>
              <a:buFont typeface="Wingdings" panose="05000000000000000000" pitchFamily="2" charset="2"/>
              <a:buChar char="Ø"/>
            </a:pPr>
            <a:r>
              <a:rPr lang="en-US" sz="2400" spc="10" dirty="0">
                <a:latin typeface="Times New Roman" pitchFamily="18" charset="0"/>
                <a:cs typeface="Times New Roman" pitchFamily="18" charset="0"/>
              </a:rPr>
              <a:t>while on the other hand, the product is the result of a project that is manufactured by a wide variety of people. </a:t>
            </a:r>
            <a:endParaRPr lang="en-IN" sz="2400" spc="10" dirty="0">
              <a:latin typeface="Times New Roman" pitchFamily="18" charset="0"/>
              <a:cs typeface="Times New Roman" pitchFamily="18" charset="0"/>
            </a:endParaRPr>
          </a:p>
          <a:p>
            <a:pPr marL="0" indent="0">
              <a:spcAft>
                <a:spcPts val="368"/>
              </a:spcAft>
              <a:buNone/>
            </a:pP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5</a:t>
            </a:fld>
            <a:endParaRPr lang="en-US" dirty="0"/>
          </a:p>
        </p:txBody>
      </p:sp>
    </p:spTree>
    <p:extLst>
      <p:ext uri="{BB962C8B-B14F-4D97-AF65-F5344CB8AC3E}">
        <p14:creationId xmlns:p14="http://schemas.microsoft.com/office/powerpoint/2010/main" val="3586933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0" y="304800"/>
            <a:ext cx="9144000" cy="5645395"/>
          </a:xfrm>
        </p:spPr>
        <p:txBody>
          <a:bodyPr>
            <a:noAutofit/>
          </a:bodyPr>
          <a:lstStyle/>
          <a:p>
            <a:pPr marL="0" indent="0" algn="l">
              <a:buNone/>
            </a:pPr>
            <a:r>
              <a:rPr lang="en-US" sz="2000" b="0" i="0" dirty="0">
                <a:solidFill>
                  <a:srgbClr val="FF0000"/>
                </a:solidFill>
                <a:effectLst/>
                <a:latin typeface="Heebo" pitchFamily="2" charset="-79"/>
                <a:cs typeface="Heebo" pitchFamily="2" charset="-79"/>
              </a:rPr>
              <a:t>Software Evolution</a:t>
            </a:r>
          </a:p>
          <a:p>
            <a:pPr algn="just"/>
            <a:r>
              <a:rPr lang="en-US" sz="2000" b="0" i="0" dirty="0">
                <a:solidFill>
                  <a:srgbClr val="000000"/>
                </a:solidFill>
                <a:effectLst/>
                <a:latin typeface="Nunito" pitchFamily="2" charset="0"/>
              </a:rPr>
              <a:t>The process of developing a software product using software engineering principles and methods is referred to as </a:t>
            </a:r>
            <a:r>
              <a:rPr lang="en-US" sz="2000" b="1" i="0" dirty="0">
                <a:solidFill>
                  <a:srgbClr val="000000"/>
                </a:solidFill>
                <a:effectLst/>
                <a:latin typeface="Nunito" pitchFamily="2" charset="0"/>
              </a:rPr>
              <a:t>software evolution.</a:t>
            </a:r>
            <a:r>
              <a:rPr lang="en-US" sz="2000" b="0" i="0" dirty="0">
                <a:solidFill>
                  <a:srgbClr val="000000"/>
                </a:solidFill>
                <a:effectLst/>
                <a:latin typeface="Nunito" pitchFamily="2" charset="0"/>
              </a:rPr>
              <a:t> </a:t>
            </a:r>
          </a:p>
          <a:p>
            <a:pPr algn="just"/>
            <a:r>
              <a:rPr lang="en-US" sz="2000" b="0" i="0" dirty="0">
                <a:solidFill>
                  <a:srgbClr val="000000"/>
                </a:solidFill>
                <a:effectLst/>
                <a:latin typeface="Nunito" pitchFamily="2" charset="0"/>
              </a:rPr>
              <a:t>This includes the initial development of software and its maintenance and updates, till desired software product is developed, which satisfies the expected requirements.</a:t>
            </a:r>
          </a:p>
          <a:p>
            <a:pPr marL="0" indent="0">
              <a:spcAft>
                <a:spcPts val="368"/>
              </a:spcAft>
              <a:buNone/>
            </a:pPr>
            <a:endParaRPr lang="en-US"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6</a:t>
            </a:fld>
            <a:endParaRPr lang="en-US" dirty="0"/>
          </a:p>
        </p:txBody>
      </p:sp>
      <p:pic>
        <p:nvPicPr>
          <p:cNvPr id="9" name="Picture 8">
            <a:extLst>
              <a:ext uri="{FF2B5EF4-FFF2-40B4-BE49-F238E27FC236}">
                <a16:creationId xmlns:a16="http://schemas.microsoft.com/office/drawing/2014/main" id="{98F2B7DB-A067-D0A7-26B0-3E60DCFCB9F4}"/>
              </a:ext>
            </a:extLst>
          </p:cNvPr>
          <p:cNvPicPr>
            <a:picLocks noChangeAspect="1"/>
          </p:cNvPicPr>
          <p:nvPr/>
        </p:nvPicPr>
        <p:blipFill>
          <a:blip r:embed="rId2"/>
          <a:stretch>
            <a:fillRect/>
          </a:stretch>
        </p:blipFill>
        <p:spPr>
          <a:xfrm>
            <a:off x="1905000" y="2870078"/>
            <a:ext cx="4819898" cy="2971800"/>
          </a:xfrm>
          <a:prstGeom prst="rect">
            <a:avLst/>
          </a:prstGeom>
        </p:spPr>
      </p:pic>
    </p:spTree>
    <p:extLst>
      <p:ext uri="{BB962C8B-B14F-4D97-AF65-F5344CB8AC3E}">
        <p14:creationId xmlns:p14="http://schemas.microsoft.com/office/powerpoint/2010/main" val="664519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219200" y="1183944"/>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7</a:t>
            </a:fld>
            <a:endParaRPr lang="en-US" dirty="0"/>
          </a:p>
        </p:txBody>
      </p:sp>
      <p:sp>
        <p:nvSpPr>
          <p:cNvPr id="6" name="TextBox 5">
            <a:extLst>
              <a:ext uri="{FF2B5EF4-FFF2-40B4-BE49-F238E27FC236}">
                <a16:creationId xmlns:a16="http://schemas.microsoft.com/office/drawing/2014/main" id="{CB758110-EE6F-362B-7EF5-DA99D7A257E5}"/>
              </a:ext>
            </a:extLst>
          </p:cNvPr>
          <p:cNvSpPr txBox="1"/>
          <p:nvPr/>
        </p:nvSpPr>
        <p:spPr>
          <a:xfrm>
            <a:off x="228600" y="605625"/>
            <a:ext cx="8763000" cy="5816977"/>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Evolution starts from the requirement gathering process. After which developers create a prototype of the intended software and show it to the users to get their feedback at the early stage of software product development.</a:t>
            </a:r>
          </a:p>
          <a:p>
            <a:pPr marL="342900" indent="-34290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 The users suggest changes, on which several consecutive updates and maintenance keep on changing too. This process changes to the original software, till the desired software is accomplished.</a:t>
            </a:r>
          </a:p>
          <a:p>
            <a:pPr marL="342900" indent="-34290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Even after the user has desired software in hand, </a:t>
            </a:r>
            <a:r>
              <a:rPr lang="en-US" sz="2400" b="0" i="0" dirty="0" err="1">
                <a:solidFill>
                  <a:srgbClr val="000000"/>
                </a:solidFill>
                <a:effectLst/>
                <a:latin typeface="Times New Roman" panose="02020603050405020304" pitchFamily="18" charset="0"/>
                <a:cs typeface="Times New Roman" panose="02020603050405020304" pitchFamily="18" charset="0"/>
              </a:rPr>
              <a:t>updation</a:t>
            </a:r>
            <a:r>
              <a:rPr lang="en-US" sz="2400" b="0" i="0" dirty="0">
                <a:solidFill>
                  <a:srgbClr val="000000"/>
                </a:solidFill>
                <a:effectLst/>
                <a:latin typeface="Times New Roman" panose="02020603050405020304" pitchFamily="18" charset="0"/>
                <a:cs typeface="Times New Roman" panose="02020603050405020304" pitchFamily="18" charset="0"/>
              </a:rPr>
              <a:t> of the existing software keep going</a:t>
            </a:r>
          </a:p>
          <a:p>
            <a:pPr marL="342900" indent="-342900" algn="just">
              <a:buFont typeface="Wingdings" panose="05000000000000000000" pitchFamily="2" charset="2"/>
              <a:buChar char="Ø"/>
            </a:pPr>
            <a:endParaRPr lang="en-US" sz="2400" dirty="0">
              <a:solidFill>
                <a:srgbClr val="000000"/>
              </a:solidFill>
              <a:latin typeface="Times New Roman" panose="02020603050405020304" pitchFamily="18" charset="0"/>
              <a:cs typeface="Times New Roman" panose="02020603050405020304" pitchFamily="18" charset="0"/>
            </a:endParaRP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0218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228600"/>
            <a:ext cx="9144000" cy="57215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8</a:t>
            </a:fld>
            <a:endParaRPr lang="en-US" dirty="0"/>
          </a:p>
        </p:txBody>
      </p:sp>
      <p:sp>
        <p:nvSpPr>
          <p:cNvPr id="6" name="TextBox 5">
            <a:extLst>
              <a:ext uri="{FF2B5EF4-FFF2-40B4-BE49-F238E27FC236}">
                <a16:creationId xmlns:a16="http://schemas.microsoft.com/office/drawing/2014/main" id="{BF2E81B3-CBDD-DCD6-BBF6-C7EEBB91FDF3}"/>
              </a:ext>
            </a:extLst>
          </p:cNvPr>
          <p:cNvSpPr txBox="1"/>
          <p:nvPr/>
        </p:nvSpPr>
        <p:spPr>
          <a:xfrm>
            <a:off x="240632" y="606392"/>
            <a:ext cx="8674768" cy="5565947"/>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b="0" i="0" dirty="0">
                <a:solidFill>
                  <a:srgbClr val="FF0000"/>
                </a:solidFill>
                <a:effectLst/>
                <a:latin typeface="Times New Roman" panose="02020603050405020304" pitchFamily="18" charset="0"/>
                <a:cs typeface="Times New Roman" panose="02020603050405020304" pitchFamily="18" charset="0"/>
              </a:rPr>
              <a:t>SDLC</a:t>
            </a: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Software Development Life Cycle, SDLC for short, is a well-defined, structured sequence of stages in software engineering to develop the intended software product.</a:t>
            </a:r>
          </a:p>
          <a:p>
            <a:pPr marL="342900" indent="-342900">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It</a:t>
            </a:r>
            <a:r>
              <a:rPr lang="en-US" sz="2400" b="0" i="0" dirty="0">
                <a:solidFill>
                  <a:srgbClr val="333333"/>
                </a:solidFill>
                <a:effectLst/>
                <a:latin typeface="Times New Roman" panose="02020603050405020304" pitchFamily="18" charset="0"/>
                <a:cs typeface="Times New Roman" panose="02020603050405020304" pitchFamily="18" charset="0"/>
              </a:rPr>
              <a:t> is a pictorial and diagrammatic representation of the software life cycle. </a:t>
            </a:r>
          </a:p>
          <a:p>
            <a:pPr marL="342900" indent="-342900">
              <a:lnSpc>
                <a:spcPct val="150000"/>
              </a:lnSpc>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A life cycle model represents all the methods required to make a software product through its life cycle stages. </a:t>
            </a:r>
          </a:p>
          <a:p>
            <a:pPr marL="342900" indent="-342900">
              <a:lnSpc>
                <a:spcPct val="150000"/>
              </a:lnSpc>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It also captures the structure in which these methods are to be undertaken.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2833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9</a:t>
            </a:fld>
            <a:endParaRPr lang="en-US" dirty="0"/>
          </a:p>
        </p:txBody>
      </p:sp>
      <p:sp>
        <p:nvSpPr>
          <p:cNvPr id="6" name="TextBox 5">
            <a:extLst>
              <a:ext uri="{FF2B5EF4-FFF2-40B4-BE49-F238E27FC236}">
                <a16:creationId xmlns:a16="http://schemas.microsoft.com/office/drawing/2014/main" id="{B954618D-6D66-620B-A90C-401A1511545C}"/>
              </a:ext>
            </a:extLst>
          </p:cNvPr>
          <p:cNvSpPr txBox="1"/>
          <p:nvPr/>
        </p:nvSpPr>
        <p:spPr>
          <a:xfrm>
            <a:off x="304800" y="1066800"/>
            <a:ext cx="8229600" cy="4457952"/>
          </a:xfrm>
          <a:prstGeom prst="rect">
            <a:avLst/>
          </a:prstGeom>
          <a:noFill/>
        </p:spPr>
        <p:txBody>
          <a:bodyPr wrap="square">
            <a:spAutoFit/>
          </a:bodyPr>
          <a:lstStyle/>
          <a:p>
            <a:pPr algn="just">
              <a:lnSpc>
                <a:spcPct val="150000"/>
              </a:lnSpc>
            </a:pPr>
            <a:r>
              <a:rPr lang="en-US" sz="2400" b="0" i="0" dirty="0">
                <a:solidFill>
                  <a:srgbClr val="FF0000"/>
                </a:solidFill>
                <a:effectLst/>
                <a:latin typeface="Times New Roman" panose="02020603050405020304" pitchFamily="18" charset="0"/>
                <a:cs typeface="Times New Roman" panose="02020603050405020304" pitchFamily="18" charset="0"/>
              </a:rPr>
              <a:t>Need of SDLC</a:t>
            </a:r>
          </a:p>
          <a:p>
            <a:pPr marL="342900" indent="-342900" algn="just">
              <a:lnSpc>
                <a:spcPct val="150000"/>
              </a:lnSpc>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Without using an exact life cycle model, the development of a software product would not be in a systematic and disciplined manner. </a:t>
            </a:r>
            <a:endParaRPr lang="en-US" sz="2400" dirty="0">
              <a:solidFill>
                <a:srgbClr val="333333"/>
              </a:solidFill>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When a team is developing a software product, there must be a clear understanding among team representative about when and what to do. Otherwise, it would point to chaos and project failure.</a:t>
            </a:r>
          </a:p>
        </p:txBody>
      </p:sp>
    </p:spTree>
    <p:extLst>
      <p:ext uri="{BB962C8B-B14F-4D97-AF65-F5344CB8AC3E}">
        <p14:creationId xmlns:p14="http://schemas.microsoft.com/office/powerpoint/2010/main" val="112361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10</a:t>
            </a:fld>
            <a:endParaRPr lang="en-US" dirty="0"/>
          </a:p>
        </p:txBody>
      </p:sp>
      <p:sp>
        <p:nvSpPr>
          <p:cNvPr id="6" name="TextBox 5">
            <a:extLst>
              <a:ext uri="{FF2B5EF4-FFF2-40B4-BE49-F238E27FC236}">
                <a16:creationId xmlns:a16="http://schemas.microsoft.com/office/drawing/2014/main" id="{B954618D-6D66-620B-A90C-401A1511545C}"/>
              </a:ext>
            </a:extLst>
          </p:cNvPr>
          <p:cNvSpPr txBox="1"/>
          <p:nvPr/>
        </p:nvSpPr>
        <p:spPr>
          <a:xfrm>
            <a:off x="304800" y="829928"/>
            <a:ext cx="8229600" cy="5011949"/>
          </a:xfrm>
          <a:prstGeom prst="rect">
            <a:avLst/>
          </a:prstGeom>
          <a:noFill/>
        </p:spPr>
        <p:txBody>
          <a:bodyPr wrap="square">
            <a:spAutoFit/>
          </a:bodyPr>
          <a:lstStyle/>
          <a:p>
            <a:pPr algn="just">
              <a:lnSpc>
                <a:spcPct val="150000"/>
              </a:lnSpc>
            </a:pPr>
            <a:r>
              <a:rPr lang="en-US" sz="2400" dirty="0">
                <a:solidFill>
                  <a:srgbClr val="333333"/>
                </a:solidFill>
                <a:latin typeface="Times New Roman" panose="02020603050405020304" pitchFamily="18" charset="0"/>
                <a:cs typeface="Times New Roman" panose="02020603050405020304" pitchFamily="18" charset="0"/>
              </a:rPr>
              <a:t>E</a:t>
            </a:r>
            <a:r>
              <a:rPr lang="en-US" sz="2400" b="0" i="0" dirty="0">
                <a:solidFill>
                  <a:srgbClr val="333333"/>
                </a:solidFill>
                <a:effectLst/>
                <a:latin typeface="Times New Roman" panose="02020603050405020304" pitchFamily="18" charset="0"/>
                <a:cs typeface="Times New Roman" panose="02020603050405020304" pitchFamily="18" charset="0"/>
              </a:rPr>
              <a:t>xample- Suppose a software development issue is divided into various parts and the parts are assigned to the team members. From then on, suppose the team representative is allowed the freedom to develop the roles assigned to them in whatever way they like. It is possible that one representative might start writing the code for his part, another might choose to prepare the test documents first, and some other engineer might begin with the design phase of the roles assigned to him. This would be one of the perfect methods for project failure.</a:t>
            </a:r>
          </a:p>
        </p:txBody>
      </p:sp>
    </p:spTree>
    <p:extLst>
      <p:ext uri="{BB962C8B-B14F-4D97-AF65-F5344CB8AC3E}">
        <p14:creationId xmlns:p14="http://schemas.microsoft.com/office/powerpoint/2010/main" val="2438804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11</a:t>
            </a:fld>
            <a:endParaRPr lang="en-US" dirty="0"/>
          </a:p>
        </p:txBody>
      </p:sp>
      <p:sp>
        <p:nvSpPr>
          <p:cNvPr id="6" name="TextBox 5">
            <a:extLst>
              <a:ext uri="{FF2B5EF4-FFF2-40B4-BE49-F238E27FC236}">
                <a16:creationId xmlns:a16="http://schemas.microsoft.com/office/drawing/2014/main" id="{B7AD946E-3CF7-7C4A-2A25-7274A89B7C7D}"/>
              </a:ext>
            </a:extLst>
          </p:cNvPr>
          <p:cNvSpPr txBox="1"/>
          <p:nvPr/>
        </p:nvSpPr>
        <p:spPr>
          <a:xfrm>
            <a:off x="304800" y="304800"/>
            <a:ext cx="6553200" cy="1569660"/>
          </a:xfrm>
          <a:prstGeom prst="rect">
            <a:avLst/>
          </a:prstGeom>
          <a:noFill/>
        </p:spPr>
        <p:txBody>
          <a:bodyPr wrap="square">
            <a:spAutoFit/>
          </a:bodyPr>
          <a:lstStyle/>
          <a:p>
            <a:pPr algn="just"/>
            <a:r>
              <a:rPr lang="en-US" sz="2400" b="0" i="0" dirty="0">
                <a:solidFill>
                  <a:srgbClr val="FF0000"/>
                </a:solidFill>
                <a:effectLst/>
                <a:latin typeface="Times New Roman" panose="02020603050405020304" pitchFamily="18" charset="0"/>
                <a:cs typeface="Times New Roman" panose="02020603050405020304" pitchFamily="18" charset="0"/>
              </a:rPr>
              <a:t>SDLC Cycle</a:t>
            </a:r>
          </a:p>
          <a:p>
            <a:pPr algn="just"/>
            <a:r>
              <a:rPr lang="en-US" sz="2400" b="0" i="0" dirty="0">
                <a:solidFill>
                  <a:srgbClr val="333333"/>
                </a:solidFill>
                <a:effectLst/>
                <a:latin typeface="Times New Roman" panose="02020603050405020304" pitchFamily="18" charset="0"/>
                <a:cs typeface="Times New Roman" panose="02020603050405020304" pitchFamily="18" charset="0"/>
              </a:rPr>
              <a:t>SDLC Cycle represents the process of developing software. SDLC framework includes the following steps:</a:t>
            </a:r>
          </a:p>
        </p:txBody>
      </p:sp>
      <p:pic>
        <p:nvPicPr>
          <p:cNvPr id="10" name="Picture 9">
            <a:extLst>
              <a:ext uri="{FF2B5EF4-FFF2-40B4-BE49-F238E27FC236}">
                <a16:creationId xmlns:a16="http://schemas.microsoft.com/office/drawing/2014/main" id="{7FD5F6D4-5C01-6C54-3122-4C53AB5609FE}"/>
              </a:ext>
            </a:extLst>
          </p:cNvPr>
          <p:cNvPicPr>
            <a:picLocks noChangeAspect="1"/>
          </p:cNvPicPr>
          <p:nvPr/>
        </p:nvPicPr>
        <p:blipFill>
          <a:blip r:embed="rId2"/>
          <a:stretch>
            <a:fillRect/>
          </a:stretch>
        </p:blipFill>
        <p:spPr>
          <a:xfrm>
            <a:off x="1828800" y="2135787"/>
            <a:ext cx="5105400" cy="4267419"/>
          </a:xfrm>
          <a:prstGeom prst="rect">
            <a:avLst/>
          </a:prstGeom>
        </p:spPr>
      </p:pic>
    </p:spTree>
    <p:extLst>
      <p:ext uri="{BB962C8B-B14F-4D97-AF65-F5344CB8AC3E}">
        <p14:creationId xmlns:p14="http://schemas.microsoft.com/office/powerpoint/2010/main" val="1326790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12</a:t>
            </a:fld>
            <a:endParaRPr lang="en-US" dirty="0"/>
          </a:p>
        </p:txBody>
      </p:sp>
      <p:sp>
        <p:nvSpPr>
          <p:cNvPr id="6" name="TextBox 5">
            <a:extLst>
              <a:ext uri="{FF2B5EF4-FFF2-40B4-BE49-F238E27FC236}">
                <a16:creationId xmlns:a16="http://schemas.microsoft.com/office/drawing/2014/main" id="{5B024C8E-41FC-7C52-59C4-2D88D263ECFC}"/>
              </a:ext>
            </a:extLst>
          </p:cNvPr>
          <p:cNvSpPr txBox="1"/>
          <p:nvPr/>
        </p:nvSpPr>
        <p:spPr>
          <a:xfrm>
            <a:off x="228600" y="381000"/>
            <a:ext cx="8229600" cy="6878806"/>
          </a:xfrm>
          <a:prstGeom prst="rect">
            <a:avLst/>
          </a:prstGeom>
          <a:noFill/>
        </p:spPr>
        <p:txBody>
          <a:bodyPr wrap="square">
            <a:spAutoFit/>
          </a:bodyPr>
          <a:lstStyle/>
          <a:p>
            <a:pPr algn="l">
              <a:lnSpc>
                <a:spcPct val="150000"/>
              </a:lnSpc>
            </a:pPr>
            <a:r>
              <a:rPr lang="en-US" b="0" i="0" dirty="0">
                <a:solidFill>
                  <a:srgbClr val="FF0000"/>
                </a:solidFill>
                <a:effectLst/>
                <a:latin typeface="Heebo" pitchFamily="2" charset="-79"/>
                <a:cs typeface="Heebo" pitchFamily="2" charset="-79"/>
              </a:rPr>
              <a:t>Communication</a:t>
            </a:r>
          </a:p>
          <a:p>
            <a:pPr algn="just">
              <a:lnSpc>
                <a:spcPct val="150000"/>
              </a:lnSpc>
            </a:pPr>
            <a:r>
              <a:rPr lang="en-US" b="0" i="0" dirty="0">
                <a:solidFill>
                  <a:srgbClr val="000000"/>
                </a:solidFill>
                <a:effectLst/>
                <a:latin typeface="Nunito" pitchFamily="2" charset="0"/>
              </a:rPr>
              <a:t>This is the first step where the user initiates the request for a desired software product. He contacts the service provider and tries to negotiate the terms. He submits his request to the service providing organization in writing.</a:t>
            </a:r>
          </a:p>
          <a:p>
            <a:pPr algn="l">
              <a:lnSpc>
                <a:spcPct val="150000"/>
              </a:lnSpc>
            </a:pPr>
            <a:r>
              <a:rPr lang="en-US" dirty="0">
                <a:solidFill>
                  <a:srgbClr val="FF0000"/>
                </a:solidFill>
                <a:latin typeface="Heebo" pitchFamily="2" charset="-79"/>
                <a:cs typeface="Heebo" pitchFamily="2" charset="-79"/>
              </a:rPr>
              <a:t>Requirement Gathering</a:t>
            </a:r>
          </a:p>
          <a:p>
            <a:pPr algn="just">
              <a:lnSpc>
                <a:spcPct val="150000"/>
              </a:lnSpc>
            </a:pPr>
            <a:r>
              <a:rPr lang="en-US" b="0" i="0" dirty="0">
                <a:solidFill>
                  <a:srgbClr val="000000"/>
                </a:solidFill>
                <a:effectLst/>
                <a:latin typeface="Nunito" pitchFamily="2" charset="0"/>
              </a:rPr>
              <a:t>This step onwards the software development team works to carry on the project. The team holds discussions with various stakeholders from problem domain and tries to bring out as much information as possible on their requirements.</a:t>
            </a:r>
          </a:p>
          <a:p>
            <a:pPr>
              <a:lnSpc>
                <a:spcPct val="150000"/>
              </a:lnSpc>
            </a:pPr>
            <a:r>
              <a:rPr lang="en-US" dirty="0">
                <a:solidFill>
                  <a:srgbClr val="FF0000"/>
                </a:solidFill>
                <a:latin typeface="Heebo" pitchFamily="2" charset="-79"/>
                <a:cs typeface="Heebo" pitchFamily="2" charset="-79"/>
              </a:rPr>
              <a:t>Feasibility Study</a:t>
            </a:r>
          </a:p>
          <a:p>
            <a:pPr algn="just">
              <a:lnSpc>
                <a:spcPct val="150000"/>
              </a:lnSpc>
            </a:pPr>
            <a:r>
              <a:rPr lang="en-US" b="0" i="0" dirty="0">
                <a:solidFill>
                  <a:srgbClr val="000000"/>
                </a:solidFill>
                <a:effectLst/>
                <a:latin typeface="Nunito" pitchFamily="2" charset="0"/>
              </a:rPr>
              <a:t>After requirement gathering, the team comes up with a rough plan of software process. At this step the team analyzes if a software can be made to fulfill all requirements of the user and if there is any possibility of software being no more useful. It is found out, if the project is financially, practically and technologically feasible for the organization to take up.</a:t>
            </a:r>
          </a:p>
          <a:p>
            <a:pPr algn="just"/>
            <a:endParaRPr lang="en-US" b="0" i="0" dirty="0">
              <a:solidFill>
                <a:srgbClr val="000000"/>
              </a:solidFill>
              <a:effectLst/>
              <a:latin typeface="Nunito" pitchFamily="2" charset="0"/>
            </a:endParaRPr>
          </a:p>
          <a:p>
            <a:pPr algn="just"/>
            <a:endParaRPr lang="en-US" b="0" i="0" dirty="0">
              <a:solidFill>
                <a:srgbClr val="000000"/>
              </a:solidFill>
              <a:effectLst/>
              <a:latin typeface="Nunito" pitchFamily="2" charset="0"/>
            </a:endParaRPr>
          </a:p>
        </p:txBody>
      </p:sp>
    </p:spTree>
    <p:extLst>
      <p:ext uri="{BB962C8B-B14F-4D97-AF65-F5344CB8AC3E}">
        <p14:creationId xmlns:p14="http://schemas.microsoft.com/office/powerpoint/2010/main" val="1045881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13</a:t>
            </a:fld>
            <a:endParaRPr lang="en-US" dirty="0"/>
          </a:p>
        </p:txBody>
      </p:sp>
      <p:sp>
        <p:nvSpPr>
          <p:cNvPr id="6" name="TextBox 5">
            <a:extLst>
              <a:ext uri="{FF2B5EF4-FFF2-40B4-BE49-F238E27FC236}">
                <a16:creationId xmlns:a16="http://schemas.microsoft.com/office/drawing/2014/main" id="{01729C4E-52F5-5F25-E234-9884D792A771}"/>
              </a:ext>
            </a:extLst>
          </p:cNvPr>
          <p:cNvSpPr txBox="1"/>
          <p:nvPr/>
        </p:nvSpPr>
        <p:spPr>
          <a:xfrm>
            <a:off x="304800" y="457200"/>
            <a:ext cx="8226392" cy="8217634"/>
          </a:xfrm>
          <a:prstGeom prst="rect">
            <a:avLst/>
          </a:prstGeom>
          <a:noFill/>
        </p:spPr>
        <p:txBody>
          <a:bodyPr wrap="square">
            <a:spAutoFit/>
          </a:bodyPr>
          <a:lstStyle/>
          <a:p>
            <a:pPr algn="l">
              <a:lnSpc>
                <a:spcPct val="150000"/>
              </a:lnSpc>
            </a:pPr>
            <a:r>
              <a:rPr lang="en-IN" sz="2000" b="0" i="0" dirty="0">
                <a:solidFill>
                  <a:srgbClr val="FF0000"/>
                </a:solidFill>
                <a:effectLst/>
                <a:latin typeface="Heebo" pitchFamily="2" charset="-79"/>
                <a:cs typeface="Heebo" pitchFamily="2" charset="-79"/>
              </a:rPr>
              <a:t>System Analysis</a:t>
            </a:r>
          </a:p>
          <a:p>
            <a:pPr algn="l">
              <a:lnSpc>
                <a:spcPct val="150000"/>
              </a:lnSpc>
            </a:pPr>
            <a:r>
              <a:rPr lang="en-US" sz="2000" b="0" i="0" dirty="0">
                <a:solidFill>
                  <a:srgbClr val="000000"/>
                </a:solidFill>
                <a:effectLst/>
                <a:latin typeface="Nunito" pitchFamily="2" charset="0"/>
              </a:rPr>
              <a:t>System analysis includes Understanding of software product limitations, learning system related problems or changes to be done in existing systems beforehand, identifying and addressing the impact of project on organization and personnel etc.</a:t>
            </a:r>
          </a:p>
          <a:p>
            <a:pPr algn="l">
              <a:lnSpc>
                <a:spcPct val="150000"/>
              </a:lnSpc>
            </a:pPr>
            <a:r>
              <a:rPr lang="en-US" sz="2000" b="0" i="0" dirty="0">
                <a:solidFill>
                  <a:srgbClr val="FF0000"/>
                </a:solidFill>
                <a:effectLst/>
                <a:latin typeface="Heebo" pitchFamily="2" charset="-79"/>
                <a:cs typeface="Heebo" pitchFamily="2" charset="-79"/>
              </a:rPr>
              <a:t>Software Design</a:t>
            </a:r>
          </a:p>
          <a:p>
            <a:pPr algn="just">
              <a:lnSpc>
                <a:spcPct val="150000"/>
              </a:lnSpc>
            </a:pPr>
            <a:r>
              <a:rPr lang="en-US" sz="2000" b="0" i="0" dirty="0">
                <a:solidFill>
                  <a:srgbClr val="000000"/>
                </a:solidFill>
                <a:effectLst/>
                <a:latin typeface="Nunito" pitchFamily="2" charset="0"/>
              </a:rPr>
              <a:t>The inputs from users and information gathered in requirement gathering phase are the inputs of this step. The output of this step comes in the form of two designs; logical design and physical design. Engineers produce meta-data and data dictionaries, logical diagrams, data-flow diagrams and in some cases pseudo codes.</a:t>
            </a:r>
          </a:p>
          <a:p>
            <a:pPr algn="l">
              <a:lnSpc>
                <a:spcPct val="150000"/>
              </a:lnSpc>
            </a:pPr>
            <a:r>
              <a:rPr lang="en-US" sz="2000" b="0" i="0" dirty="0">
                <a:effectLst/>
                <a:latin typeface="Heebo" pitchFamily="2" charset="-79"/>
                <a:cs typeface="Heebo" pitchFamily="2" charset="-79"/>
              </a:rPr>
              <a:t>Coding</a:t>
            </a:r>
          </a:p>
          <a:p>
            <a:pPr algn="just">
              <a:lnSpc>
                <a:spcPct val="150000"/>
              </a:lnSpc>
            </a:pPr>
            <a:r>
              <a:rPr lang="en-US" sz="2000" b="0" i="0" dirty="0">
                <a:solidFill>
                  <a:srgbClr val="000000"/>
                </a:solidFill>
                <a:effectLst/>
                <a:latin typeface="Nunito" pitchFamily="2" charset="0"/>
              </a:rPr>
              <a:t>This step is also known as programming phase. The implementation of software design starts in terms of writing program code in the suitable programming language and developing error-free executable programs efficiently.</a:t>
            </a:r>
          </a:p>
          <a:p>
            <a:pPr algn="l">
              <a:lnSpc>
                <a:spcPct val="150000"/>
              </a:lnSpc>
            </a:pPr>
            <a:endParaRPr lang="en-US" sz="2000" b="0" i="0" dirty="0">
              <a:solidFill>
                <a:srgbClr val="000000"/>
              </a:solidFill>
              <a:effectLst/>
              <a:latin typeface="Nunito" pitchFamily="2" charset="0"/>
            </a:endParaRPr>
          </a:p>
          <a:p>
            <a:pPr algn="l"/>
            <a:endParaRPr lang="en-IN" b="0" i="0" dirty="0">
              <a:effectLst/>
              <a:latin typeface="Heebo" pitchFamily="2" charset="-79"/>
              <a:cs typeface="Heebo" pitchFamily="2" charset="-79"/>
            </a:endParaRPr>
          </a:p>
        </p:txBody>
      </p:sp>
    </p:spTree>
    <p:extLst>
      <p:ext uri="{BB962C8B-B14F-4D97-AF65-F5344CB8AC3E}">
        <p14:creationId xmlns:p14="http://schemas.microsoft.com/office/powerpoint/2010/main" val="3589617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14</a:t>
            </a:fld>
            <a:endParaRPr lang="en-US" dirty="0"/>
          </a:p>
        </p:txBody>
      </p:sp>
      <p:sp>
        <p:nvSpPr>
          <p:cNvPr id="6" name="TextBox 5">
            <a:extLst>
              <a:ext uri="{FF2B5EF4-FFF2-40B4-BE49-F238E27FC236}">
                <a16:creationId xmlns:a16="http://schemas.microsoft.com/office/drawing/2014/main" id="{C496BBA0-CB3E-F733-67C8-586389D2F180}"/>
              </a:ext>
            </a:extLst>
          </p:cNvPr>
          <p:cNvSpPr txBox="1"/>
          <p:nvPr/>
        </p:nvSpPr>
        <p:spPr>
          <a:xfrm>
            <a:off x="76201" y="0"/>
            <a:ext cx="8991598" cy="6961970"/>
          </a:xfrm>
          <a:prstGeom prst="rect">
            <a:avLst/>
          </a:prstGeom>
          <a:noFill/>
        </p:spPr>
        <p:txBody>
          <a:bodyPr wrap="square">
            <a:spAutoFit/>
          </a:bodyPr>
          <a:lstStyle/>
          <a:p>
            <a:pPr algn="l">
              <a:lnSpc>
                <a:spcPct val="150000"/>
              </a:lnSpc>
            </a:pPr>
            <a:r>
              <a:rPr lang="en-US" sz="2000" b="0" i="0" dirty="0">
                <a:solidFill>
                  <a:srgbClr val="FF0000"/>
                </a:solidFill>
                <a:effectLst/>
                <a:latin typeface="Times New Roman" panose="02020603050405020304" pitchFamily="18" charset="0"/>
                <a:cs typeface="Times New Roman" panose="02020603050405020304" pitchFamily="18" charset="0"/>
              </a:rPr>
              <a:t>Coding</a:t>
            </a:r>
          </a:p>
          <a:p>
            <a:pPr algn="just">
              <a:lnSpc>
                <a:spcPct val="150000"/>
              </a:lnSpc>
            </a:pPr>
            <a:r>
              <a:rPr lang="en-US" sz="2000" b="0" i="0" dirty="0">
                <a:solidFill>
                  <a:srgbClr val="000000"/>
                </a:solidFill>
                <a:effectLst/>
                <a:latin typeface="Times New Roman" panose="02020603050405020304" pitchFamily="18" charset="0"/>
                <a:cs typeface="Times New Roman" panose="02020603050405020304" pitchFamily="18" charset="0"/>
              </a:rPr>
              <a:t>This step is also known as programming phase. The implementation of software design starts in terms of writing program code in the suitable programming language and developing error-free executable programs efficiently.</a:t>
            </a:r>
          </a:p>
          <a:p>
            <a:pPr algn="l">
              <a:lnSpc>
                <a:spcPct val="150000"/>
              </a:lnSpc>
            </a:pPr>
            <a:r>
              <a:rPr lang="en-US" sz="2000" b="0" i="0" dirty="0">
                <a:solidFill>
                  <a:srgbClr val="FF0000"/>
                </a:solidFill>
                <a:effectLst/>
                <a:latin typeface="Times New Roman" panose="02020603050405020304" pitchFamily="18" charset="0"/>
                <a:cs typeface="Times New Roman" panose="02020603050405020304" pitchFamily="18" charset="0"/>
              </a:rPr>
              <a:t>Testing</a:t>
            </a:r>
          </a:p>
          <a:p>
            <a:pPr algn="just">
              <a:lnSpc>
                <a:spcPct val="150000"/>
              </a:lnSpc>
            </a:pPr>
            <a:r>
              <a:rPr lang="en-US" sz="2000" b="0" i="0" dirty="0">
                <a:solidFill>
                  <a:srgbClr val="000000"/>
                </a:solidFill>
                <a:effectLst/>
                <a:latin typeface="Times New Roman" panose="02020603050405020304" pitchFamily="18" charset="0"/>
                <a:cs typeface="Times New Roman" panose="02020603050405020304" pitchFamily="18" charset="0"/>
              </a:rPr>
              <a:t>An estimate says that 50% of whole software development process should be tested. Errors may ruin the software from critical level to its own removal. Software testing is done while coding by the developers and thorough testing is conducted by testing experts at various levels of code such as module testing, program testing, product testing, in-house testing and testing the product at user’s end. Early discovery of errors and their remedy is the key to reliable software.</a:t>
            </a:r>
          </a:p>
          <a:p>
            <a:pPr algn="l">
              <a:lnSpc>
                <a:spcPct val="150000"/>
              </a:lnSpc>
            </a:pPr>
            <a:r>
              <a:rPr lang="en-US" sz="2000" b="0" i="0" dirty="0">
                <a:solidFill>
                  <a:srgbClr val="FF0000"/>
                </a:solidFill>
                <a:effectLst/>
                <a:latin typeface="Times New Roman" panose="02020603050405020304" pitchFamily="18" charset="0"/>
                <a:cs typeface="Times New Roman" panose="02020603050405020304" pitchFamily="18" charset="0"/>
              </a:rPr>
              <a:t>Integration</a:t>
            </a:r>
          </a:p>
          <a:p>
            <a:pPr algn="just">
              <a:lnSpc>
                <a:spcPct val="150000"/>
              </a:lnSpc>
            </a:pPr>
            <a:r>
              <a:rPr lang="en-US" sz="2000" b="0" i="0" dirty="0">
                <a:solidFill>
                  <a:srgbClr val="000000"/>
                </a:solidFill>
                <a:effectLst/>
                <a:latin typeface="Times New Roman" panose="02020603050405020304" pitchFamily="18" charset="0"/>
                <a:cs typeface="Times New Roman" panose="02020603050405020304" pitchFamily="18" charset="0"/>
              </a:rPr>
              <a:t>Software may need to be integrated with the libraries, databases and other program(s). This stage of SDLC is involved in the integration of software with outer world entities.</a:t>
            </a:r>
          </a:p>
        </p:txBody>
      </p:sp>
    </p:spTree>
    <p:extLst>
      <p:ext uri="{BB962C8B-B14F-4D97-AF65-F5344CB8AC3E}">
        <p14:creationId xmlns:p14="http://schemas.microsoft.com/office/powerpoint/2010/main" val="405530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15</a:t>
            </a:fld>
            <a:endParaRPr lang="en-US" dirty="0"/>
          </a:p>
        </p:txBody>
      </p:sp>
      <p:sp>
        <p:nvSpPr>
          <p:cNvPr id="6" name="TextBox 5">
            <a:extLst>
              <a:ext uri="{FF2B5EF4-FFF2-40B4-BE49-F238E27FC236}">
                <a16:creationId xmlns:a16="http://schemas.microsoft.com/office/drawing/2014/main" id="{FC13E17C-6324-757B-0E06-D70359D53189}"/>
              </a:ext>
            </a:extLst>
          </p:cNvPr>
          <p:cNvSpPr txBox="1"/>
          <p:nvPr/>
        </p:nvSpPr>
        <p:spPr>
          <a:xfrm>
            <a:off x="304799" y="615251"/>
            <a:ext cx="8381999" cy="5043688"/>
          </a:xfrm>
          <a:prstGeom prst="rect">
            <a:avLst/>
          </a:prstGeom>
          <a:noFill/>
        </p:spPr>
        <p:txBody>
          <a:bodyPr wrap="square">
            <a:spAutoFit/>
          </a:bodyPr>
          <a:lstStyle/>
          <a:p>
            <a:pPr algn="l">
              <a:lnSpc>
                <a:spcPct val="150000"/>
              </a:lnSpc>
            </a:pPr>
            <a:r>
              <a:rPr lang="en-US" b="0" i="0" dirty="0">
                <a:solidFill>
                  <a:srgbClr val="FF0000"/>
                </a:solidFill>
                <a:effectLst/>
                <a:latin typeface="Heebo" pitchFamily="2" charset="-79"/>
                <a:cs typeface="Heebo" pitchFamily="2" charset="-79"/>
              </a:rPr>
              <a:t>Implementation</a:t>
            </a:r>
          </a:p>
          <a:p>
            <a:pPr algn="just">
              <a:lnSpc>
                <a:spcPct val="150000"/>
              </a:lnSpc>
            </a:pPr>
            <a:r>
              <a:rPr lang="en-US" b="0" i="0" dirty="0">
                <a:solidFill>
                  <a:srgbClr val="000000"/>
                </a:solidFill>
                <a:effectLst/>
                <a:latin typeface="Nunito" pitchFamily="2" charset="0"/>
              </a:rPr>
              <a:t>This means installing the software on user machines. At times, software needs post-installation configurations at user end. Software is tested for portability and adaptability and integration related issues are solved during implementation.</a:t>
            </a:r>
          </a:p>
          <a:p>
            <a:pPr algn="l">
              <a:lnSpc>
                <a:spcPct val="150000"/>
              </a:lnSpc>
            </a:pPr>
            <a:r>
              <a:rPr lang="en-US" b="0" i="0" dirty="0">
                <a:solidFill>
                  <a:srgbClr val="FF0000"/>
                </a:solidFill>
                <a:effectLst/>
                <a:latin typeface="Heebo" pitchFamily="2" charset="-79"/>
                <a:cs typeface="Heebo" pitchFamily="2" charset="-79"/>
              </a:rPr>
              <a:t>Operation and Maintenance</a:t>
            </a:r>
          </a:p>
          <a:p>
            <a:pPr algn="just">
              <a:lnSpc>
                <a:spcPct val="150000"/>
              </a:lnSpc>
            </a:pPr>
            <a:r>
              <a:rPr lang="en-US" b="0" i="0" dirty="0">
                <a:solidFill>
                  <a:srgbClr val="000000"/>
                </a:solidFill>
                <a:effectLst/>
                <a:latin typeface="Nunito" pitchFamily="2" charset="0"/>
              </a:rPr>
              <a:t>This phase confirms the software operation in terms of more efficiency and less errors. If required, the users are trained on, or aided with the documentation on how to operate the software and how to keep the software operational. The software is maintained timely by updating the code according to the changes taking place in user end environment or technology. This phase may face challenges from hidden bugs and real-world unidentified problems</a:t>
            </a:r>
          </a:p>
        </p:txBody>
      </p:sp>
    </p:spTree>
    <p:extLst>
      <p:ext uri="{BB962C8B-B14F-4D97-AF65-F5344CB8AC3E}">
        <p14:creationId xmlns:p14="http://schemas.microsoft.com/office/powerpoint/2010/main" val="3150348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16</a:t>
            </a:fld>
            <a:endParaRPr lang="en-US" dirty="0"/>
          </a:p>
        </p:txBody>
      </p:sp>
      <p:sp>
        <p:nvSpPr>
          <p:cNvPr id="7" name="TextBox 6">
            <a:extLst>
              <a:ext uri="{FF2B5EF4-FFF2-40B4-BE49-F238E27FC236}">
                <a16:creationId xmlns:a16="http://schemas.microsoft.com/office/drawing/2014/main" id="{3A98D67E-5ABA-9973-E521-53B680E51AC5}"/>
              </a:ext>
            </a:extLst>
          </p:cNvPr>
          <p:cNvSpPr txBox="1"/>
          <p:nvPr/>
        </p:nvSpPr>
        <p:spPr>
          <a:xfrm>
            <a:off x="1143000" y="475979"/>
            <a:ext cx="6934200" cy="461665"/>
          </a:xfrm>
          <a:prstGeom prst="rect">
            <a:avLst/>
          </a:prstGeom>
          <a:noFill/>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Difference between Process and product?</a:t>
            </a:r>
            <a:endParaRPr lang="en-IN" sz="2400" dirty="0">
              <a:solidFill>
                <a:srgbClr val="FF0000"/>
              </a:solidFill>
            </a:endParaRPr>
          </a:p>
        </p:txBody>
      </p:sp>
      <p:pic>
        <p:nvPicPr>
          <p:cNvPr id="9" name="Picture 8">
            <a:extLst>
              <a:ext uri="{FF2B5EF4-FFF2-40B4-BE49-F238E27FC236}">
                <a16:creationId xmlns:a16="http://schemas.microsoft.com/office/drawing/2014/main" id="{CD3A6A88-B34D-40C5-2C69-D4686FBB150B}"/>
              </a:ext>
            </a:extLst>
          </p:cNvPr>
          <p:cNvPicPr>
            <a:picLocks noChangeAspect="1"/>
          </p:cNvPicPr>
          <p:nvPr/>
        </p:nvPicPr>
        <p:blipFill>
          <a:blip r:embed="rId2"/>
          <a:stretch>
            <a:fillRect/>
          </a:stretch>
        </p:blipFill>
        <p:spPr>
          <a:xfrm>
            <a:off x="685801" y="1524000"/>
            <a:ext cx="6099288" cy="4114799"/>
          </a:xfrm>
          <a:prstGeom prst="rect">
            <a:avLst/>
          </a:prstGeom>
        </p:spPr>
      </p:pic>
    </p:spTree>
    <p:extLst>
      <p:ext uri="{BB962C8B-B14F-4D97-AF65-F5344CB8AC3E}">
        <p14:creationId xmlns:p14="http://schemas.microsoft.com/office/powerpoint/2010/main" val="1028018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17</a:t>
            </a:fld>
            <a:endParaRPr lang="en-US" dirty="0"/>
          </a:p>
        </p:txBody>
      </p:sp>
      <p:sp>
        <p:nvSpPr>
          <p:cNvPr id="7" name="TextBox 6">
            <a:extLst>
              <a:ext uri="{FF2B5EF4-FFF2-40B4-BE49-F238E27FC236}">
                <a16:creationId xmlns:a16="http://schemas.microsoft.com/office/drawing/2014/main" id="{3A98D67E-5ABA-9973-E521-53B680E51AC5}"/>
              </a:ext>
            </a:extLst>
          </p:cNvPr>
          <p:cNvSpPr txBox="1"/>
          <p:nvPr/>
        </p:nvSpPr>
        <p:spPr>
          <a:xfrm>
            <a:off x="139137" y="196853"/>
            <a:ext cx="8895404" cy="2000548"/>
          </a:xfrm>
          <a:prstGeom prst="rect">
            <a:avLst/>
          </a:prstGeom>
          <a:noFill/>
        </p:spPr>
        <p:txBody>
          <a:bodyPr wrap="square">
            <a:spAutoFit/>
          </a:bodyPr>
          <a:lstStyle/>
          <a:p>
            <a:r>
              <a:rPr lang="en-US" sz="2400" b="0" i="0" dirty="0">
                <a:solidFill>
                  <a:srgbClr val="FF0000"/>
                </a:solidFill>
                <a:effectLst/>
                <a:latin typeface="Times New Roman" panose="02020603050405020304" pitchFamily="18" charset="0"/>
                <a:cs typeface="Times New Roman" panose="02020603050405020304" pitchFamily="18" charset="0"/>
              </a:rPr>
              <a:t>SOFTWARE DEVELOPMENT LIFE CYCLE</a:t>
            </a:r>
          </a:p>
          <a:p>
            <a:r>
              <a:rPr lang="en-US" sz="2000" b="0" i="0" dirty="0">
                <a:solidFill>
                  <a:srgbClr val="000000"/>
                </a:solidFill>
                <a:effectLst/>
                <a:latin typeface="Times New Roman" panose="02020603050405020304" pitchFamily="18" charset="0"/>
                <a:cs typeface="Times New Roman" panose="02020603050405020304" pitchFamily="18" charset="0"/>
              </a:rPr>
              <a:t>Software Development Life Cycle (SDLC) is a process used by the software industry to design, develop and test high quality software. The SDLC aims to produce a high-quality software that meets or exceeds customer expectations, reaches completion within times and cost estimates.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Systematic approach --- Customer- service provider)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48B9B9F-377E-B480-8842-2746F66A6EE7}"/>
              </a:ext>
            </a:extLst>
          </p:cNvPr>
          <p:cNvPicPr>
            <a:picLocks noChangeAspect="1"/>
          </p:cNvPicPr>
          <p:nvPr/>
        </p:nvPicPr>
        <p:blipFill>
          <a:blip r:embed="rId2"/>
          <a:stretch>
            <a:fillRect/>
          </a:stretch>
        </p:blipFill>
        <p:spPr>
          <a:xfrm>
            <a:off x="139137" y="2121392"/>
            <a:ext cx="5359675" cy="4730993"/>
          </a:xfrm>
          <a:prstGeom prst="rect">
            <a:avLst/>
          </a:prstGeom>
        </p:spPr>
      </p:pic>
      <p:pic>
        <p:nvPicPr>
          <p:cNvPr id="8" name="Picture 7">
            <a:extLst>
              <a:ext uri="{FF2B5EF4-FFF2-40B4-BE49-F238E27FC236}">
                <a16:creationId xmlns:a16="http://schemas.microsoft.com/office/drawing/2014/main" id="{96867936-9208-CFAD-17F4-E7FE1ADA31BB}"/>
              </a:ext>
            </a:extLst>
          </p:cNvPr>
          <p:cNvPicPr>
            <a:picLocks noChangeAspect="1"/>
          </p:cNvPicPr>
          <p:nvPr/>
        </p:nvPicPr>
        <p:blipFill>
          <a:blip r:embed="rId3"/>
          <a:stretch>
            <a:fillRect/>
          </a:stretch>
        </p:blipFill>
        <p:spPr>
          <a:xfrm>
            <a:off x="6043683" y="4549374"/>
            <a:ext cx="2555447" cy="2136006"/>
          </a:xfrm>
          <a:prstGeom prst="rect">
            <a:avLst/>
          </a:prstGeom>
        </p:spPr>
      </p:pic>
    </p:spTree>
    <p:extLst>
      <p:ext uri="{BB962C8B-B14F-4D97-AF65-F5344CB8AC3E}">
        <p14:creationId xmlns:p14="http://schemas.microsoft.com/office/powerpoint/2010/main" val="138271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18</a:t>
            </a:fld>
            <a:endParaRPr lang="en-US" dirty="0"/>
          </a:p>
        </p:txBody>
      </p:sp>
      <p:sp>
        <p:nvSpPr>
          <p:cNvPr id="6" name="TextBox 5">
            <a:extLst>
              <a:ext uri="{FF2B5EF4-FFF2-40B4-BE49-F238E27FC236}">
                <a16:creationId xmlns:a16="http://schemas.microsoft.com/office/drawing/2014/main" id="{8A7E2CAF-7D81-0BDA-3EAB-E612AF8EE459}"/>
              </a:ext>
            </a:extLst>
          </p:cNvPr>
          <p:cNvSpPr txBox="1"/>
          <p:nvPr/>
        </p:nvSpPr>
        <p:spPr>
          <a:xfrm>
            <a:off x="457199" y="609600"/>
            <a:ext cx="7924800" cy="5109091"/>
          </a:xfrm>
          <a:prstGeom prst="rect">
            <a:avLst/>
          </a:prstGeom>
          <a:noFill/>
        </p:spPr>
        <p:txBody>
          <a:bodyPr wrap="square">
            <a:spAutoFit/>
          </a:bodyPr>
          <a:lstStyle/>
          <a:p>
            <a:r>
              <a:rPr lang="en-US" sz="2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 STAGES OF SDLC</a:t>
            </a:r>
          </a:p>
          <a:p>
            <a:pPr>
              <a:lnSpc>
                <a:spcPct val="150000"/>
              </a:lnSpc>
            </a:pPr>
            <a:r>
              <a:rPr lang="en-US" sz="20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Stage1: Planning and requirement analysis</a:t>
            </a:r>
          </a:p>
          <a:p>
            <a:pPr>
              <a:lnSpc>
                <a:spcPct val="150000"/>
              </a:lnSpc>
            </a:pP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Business analyst and Project organizer set up a meeting with the client to gather all the data like what the customer wants to build, who will be the end user, what is the objective of the product. Before creating a product, a core understanding or knowledge of the product is very necessary.</a:t>
            </a:r>
          </a:p>
          <a:p>
            <a:pPr>
              <a:lnSpc>
                <a:spcPct val="150000"/>
              </a:lnSpc>
            </a:pPr>
            <a:r>
              <a:rPr 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Startup company- in planning phase- what needed- cost-time how much I am having- -requirement-informal communication, formal communication, -all verbal communication done here )</a:t>
            </a:r>
            <a:endPar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8409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19</a:t>
            </a:fld>
            <a:endParaRPr lang="en-US" dirty="0"/>
          </a:p>
        </p:txBody>
      </p:sp>
      <p:sp>
        <p:nvSpPr>
          <p:cNvPr id="6" name="TextBox 5">
            <a:extLst>
              <a:ext uri="{FF2B5EF4-FFF2-40B4-BE49-F238E27FC236}">
                <a16:creationId xmlns:a16="http://schemas.microsoft.com/office/drawing/2014/main" id="{8A7E2CAF-7D81-0BDA-3EAB-E612AF8EE459}"/>
              </a:ext>
            </a:extLst>
          </p:cNvPr>
          <p:cNvSpPr txBox="1"/>
          <p:nvPr/>
        </p:nvSpPr>
        <p:spPr>
          <a:xfrm>
            <a:off x="685800" y="539995"/>
            <a:ext cx="7924800" cy="6786473"/>
          </a:xfrm>
          <a:prstGeom prst="rect">
            <a:avLst/>
          </a:prstGeom>
          <a:noFill/>
        </p:spPr>
        <p:txBody>
          <a:bodyPr wrap="square">
            <a:spAutoFit/>
          </a:bodyPr>
          <a:lstStyle/>
          <a:p>
            <a:r>
              <a:rPr lang="en-US" sz="2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 STAGES OF SDLC</a:t>
            </a:r>
          </a:p>
          <a:p>
            <a:pPr algn="just">
              <a:lnSpc>
                <a:spcPct val="150000"/>
              </a:lnSpc>
              <a:spcAft>
                <a:spcPts val="1000"/>
              </a:spcAft>
            </a:pPr>
            <a:r>
              <a:rPr lang="en-US" sz="20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Stage2: Defining Requirements </a:t>
            </a: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Once the requirement analysis is done, the next stage is to certainly represent and document the software requirements and get them accepted from the customer.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This is accomplished through "SRS"- Software Requirement Specification document which contains all the product requirements to be constructed and developed during the project life cycle.</a:t>
            </a:r>
          </a:p>
          <a:p>
            <a:pPr algn="just">
              <a:lnSpc>
                <a:spcPct val="150000"/>
              </a:lnSpc>
              <a:spcAft>
                <a:spcPts val="1000"/>
              </a:spcAft>
            </a:pPr>
            <a:r>
              <a:rPr lang="en-US" sz="20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solidFill>
                  <a:srgbClr val="000000"/>
                </a:solidFill>
                <a:effectLst/>
                <a:latin typeface="Times New Roman" panose="02020603050405020304" pitchFamily="18" charset="0"/>
                <a:ea typeface="Times New Roman" panose="02020603050405020304" pitchFamily="18" charset="0"/>
              </a:rPr>
              <a:t>Idea of requirement of customer they got from planning phase- requirement of customer, estimations of cost, staff, charges of service provide, charge customer can give then negotiation. Then prepare a SRS (software requirement specification)-proper documentation in written. Customer can change later but 70% around requirement done by customer.</a:t>
            </a: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2914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20</a:t>
            </a:fld>
            <a:endParaRPr lang="en-US" dirty="0"/>
          </a:p>
        </p:txBody>
      </p:sp>
      <p:sp>
        <p:nvSpPr>
          <p:cNvPr id="6" name="TextBox 5">
            <a:extLst>
              <a:ext uri="{FF2B5EF4-FFF2-40B4-BE49-F238E27FC236}">
                <a16:creationId xmlns:a16="http://schemas.microsoft.com/office/drawing/2014/main" id="{2E59C4B8-F9BA-D87C-15BC-8F150C057C64}"/>
              </a:ext>
            </a:extLst>
          </p:cNvPr>
          <p:cNvSpPr txBox="1"/>
          <p:nvPr/>
        </p:nvSpPr>
        <p:spPr>
          <a:xfrm>
            <a:off x="304800" y="304800"/>
            <a:ext cx="8534400" cy="6586418"/>
          </a:xfrm>
          <a:prstGeom prst="rect">
            <a:avLst/>
          </a:prstGeom>
          <a:noFill/>
        </p:spPr>
        <p:txBody>
          <a:bodyPr wrap="square">
            <a:spAutoFit/>
          </a:bodyPr>
          <a:lstStyle/>
          <a:p>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Stage3: Designing the Software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2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The Design phase models the way a software application will work. Some aspects of the design include:</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2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Architecture –</a:t>
            </a:r>
            <a:r>
              <a:rPr lang="en-US" sz="2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Specifies programming language, industry practices, overall design, and use of any templates or boilerplate</a:t>
            </a:r>
            <a:br>
              <a:rPr lang="en-US" sz="2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2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User Interface –</a:t>
            </a:r>
            <a:r>
              <a:rPr lang="en-US" sz="2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Defines the ways customers interact with the software, and how the software responds to input</a:t>
            </a:r>
            <a:br>
              <a:rPr lang="en-US" sz="2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2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Platforms –</a:t>
            </a:r>
            <a:r>
              <a:rPr lang="en-US" sz="2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Defines the platforms on which the software will run, such as Apple, Android, Windows version, Linux, or even gaming consoles</a:t>
            </a:r>
            <a:br>
              <a:rPr lang="en-US" sz="2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2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Programming –</a:t>
            </a:r>
            <a:r>
              <a:rPr lang="en-US" sz="2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Not just the programming language, but including methods of solving problems and performing tasks in the application</a:t>
            </a:r>
          </a:p>
          <a:p>
            <a:r>
              <a:rPr lang="en-US" sz="2200" dirty="0">
                <a:solidFill>
                  <a:srgbClr val="404040"/>
                </a:solidFill>
                <a:effectLst/>
                <a:latin typeface="Times New Roman" panose="02020603050405020304" pitchFamily="18" charset="0"/>
                <a:ea typeface="Calibri" panose="020F0502020204030204" pitchFamily="34" charset="0"/>
                <a:cs typeface="Times New Roman" panose="02020603050405020304" pitchFamily="18" charset="0"/>
              </a:rPr>
              <a:t>Prototyping can be a part of the Design phase. A prototype is like one of the early versions of software in the Iterative software development model. It demonstrates a basic idea of how the application looks and works.</a:t>
            </a:r>
            <a:endParaRPr lang="en-IN" sz="2200" dirty="0">
              <a:latin typeface="Times New Roman" panose="02020603050405020304" pitchFamily="18" charset="0"/>
              <a:cs typeface="Times New Roman" panose="02020603050405020304" pitchFamily="18" charset="0"/>
            </a:endParaRPr>
          </a:p>
          <a:p>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 major role of customer-DFD-Front end back end-It helps in coding- layout of -House architecture -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ERmodel</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in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dbms</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-Technology-language)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b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5302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21</a:t>
            </a:fld>
            <a:endParaRPr lang="en-US" dirty="0"/>
          </a:p>
        </p:txBody>
      </p:sp>
      <p:sp>
        <p:nvSpPr>
          <p:cNvPr id="6" name="TextBox 5">
            <a:extLst>
              <a:ext uri="{FF2B5EF4-FFF2-40B4-BE49-F238E27FC236}">
                <a16:creationId xmlns:a16="http://schemas.microsoft.com/office/drawing/2014/main" id="{BB3A8F07-17CB-07A7-EBB0-4B3D60B8CBDA}"/>
              </a:ext>
            </a:extLst>
          </p:cNvPr>
          <p:cNvSpPr txBox="1"/>
          <p:nvPr/>
        </p:nvSpPr>
        <p:spPr>
          <a:xfrm>
            <a:off x="952500" y="762000"/>
            <a:ext cx="7239000" cy="5601277"/>
          </a:xfrm>
          <a:prstGeom prst="rect">
            <a:avLst/>
          </a:prstGeom>
          <a:noFill/>
        </p:spPr>
        <p:txBody>
          <a:bodyPr wrap="square">
            <a:spAutoFit/>
          </a:bodyPr>
          <a:lstStyle/>
          <a:p>
            <a:pPr algn="just">
              <a:lnSpc>
                <a:spcPct val="115000"/>
              </a:lnSpc>
              <a:spcAft>
                <a:spcPts val="1000"/>
              </a:spcAft>
            </a:pPr>
            <a:r>
              <a:rPr lang="en-US" sz="20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Stage4: Developing the project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In this phase of SDLC, the actual development begins, and the programming is built. The implementation of design begins concerning writing code. Developers have to follow the coding guidelines described by their management and programming tools like compilers, interpreters, debuggers, etc. are used to develop and implement the code.</a:t>
            </a:r>
          </a:p>
          <a:p>
            <a:pPr algn="just">
              <a:lnSpc>
                <a:spcPct val="115000"/>
              </a:lnSpc>
              <a:spcAft>
                <a:spcPts val="1000"/>
              </a:spcAft>
            </a:pPr>
            <a:r>
              <a:rPr lang="en-US" sz="20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Stage5: Testing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After the code is generated, it is tested against the requirements to make sure that the products are solving the needs addressed and gathered during the requirements stage.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During this stage, unit testing, integration testing, system testing, acceptance testing are done.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46456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22</a:t>
            </a:fld>
            <a:endParaRPr lang="en-US" dirty="0"/>
          </a:p>
        </p:txBody>
      </p:sp>
      <p:sp>
        <p:nvSpPr>
          <p:cNvPr id="6" name="TextBox 5">
            <a:extLst>
              <a:ext uri="{FF2B5EF4-FFF2-40B4-BE49-F238E27FC236}">
                <a16:creationId xmlns:a16="http://schemas.microsoft.com/office/drawing/2014/main" id="{A8244BA4-0F2A-33E2-EF36-A45971A15F48}"/>
              </a:ext>
            </a:extLst>
          </p:cNvPr>
          <p:cNvSpPr txBox="1"/>
          <p:nvPr/>
        </p:nvSpPr>
        <p:spPr>
          <a:xfrm>
            <a:off x="838200" y="456545"/>
            <a:ext cx="7620000" cy="3262496"/>
          </a:xfrm>
          <a:prstGeom prst="rect">
            <a:avLst/>
          </a:prstGeom>
          <a:noFill/>
        </p:spPr>
        <p:txBody>
          <a:bodyPr wrap="square">
            <a:spAutoFit/>
          </a:bodyPr>
          <a:lstStyle/>
          <a:p>
            <a:pPr algn="just">
              <a:lnSpc>
                <a:spcPct val="115000"/>
              </a:lnSpc>
              <a:spcAft>
                <a:spcPts val="1000"/>
              </a:spcAft>
            </a:pPr>
            <a:r>
              <a:rPr lang="en-US" sz="1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Stage6: Deployment</a:t>
            </a:r>
          </a:p>
          <a:p>
            <a:pPr algn="just">
              <a:lnSpc>
                <a:spcPct val="115000"/>
              </a:lnSpc>
              <a:spcAft>
                <a:spcPts val="1000"/>
              </a:spcAft>
            </a:pPr>
            <a:r>
              <a:rPr lang="en-US" sz="1800" dirty="0">
                <a:solidFill>
                  <a:srgbClr val="404040"/>
                </a:solidFill>
                <a:effectLst/>
                <a:latin typeface="Roboto" panose="02000000000000000000" pitchFamily="2" charset="0"/>
                <a:ea typeface="Calibri" panose="020F0502020204030204" pitchFamily="34" charset="0"/>
                <a:cs typeface="Times New Roman" panose="02020603050405020304" pitchFamily="18" charset="0"/>
              </a:rPr>
              <a:t>In the deployment phase, the application is made available to users.</a:t>
            </a:r>
          </a:p>
          <a:p>
            <a:pPr algn="just">
              <a:lnSpc>
                <a:spcPct val="115000"/>
              </a:lnSpc>
              <a:spcAft>
                <a:spcPts val="1000"/>
              </a:spcAft>
            </a:pPr>
            <a:r>
              <a:rPr lang="en-US" sz="1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Stage7: Maintenance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Once when the client starts using the developed systems, then the real issues come up and requirements to be solved from time to time.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This procedure where the care is taken for the developed product is known as maintenance.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1800" dirty="0">
                <a:solidFill>
                  <a:srgbClr val="404040"/>
                </a:solidFill>
                <a:effectLst/>
                <a:latin typeface="Roboto" panose="02000000000000000000" pitchFamily="2"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34263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sz="2000" b="0" i="0" dirty="0">
                <a:solidFill>
                  <a:srgbClr val="333333"/>
                </a:solidFill>
                <a:effectLst/>
                <a:latin typeface="inter-regular"/>
              </a:rPr>
              <a:t>Winston Royce introduced the Waterfall Model in 1970.This model has five phases: Requirements analysis and specification, design, implementation, and </a:t>
            </a:r>
            <a:r>
              <a:rPr lang="en-US" sz="2000" dirty="0">
                <a:solidFill>
                  <a:srgbClr val="333333"/>
                </a:solidFill>
                <a:latin typeface="inter-regular"/>
              </a:rPr>
              <a:t>all kind of testing like </a:t>
            </a:r>
            <a:r>
              <a:rPr lang="en-US" sz="2000" b="0" i="0" dirty="0">
                <a:solidFill>
                  <a:srgbClr val="333333"/>
                </a:solidFill>
                <a:effectLst/>
                <a:latin typeface="inter-regular"/>
              </a:rPr>
              <a:t>unit testing, integration and system testing, and </a:t>
            </a:r>
            <a:r>
              <a:rPr lang="en-US" sz="2000" dirty="0">
                <a:solidFill>
                  <a:srgbClr val="333333"/>
                </a:solidFill>
                <a:latin typeface="inter-regular"/>
              </a:rPr>
              <a:t>deployment</a:t>
            </a:r>
            <a:r>
              <a:rPr lang="en-US" sz="2000" b="0" i="0" dirty="0">
                <a:solidFill>
                  <a:srgbClr val="333333"/>
                </a:solidFill>
                <a:effectLst/>
                <a:latin typeface="inter-regular"/>
              </a:rPr>
              <a:t> and maintenance.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23</a:t>
            </a:fld>
            <a:endParaRPr lang="en-US" dirty="0"/>
          </a:p>
        </p:txBody>
      </p:sp>
      <p:sp>
        <p:nvSpPr>
          <p:cNvPr id="7" name="TextBox 6">
            <a:extLst>
              <a:ext uri="{FF2B5EF4-FFF2-40B4-BE49-F238E27FC236}">
                <a16:creationId xmlns:a16="http://schemas.microsoft.com/office/drawing/2014/main" id="{3A98D67E-5ABA-9973-E521-53B680E51AC5}"/>
              </a:ext>
            </a:extLst>
          </p:cNvPr>
          <p:cNvSpPr txBox="1"/>
          <p:nvPr/>
        </p:nvSpPr>
        <p:spPr>
          <a:xfrm>
            <a:off x="1143000" y="475979"/>
            <a:ext cx="6934200" cy="461665"/>
          </a:xfrm>
          <a:prstGeom prst="rect">
            <a:avLst/>
          </a:prstGeom>
          <a:noFill/>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               WATERFALL MODEL</a:t>
            </a:r>
            <a:endParaRPr lang="en-IN" sz="2400" dirty="0">
              <a:solidFill>
                <a:srgbClr val="FF0000"/>
              </a:solidFill>
            </a:endParaRPr>
          </a:p>
        </p:txBody>
      </p:sp>
      <p:pic>
        <p:nvPicPr>
          <p:cNvPr id="6" name="Picture 5">
            <a:extLst>
              <a:ext uri="{FF2B5EF4-FFF2-40B4-BE49-F238E27FC236}">
                <a16:creationId xmlns:a16="http://schemas.microsoft.com/office/drawing/2014/main" id="{369331A8-FA93-E30C-DDE8-2A4B5B360D4A}"/>
              </a:ext>
            </a:extLst>
          </p:cNvPr>
          <p:cNvPicPr>
            <a:picLocks noChangeAspect="1"/>
          </p:cNvPicPr>
          <p:nvPr/>
        </p:nvPicPr>
        <p:blipFill>
          <a:blip r:embed="rId2"/>
          <a:stretch>
            <a:fillRect/>
          </a:stretch>
        </p:blipFill>
        <p:spPr>
          <a:xfrm>
            <a:off x="1720701" y="2286000"/>
            <a:ext cx="5778797" cy="3968954"/>
          </a:xfrm>
          <a:prstGeom prst="rect">
            <a:avLst/>
          </a:prstGeom>
        </p:spPr>
      </p:pic>
    </p:spTree>
    <p:extLst>
      <p:ext uri="{BB962C8B-B14F-4D97-AF65-F5344CB8AC3E}">
        <p14:creationId xmlns:p14="http://schemas.microsoft.com/office/powerpoint/2010/main" val="4215792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24</a:t>
            </a:fld>
            <a:endParaRPr lang="en-US" dirty="0"/>
          </a:p>
        </p:txBody>
      </p:sp>
      <p:sp>
        <p:nvSpPr>
          <p:cNvPr id="6" name="TextBox 5">
            <a:extLst>
              <a:ext uri="{FF2B5EF4-FFF2-40B4-BE49-F238E27FC236}">
                <a16:creationId xmlns:a16="http://schemas.microsoft.com/office/drawing/2014/main" id="{2A339909-CB97-6A47-A87B-2F41DFD4D3B7}"/>
              </a:ext>
            </a:extLst>
          </p:cNvPr>
          <p:cNvSpPr txBox="1"/>
          <p:nvPr/>
        </p:nvSpPr>
        <p:spPr>
          <a:xfrm>
            <a:off x="723900" y="533400"/>
            <a:ext cx="7696199" cy="4401205"/>
          </a:xfrm>
          <a:prstGeom prst="rect">
            <a:avLst/>
          </a:prstGeom>
          <a:noFill/>
        </p:spPr>
        <p:txBody>
          <a:bodyPr wrap="square">
            <a:spAutoFit/>
          </a:bodyPr>
          <a:lstStyle/>
          <a:p>
            <a:pPr algn="just"/>
            <a:r>
              <a:rPr lang="en-US" sz="2800" b="0" i="0" dirty="0">
                <a:solidFill>
                  <a:srgbClr val="FF0000"/>
                </a:solidFill>
                <a:effectLst/>
                <a:latin typeface="Times New Roman" panose="02020603050405020304" pitchFamily="18" charset="0"/>
                <a:cs typeface="Times New Roman" panose="02020603050405020304" pitchFamily="18" charset="0"/>
              </a:rPr>
              <a:t>When to use SDLC Waterfall Model?</a:t>
            </a:r>
          </a:p>
          <a:p>
            <a:pPr algn="just"/>
            <a:r>
              <a:rPr lang="en-US" sz="2800" b="0" i="0" dirty="0">
                <a:solidFill>
                  <a:srgbClr val="333333"/>
                </a:solidFill>
                <a:effectLst/>
                <a:latin typeface="Times New Roman" panose="02020603050405020304" pitchFamily="18" charset="0"/>
                <a:cs typeface="Times New Roman" panose="02020603050405020304" pitchFamily="18" charset="0"/>
              </a:rPr>
              <a:t>Some Circumstances where the use of the Waterfall model is most suited are:</a:t>
            </a:r>
          </a:p>
          <a:p>
            <a:pPr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When the requirements are constant and not changed regularly.</a:t>
            </a:r>
          </a:p>
          <a:p>
            <a:pPr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A project is short</a:t>
            </a:r>
          </a:p>
          <a:p>
            <a:pPr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Where the tools and technology used is consistent and is not changing</a:t>
            </a:r>
          </a:p>
          <a:p>
            <a:pPr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When resources are well prepared and are available to use.</a:t>
            </a:r>
          </a:p>
        </p:txBody>
      </p:sp>
    </p:spTree>
    <p:extLst>
      <p:ext uri="{BB962C8B-B14F-4D97-AF65-F5344CB8AC3E}">
        <p14:creationId xmlns:p14="http://schemas.microsoft.com/office/powerpoint/2010/main" val="1357315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25</a:t>
            </a:fld>
            <a:endParaRPr lang="en-US" dirty="0"/>
          </a:p>
        </p:txBody>
      </p:sp>
      <p:sp>
        <p:nvSpPr>
          <p:cNvPr id="6" name="TextBox 5">
            <a:extLst>
              <a:ext uri="{FF2B5EF4-FFF2-40B4-BE49-F238E27FC236}">
                <a16:creationId xmlns:a16="http://schemas.microsoft.com/office/drawing/2014/main" id="{A2138FC6-5B28-BF6B-C683-81FC382033E6}"/>
              </a:ext>
            </a:extLst>
          </p:cNvPr>
          <p:cNvSpPr txBox="1"/>
          <p:nvPr/>
        </p:nvSpPr>
        <p:spPr>
          <a:xfrm>
            <a:off x="152401" y="533400"/>
            <a:ext cx="8534398" cy="4832092"/>
          </a:xfrm>
          <a:prstGeom prst="rect">
            <a:avLst/>
          </a:prstGeom>
          <a:noFill/>
        </p:spPr>
        <p:txBody>
          <a:bodyPr wrap="square">
            <a:spAutoFit/>
          </a:bodyPr>
          <a:lstStyle/>
          <a:p>
            <a:pPr algn="just"/>
            <a:r>
              <a:rPr lang="en-US" sz="2800" b="0" i="0" dirty="0">
                <a:solidFill>
                  <a:srgbClr val="FF0000"/>
                </a:solidFill>
                <a:effectLst/>
                <a:latin typeface="Times New Roman" panose="02020603050405020304" pitchFamily="18" charset="0"/>
                <a:cs typeface="Times New Roman" panose="02020603050405020304" pitchFamily="18" charset="0"/>
              </a:rPr>
              <a:t>Advantages of Waterfall model</a:t>
            </a:r>
          </a:p>
          <a:p>
            <a:pPr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This model is simple to implement also the number of resources that are required for it is minimal.</a:t>
            </a:r>
          </a:p>
          <a:p>
            <a:pPr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The requirements are simple and explicitly declared; they remain unchanged during the entire project development.</a:t>
            </a:r>
          </a:p>
          <a:p>
            <a:pPr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The start and end points for each phase is fixed, which makes it easy to cover progress.</a:t>
            </a:r>
          </a:p>
          <a:p>
            <a:pPr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The release date for the complete product, as well as its final cost, can be determined before development.</a:t>
            </a:r>
          </a:p>
          <a:p>
            <a:pPr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It gives easy to control and clarity for the customer due to a strict reporting system.</a:t>
            </a:r>
          </a:p>
        </p:txBody>
      </p:sp>
    </p:spTree>
    <p:extLst>
      <p:ext uri="{BB962C8B-B14F-4D97-AF65-F5344CB8AC3E}">
        <p14:creationId xmlns:p14="http://schemas.microsoft.com/office/powerpoint/2010/main" val="1387369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26</a:t>
            </a:fld>
            <a:endParaRPr lang="en-US" dirty="0"/>
          </a:p>
        </p:txBody>
      </p:sp>
      <p:sp>
        <p:nvSpPr>
          <p:cNvPr id="6" name="TextBox 5">
            <a:extLst>
              <a:ext uri="{FF2B5EF4-FFF2-40B4-BE49-F238E27FC236}">
                <a16:creationId xmlns:a16="http://schemas.microsoft.com/office/drawing/2014/main" id="{77A800A1-1B0D-4564-5ADE-15286BA16C5E}"/>
              </a:ext>
            </a:extLst>
          </p:cNvPr>
          <p:cNvSpPr txBox="1"/>
          <p:nvPr/>
        </p:nvSpPr>
        <p:spPr>
          <a:xfrm>
            <a:off x="457199" y="381000"/>
            <a:ext cx="7883893" cy="7115103"/>
          </a:xfrm>
          <a:prstGeom prst="rect">
            <a:avLst/>
          </a:prstGeom>
          <a:noFill/>
        </p:spPr>
        <p:txBody>
          <a:bodyPr wrap="square">
            <a:spAutoFit/>
          </a:bodyPr>
          <a:lstStyle/>
          <a:p>
            <a:pPr algn="just"/>
            <a:r>
              <a:rPr lang="en-US" sz="2800" b="0" i="0" dirty="0">
                <a:solidFill>
                  <a:srgbClr val="FF0000"/>
                </a:solidFill>
                <a:effectLst/>
                <a:latin typeface="Times New Roman" panose="02020603050405020304" pitchFamily="18" charset="0"/>
                <a:cs typeface="Times New Roman" panose="02020603050405020304" pitchFamily="18" charset="0"/>
              </a:rPr>
              <a:t>Disadvantages of Waterfall model</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In this model, the risk factor is higher, so this model is not suitable for more significant and complex projects.</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This model cannot accept the changes in requirements during development.</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It becomes tough to go back to the phase. For example, if the application has now shifted to the coding phase, and there is a change in requirement, It becomes tough to go back and change it.</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Since the testing done at a later stage, it does not allow identifying the challenges and risks in the earlier phase, so the risk reduction strategy is difficult to prepare.</a:t>
            </a:r>
          </a:p>
          <a:p>
            <a:pPr algn="just">
              <a:buFont typeface="Arial" panose="020B0604020202020204" pitchFamily="34" charset="0"/>
              <a:buChar char="•"/>
            </a:pPr>
            <a:endParaRPr lang="en-US" sz="2400" dirty="0">
              <a:solidFill>
                <a:srgbClr val="000000"/>
              </a:solidFill>
              <a:latin typeface="Times New Roman" panose="02020603050405020304" pitchFamily="18" charset="0"/>
              <a:cs typeface="Times New Roman" panose="02020603050405020304" pitchFamily="18" charset="0"/>
            </a:endParaRPr>
          </a:p>
          <a:p>
            <a:pPr algn="just">
              <a:lnSpc>
                <a:spcPct val="115000"/>
              </a:lnSpc>
              <a:spcBef>
                <a:spcPts val="300"/>
              </a:spcBef>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 Feedback- No experiment-no change -Parallelism-no -1</a:t>
            </a:r>
            <a:r>
              <a:rPr lang="en-US" sz="180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one team then next- ideal resource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Bef>
                <a:spcPts val="300"/>
              </a:spcBef>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 flexibility-rigidity High risk- House example- bedroom , kitchen    all problem come to know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buFont typeface="Arial" panose="020B0604020202020204" pitchFamily="34" charset="0"/>
              <a:buChar char="•"/>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4097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27</a:t>
            </a:fld>
            <a:endParaRPr lang="en-US" dirty="0"/>
          </a:p>
        </p:txBody>
      </p:sp>
      <p:sp>
        <p:nvSpPr>
          <p:cNvPr id="8" name="TextBox 7">
            <a:extLst>
              <a:ext uri="{FF2B5EF4-FFF2-40B4-BE49-F238E27FC236}">
                <a16:creationId xmlns:a16="http://schemas.microsoft.com/office/drawing/2014/main" id="{A0DAB094-192D-DE76-0FD3-ACE70416975F}"/>
              </a:ext>
            </a:extLst>
          </p:cNvPr>
          <p:cNvSpPr txBox="1"/>
          <p:nvPr/>
        </p:nvSpPr>
        <p:spPr>
          <a:xfrm>
            <a:off x="609599" y="304800"/>
            <a:ext cx="8077200" cy="6544677"/>
          </a:xfrm>
          <a:prstGeom prst="rect">
            <a:avLst/>
          </a:prstGeom>
          <a:noFill/>
        </p:spPr>
        <p:txBody>
          <a:bodyPr wrap="square">
            <a:spAutoFit/>
          </a:bodyPr>
          <a:lstStyle/>
          <a:p>
            <a:pPr algn="just">
              <a:lnSpc>
                <a:spcPct val="115000"/>
              </a:lnSpc>
              <a:spcBef>
                <a:spcPts val="375"/>
              </a:spcBef>
            </a:pPr>
            <a:r>
              <a:rPr lang="en-US" sz="2400" b="0" kern="0" dirty="0">
                <a:solidFill>
                  <a:srgbClr val="FF0000"/>
                </a:solidFill>
                <a:effectLst/>
                <a:latin typeface="Helvetica" panose="020B0604020202020204" pitchFamily="34" charset="0"/>
                <a:ea typeface="Times New Roman" panose="02020603050405020304" pitchFamily="18" charset="0"/>
                <a:cs typeface="Times New Roman" panose="02020603050405020304" pitchFamily="18" charset="0"/>
              </a:rPr>
              <a:t>Incremental Model</a:t>
            </a:r>
            <a:endParaRPr lang="en-IN" sz="2400" b="1" kern="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Incremental Model is a process of software development where requirements divided into multiple standalone modules of the software development cycle. </a:t>
            </a:r>
            <a:endParaRPr lang="en-US" sz="24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In this model, each module goes through the requirements, design, implementation and testing phases. </a:t>
            </a:r>
          </a:p>
          <a:p>
            <a:pPr marL="342900" indent="-342900">
              <a:buFont typeface="Wingdings" panose="05000000000000000000" pitchFamily="2" charset="2"/>
              <a:buChar char="Ø"/>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Every subsequent release of the module adds function to the previous release. The process continues until the complete system achieved.</a:t>
            </a:r>
          </a:p>
          <a:p>
            <a:endPar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Times New Roman" panose="02020603050405020304" pitchFamily="18" charset="0"/>
                <a:cs typeface="Times New Roman" panose="02020603050405020304" pitchFamily="18" charset="0"/>
              </a:rPr>
              <a:t>1</a:t>
            </a:r>
            <a:r>
              <a:rPr lang="en-US" altLang="en-US" sz="1600" baseline="30000" dirty="0">
                <a:solidFill>
                  <a:srgbClr val="000000"/>
                </a:solidFill>
                <a:latin typeface="Times New Roman" panose="02020603050405020304" pitchFamily="18" charset="0"/>
                <a:cs typeface="Times New Roman" panose="02020603050405020304" pitchFamily="18" charset="0"/>
              </a:rPr>
              <a:t>st</a:t>
            </a:r>
            <a:r>
              <a:rPr lang="en-US" altLang="en-US" sz="1600" dirty="0">
                <a:solidFill>
                  <a:srgbClr val="000000"/>
                </a:solidFill>
                <a:latin typeface="Times New Roman" panose="02020603050405020304" pitchFamily="18" charset="0"/>
                <a:cs typeface="Times New Roman" panose="02020603050405020304" pitchFamily="18" charset="0"/>
              </a:rPr>
              <a:t> module- then add something in 1</a:t>
            </a:r>
            <a:r>
              <a:rPr lang="en-US" altLang="en-US" sz="1600" baseline="30000" dirty="0">
                <a:solidFill>
                  <a:srgbClr val="000000"/>
                </a:solidFill>
                <a:latin typeface="Times New Roman" panose="02020603050405020304" pitchFamily="18" charset="0"/>
                <a:cs typeface="Times New Roman" panose="02020603050405020304" pitchFamily="18" charset="0"/>
              </a:rPr>
              <a:t>st</a:t>
            </a:r>
            <a:r>
              <a:rPr lang="en-US" altLang="en-US" sz="1600" dirty="0">
                <a:solidFill>
                  <a:srgbClr val="000000"/>
                </a:solidFill>
                <a:latin typeface="Times New Roman" panose="02020603050405020304" pitchFamily="18" charset="0"/>
                <a:cs typeface="Times New Roman" panose="02020603050405020304" pitchFamily="18" charset="0"/>
              </a:rPr>
              <a:t> module which is 2</a:t>
            </a:r>
            <a:r>
              <a:rPr lang="en-US" altLang="en-US" sz="1600" baseline="30000" dirty="0">
                <a:solidFill>
                  <a:srgbClr val="000000"/>
                </a:solidFill>
                <a:latin typeface="Times New Roman" panose="02020603050405020304" pitchFamily="18" charset="0"/>
                <a:cs typeface="Times New Roman" panose="02020603050405020304" pitchFamily="18" charset="0"/>
              </a:rPr>
              <a:t>nd</a:t>
            </a:r>
            <a:r>
              <a:rPr lang="en-US" altLang="en-US" sz="1600" dirty="0">
                <a:solidFill>
                  <a:srgbClr val="000000"/>
                </a:solidFill>
                <a:latin typeface="Times New Roman" panose="02020603050405020304" pitchFamily="18" charset="0"/>
                <a:cs typeface="Times New Roman" panose="02020603050405020304" pitchFamily="18" charset="0"/>
              </a:rPr>
              <a:t> module-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Development is not done in once -module by module development</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Times New Roman" panose="02020603050405020304" pitchFamily="18" charset="0"/>
                <a:cs typeface="Times New Roman" panose="02020603050405020304" pitchFamily="18" charset="0"/>
              </a:rPr>
              <a:t>Lock requirement phase-make SRS document then starts module1 development</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Times New Roman" panose="02020603050405020304" pitchFamily="18" charset="0"/>
                <a:cs typeface="Times New Roman" panose="02020603050405020304" pitchFamily="18" charset="0"/>
              </a:rPr>
              <a:t>Maximum customer interaction so chances of error is less- 1</a:t>
            </a:r>
            <a:r>
              <a:rPr lang="en-US" altLang="en-US" sz="1600" baseline="30000" dirty="0">
                <a:solidFill>
                  <a:srgbClr val="000000"/>
                </a:solidFill>
                <a:latin typeface="Times New Roman" panose="02020603050405020304" pitchFamily="18" charset="0"/>
                <a:cs typeface="Times New Roman" panose="02020603050405020304" pitchFamily="18" charset="0"/>
              </a:rPr>
              <a:t>st</a:t>
            </a:r>
            <a:r>
              <a:rPr lang="en-US" altLang="en-US" sz="1600" dirty="0">
                <a:solidFill>
                  <a:srgbClr val="000000"/>
                </a:solidFill>
                <a:latin typeface="Times New Roman" panose="02020603050405020304" pitchFamily="18" charset="0"/>
                <a:cs typeface="Times New Roman" panose="02020603050405020304" pitchFamily="18" charset="0"/>
              </a:rPr>
              <a:t> module developed and delivered to customer for use-then customer can add changes for next module</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Times New Roman" panose="02020603050405020304" pitchFamily="18" charset="0"/>
                <a:cs typeface="Times New Roman" panose="02020603050405020304" pitchFamily="18" charset="0"/>
              </a:rPr>
              <a:t>Full cost, full manpower, full machinery not involve at once</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Times New Roman" panose="02020603050405020304" pitchFamily="18" charset="0"/>
                <a:cs typeface="Times New Roman" panose="02020603050405020304" pitchFamily="18" charset="0"/>
              </a:rPr>
              <a:t>Early release product demand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When </a:t>
            </a:r>
            <a:r>
              <a:rPr kumimoji="0" lang="en-US" altLang="en-US" sz="160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updation</a:t>
            </a:r>
            <a:r>
              <a:rPr kumimoji="0" lang="en-US" altLang="en-US" sz="160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come new features included</a:t>
            </a:r>
            <a:r>
              <a:rPr kumimoji="0" lang="en-US" altLang="en-US" sz="160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8145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28</a:t>
            </a:fld>
            <a:endParaRPr lang="en-US" dirty="0"/>
          </a:p>
        </p:txBody>
      </p:sp>
      <p:pic>
        <p:nvPicPr>
          <p:cNvPr id="5" name="Picture 4">
            <a:extLst>
              <a:ext uri="{FF2B5EF4-FFF2-40B4-BE49-F238E27FC236}">
                <a16:creationId xmlns:a16="http://schemas.microsoft.com/office/drawing/2014/main" id="{1F8A130B-4F75-26EE-22C3-23023FBA3E02}"/>
              </a:ext>
            </a:extLst>
          </p:cNvPr>
          <p:cNvPicPr>
            <a:picLocks noChangeAspect="1"/>
          </p:cNvPicPr>
          <p:nvPr/>
        </p:nvPicPr>
        <p:blipFill>
          <a:blip r:embed="rId2"/>
          <a:stretch>
            <a:fillRect/>
          </a:stretch>
        </p:blipFill>
        <p:spPr>
          <a:xfrm>
            <a:off x="1295400" y="381000"/>
            <a:ext cx="5476875" cy="3333750"/>
          </a:xfrm>
          <a:prstGeom prst="rect">
            <a:avLst/>
          </a:prstGeom>
        </p:spPr>
      </p:pic>
      <p:sp>
        <p:nvSpPr>
          <p:cNvPr id="7" name="TextBox 6">
            <a:extLst>
              <a:ext uri="{FF2B5EF4-FFF2-40B4-BE49-F238E27FC236}">
                <a16:creationId xmlns:a16="http://schemas.microsoft.com/office/drawing/2014/main" id="{7843DDC0-A9B4-9225-7365-35A234CF0F5C}"/>
              </a:ext>
            </a:extLst>
          </p:cNvPr>
          <p:cNvSpPr txBox="1"/>
          <p:nvPr/>
        </p:nvSpPr>
        <p:spPr>
          <a:xfrm>
            <a:off x="368968" y="3842714"/>
            <a:ext cx="8305799" cy="2710486"/>
          </a:xfrm>
          <a:prstGeom prst="rect">
            <a:avLst/>
          </a:prstGeom>
          <a:noFill/>
        </p:spPr>
        <p:txBody>
          <a:bodyPr wrap="square">
            <a:spAutoFit/>
          </a:bodyPr>
          <a:lstStyle/>
          <a:p>
            <a:pPr algn="just">
              <a:lnSpc>
                <a:spcPct val="115000"/>
              </a:lnSpc>
              <a:spcAft>
                <a:spcPts val="1000"/>
              </a:spcAft>
            </a:pPr>
            <a:r>
              <a:rPr lang="en-US" sz="3200" dirty="0">
                <a:solidFill>
                  <a:srgbClr val="610B38"/>
                </a:solidFill>
                <a:effectLst/>
                <a:latin typeface="Helvetica" panose="020B0604020202020204" pitchFamily="34" charset="0"/>
                <a:ea typeface="Times New Roman" panose="02020603050405020304" pitchFamily="18" charset="0"/>
                <a:cs typeface="Times New Roman" panose="02020603050405020304" pitchFamily="18" charset="0"/>
              </a:rPr>
              <a:t>When we use the Incremental Model?</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When the requirements are </a:t>
            </a:r>
            <a:r>
              <a:rPr lang="en-US"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huge</a:t>
            </a:r>
            <a:endPar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A project has a lengthy development schedule.</a:t>
            </a:r>
            <a:endPar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When Software team are not very well skilled or trained.</a:t>
            </a:r>
            <a:endPar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When the customer demands a quick release of the product.</a:t>
            </a:r>
            <a:endPar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You can develop prioritized requirements first.</a:t>
            </a:r>
            <a:endPar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1">
            <a:extLst>
              <a:ext uri="{FF2B5EF4-FFF2-40B4-BE49-F238E27FC236}">
                <a16:creationId xmlns:a16="http://schemas.microsoft.com/office/drawing/2014/main" id="{507C95AD-3877-FF12-4758-FAC7010792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3187" y="2689426"/>
            <a:ext cx="1668780" cy="1539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3530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29</a:t>
            </a:fld>
            <a:endParaRPr lang="en-US" dirty="0"/>
          </a:p>
        </p:txBody>
      </p:sp>
      <p:sp>
        <p:nvSpPr>
          <p:cNvPr id="6" name="TextBox 5">
            <a:extLst>
              <a:ext uri="{FF2B5EF4-FFF2-40B4-BE49-F238E27FC236}">
                <a16:creationId xmlns:a16="http://schemas.microsoft.com/office/drawing/2014/main" id="{00BFF2A6-6F31-70F3-3A98-94B4305DF6B1}"/>
              </a:ext>
            </a:extLst>
          </p:cNvPr>
          <p:cNvSpPr txBox="1"/>
          <p:nvPr/>
        </p:nvSpPr>
        <p:spPr>
          <a:xfrm>
            <a:off x="800100" y="667864"/>
            <a:ext cx="7543800" cy="6555641"/>
          </a:xfrm>
          <a:prstGeom prst="rect">
            <a:avLst/>
          </a:prstGeom>
          <a:noFill/>
        </p:spPr>
        <p:txBody>
          <a:bodyPr wrap="square">
            <a:spAutoFit/>
          </a:bodyPr>
          <a:lstStyle/>
          <a:p>
            <a:pPr algn="just">
              <a:lnSpc>
                <a:spcPct val="150000"/>
              </a:lnSpc>
            </a:pPr>
            <a:r>
              <a:rPr lang="en-US" sz="2400" b="0" i="0" dirty="0">
                <a:solidFill>
                  <a:srgbClr val="610B38"/>
                </a:solidFill>
                <a:effectLst/>
                <a:latin typeface="Times New Roman" panose="02020603050405020304" pitchFamily="18" charset="0"/>
                <a:cs typeface="Times New Roman" panose="02020603050405020304" pitchFamily="18" charset="0"/>
              </a:rPr>
              <a:t>Advantage of Incremental Model</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Errors are easy to be recognized.</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Easier to test and debug</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More flexible.</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Simple to manage risk because it handled during its iteration.</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The Client gets important functionality early.</a:t>
            </a:r>
          </a:p>
          <a:p>
            <a:pPr algn="just">
              <a:lnSpc>
                <a:spcPct val="150000"/>
              </a:lnSpc>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lnSpc>
                <a:spcPct val="150000"/>
              </a:lnSpc>
            </a:pPr>
            <a:r>
              <a:rPr lang="en-US" sz="2400" b="0" i="0" dirty="0">
                <a:solidFill>
                  <a:srgbClr val="610B38"/>
                </a:solidFill>
                <a:effectLst/>
                <a:latin typeface="Times New Roman" panose="02020603050405020304" pitchFamily="18" charset="0"/>
                <a:cs typeface="Times New Roman" panose="02020603050405020304" pitchFamily="18" charset="0"/>
              </a:rPr>
              <a:t>Disadvantage of Incremental Model</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Need for good planning</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Total Cost is high.</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562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30</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5BD4C404-53F7-0773-8FBC-F5C1911A0ABA}"/>
              </a:ext>
            </a:extLst>
          </p:cNvPr>
          <p:cNvSpPr txBox="1"/>
          <p:nvPr/>
        </p:nvSpPr>
        <p:spPr>
          <a:xfrm>
            <a:off x="685800" y="475979"/>
            <a:ext cx="4572000" cy="461665"/>
          </a:xfrm>
          <a:prstGeom prst="rect">
            <a:avLst/>
          </a:prstGeom>
          <a:noFill/>
        </p:spPr>
        <p:txBody>
          <a:bodyPr wrap="square">
            <a:spAutoFit/>
          </a:bodyPr>
          <a:lstStyle/>
          <a:p>
            <a:pPr algn="just"/>
            <a:r>
              <a:rPr lang="en-IN" sz="2400" b="0" i="0" dirty="0">
                <a:solidFill>
                  <a:srgbClr val="FF0000"/>
                </a:solidFill>
                <a:effectLst/>
                <a:latin typeface="Times New Roman" panose="02020603050405020304" pitchFamily="18" charset="0"/>
                <a:cs typeface="Times New Roman" panose="02020603050405020304" pitchFamily="18" charset="0"/>
              </a:rPr>
              <a:t>ITERATIVE MODEL</a:t>
            </a:r>
          </a:p>
        </p:txBody>
      </p:sp>
      <p:sp>
        <p:nvSpPr>
          <p:cNvPr id="9" name="TextBox 8">
            <a:extLst>
              <a:ext uri="{FF2B5EF4-FFF2-40B4-BE49-F238E27FC236}">
                <a16:creationId xmlns:a16="http://schemas.microsoft.com/office/drawing/2014/main" id="{FB54BB8D-7561-09E7-AE52-D8EBCA9779D9}"/>
              </a:ext>
            </a:extLst>
          </p:cNvPr>
          <p:cNvSpPr txBox="1"/>
          <p:nvPr/>
        </p:nvSpPr>
        <p:spPr>
          <a:xfrm>
            <a:off x="304800" y="907805"/>
            <a:ext cx="7620000" cy="1323439"/>
          </a:xfrm>
          <a:prstGeom prst="rect">
            <a:avLst/>
          </a:prstGeom>
          <a:noFill/>
        </p:spPr>
        <p:txBody>
          <a:bodyPr wrap="square">
            <a:spAutoFit/>
          </a:bodyPr>
          <a:lstStyle/>
          <a:p>
            <a:pPr marL="342900" indent="-342900">
              <a:buFont typeface="Wingdings" panose="05000000000000000000" pitchFamily="2" charset="2"/>
              <a:buChar char="Ø"/>
            </a:pPr>
            <a:r>
              <a:rPr lang="en-US" sz="2000" b="0" i="0" dirty="0">
                <a:solidFill>
                  <a:srgbClr val="333333"/>
                </a:solidFill>
                <a:effectLst/>
                <a:latin typeface="Times New Roman" panose="02020603050405020304" pitchFamily="18" charset="0"/>
                <a:cs typeface="Times New Roman" panose="02020603050405020304" pitchFamily="18" charset="0"/>
              </a:rPr>
              <a:t>In this Model, you can start with some of the software specifications and develop the first version of the software. </a:t>
            </a:r>
          </a:p>
          <a:p>
            <a:pPr marL="342900" indent="-342900">
              <a:buFont typeface="Wingdings" panose="05000000000000000000" pitchFamily="2" charset="2"/>
              <a:buChar char="Ø"/>
            </a:pPr>
            <a:r>
              <a:rPr lang="en-US" sz="2000" b="0" i="0" dirty="0">
                <a:solidFill>
                  <a:srgbClr val="333333"/>
                </a:solidFill>
                <a:effectLst/>
                <a:latin typeface="Times New Roman" panose="02020603050405020304" pitchFamily="18" charset="0"/>
                <a:cs typeface="Times New Roman" panose="02020603050405020304" pitchFamily="18" charset="0"/>
              </a:rPr>
              <a:t>After the first version if there is a need to change the software, then a new version of the software is created with a new iteration. </a:t>
            </a:r>
            <a:endParaRPr lang="en-IN"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A6AF6F7-E9E2-9B3E-D707-3738A053EA4A}"/>
              </a:ext>
            </a:extLst>
          </p:cNvPr>
          <p:cNvPicPr>
            <a:picLocks noChangeAspect="1"/>
          </p:cNvPicPr>
          <p:nvPr/>
        </p:nvPicPr>
        <p:blipFill>
          <a:blip r:embed="rId2"/>
          <a:stretch>
            <a:fillRect/>
          </a:stretch>
        </p:blipFill>
        <p:spPr>
          <a:xfrm>
            <a:off x="387217" y="2936755"/>
            <a:ext cx="5169166" cy="3638737"/>
          </a:xfrm>
          <a:prstGeom prst="rect">
            <a:avLst/>
          </a:prstGeom>
        </p:spPr>
      </p:pic>
    </p:spTree>
    <p:extLst>
      <p:ext uri="{BB962C8B-B14F-4D97-AF65-F5344CB8AC3E}">
        <p14:creationId xmlns:p14="http://schemas.microsoft.com/office/powerpoint/2010/main" val="9633304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31</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C508945F-8F97-DEE0-CCD7-503E37221B79}"/>
              </a:ext>
            </a:extLst>
          </p:cNvPr>
          <p:cNvSpPr txBox="1"/>
          <p:nvPr/>
        </p:nvSpPr>
        <p:spPr>
          <a:xfrm>
            <a:off x="152400" y="228600"/>
            <a:ext cx="8381999" cy="6509474"/>
          </a:xfrm>
          <a:prstGeom prst="rect">
            <a:avLst/>
          </a:prstGeom>
          <a:noFill/>
        </p:spPr>
        <p:txBody>
          <a:bodyPr wrap="square">
            <a:spAutoFit/>
          </a:bodyPr>
          <a:lstStyle/>
          <a:p>
            <a:pPr algn="just"/>
            <a:r>
              <a:rPr lang="en-US" sz="1900" b="0" i="0" dirty="0">
                <a:solidFill>
                  <a:srgbClr val="610B4B"/>
                </a:solidFill>
                <a:effectLst/>
                <a:latin typeface="Times New Roman" panose="02020603050405020304" pitchFamily="18" charset="0"/>
                <a:cs typeface="Times New Roman" panose="02020603050405020304" pitchFamily="18" charset="0"/>
              </a:rPr>
              <a:t>The various phases of Iterative model are as follows:</a:t>
            </a:r>
          </a:p>
          <a:p>
            <a:pPr algn="just"/>
            <a:r>
              <a:rPr lang="en-US" sz="1900" b="1" i="0" dirty="0">
                <a:solidFill>
                  <a:srgbClr val="333333"/>
                </a:solidFill>
                <a:effectLst/>
                <a:latin typeface="Times New Roman" panose="02020603050405020304" pitchFamily="18" charset="0"/>
                <a:cs typeface="Times New Roman" panose="02020603050405020304" pitchFamily="18" charset="0"/>
              </a:rPr>
              <a:t>1. Requirement gathering &amp; analysis:</a:t>
            </a:r>
            <a:r>
              <a:rPr lang="en-US" sz="1900" b="0" i="0" dirty="0">
                <a:solidFill>
                  <a:srgbClr val="333333"/>
                </a:solidFill>
                <a:effectLst/>
                <a:latin typeface="Times New Roman" panose="02020603050405020304" pitchFamily="18" charset="0"/>
                <a:cs typeface="Times New Roman" panose="02020603050405020304" pitchFamily="18" charset="0"/>
              </a:rPr>
              <a:t> In this phase, requirements are gathered from customers and check by an analyst whether requirements will fulfil or not. Analyst checks that need will achieve within budget or not. After all of this, the software team skips to the next phase.</a:t>
            </a:r>
          </a:p>
          <a:p>
            <a:pPr algn="just"/>
            <a:r>
              <a:rPr lang="en-US" sz="1900" b="1" i="0" dirty="0">
                <a:solidFill>
                  <a:srgbClr val="333333"/>
                </a:solidFill>
                <a:effectLst/>
                <a:latin typeface="Times New Roman" panose="02020603050405020304" pitchFamily="18" charset="0"/>
                <a:cs typeface="Times New Roman" panose="02020603050405020304" pitchFamily="18" charset="0"/>
              </a:rPr>
              <a:t>2. Design:</a:t>
            </a:r>
            <a:r>
              <a:rPr lang="en-US" sz="1900" b="0" i="0" dirty="0">
                <a:solidFill>
                  <a:srgbClr val="333333"/>
                </a:solidFill>
                <a:effectLst/>
                <a:latin typeface="Times New Roman" panose="02020603050405020304" pitchFamily="18" charset="0"/>
                <a:cs typeface="Times New Roman" panose="02020603050405020304" pitchFamily="18" charset="0"/>
              </a:rPr>
              <a:t> In the design phase, team design the software by the different diagrams like Data Flow diagram, activity diagram, class diagram, state transition diagram, etc.</a:t>
            </a:r>
            <a:r>
              <a:rPr lang="en-US" sz="1900" b="1" i="0" dirty="0">
                <a:solidFill>
                  <a:srgbClr val="333333"/>
                </a:solidFill>
                <a:effectLst/>
                <a:latin typeface="Times New Roman" panose="02020603050405020304" pitchFamily="18" charset="0"/>
                <a:cs typeface="Times New Roman" panose="02020603050405020304" pitchFamily="18" charset="0"/>
              </a:rPr>
              <a:t> </a:t>
            </a:r>
          </a:p>
          <a:p>
            <a:pPr algn="just"/>
            <a:r>
              <a:rPr lang="en-US" sz="1900" b="1" i="0" dirty="0">
                <a:solidFill>
                  <a:srgbClr val="333333"/>
                </a:solidFill>
                <a:effectLst/>
                <a:latin typeface="Times New Roman" panose="02020603050405020304" pitchFamily="18" charset="0"/>
                <a:cs typeface="Times New Roman" panose="02020603050405020304" pitchFamily="18" charset="0"/>
              </a:rPr>
              <a:t>3. Implementation:</a:t>
            </a:r>
            <a:r>
              <a:rPr lang="en-US" sz="1900" b="0" i="0" dirty="0">
                <a:solidFill>
                  <a:srgbClr val="333333"/>
                </a:solidFill>
                <a:effectLst/>
                <a:latin typeface="Times New Roman" panose="02020603050405020304" pitchFamily="18" charset="0"/>
                <a:cs typeface="Times New Roman" panose="02020603050405020304" pitchFamily="18" charset="0"/>
              </a:rPr>
              <a:t> In the implementation, requirements are written in the coding language and transformed into computer </a:t>
            </a:r>
            <a:r>
              <a:rPr lang="en-US" sz="1900" b="0" i="0" dirty="0" err="1">
                <a:solidFill>
                  <a:srgbClr val="333333"/>
                </a:solidFill>
                <a:effectLst/>
                <a:latin typeface="Times New Roman" panose="02020603050405020304" pitchFamily="18" charset="0"/>
                <a:cs typeface="Times New Roman" panose="02020603050405020304" pitchFamily="18" charset="0"/>
              </a:rPr>
              <a:t>programmes</a:t>
            </a:r>
            <a:r>
              <a:rPr lang="en-US" sz="1900" b="0" i="0" dirty="0">
                <a:solidFill>
                  <a:srgbClr val="333333"/>
                </a:solidFill>
                <a:effectLst/>
                <a:latin typeface="Times New Roman" panose="02020603050405020304" pitchFamily="18" charset="0"/>
                <a:cs typeface="Times New Roman" panose="02020603050405020304" pitchFamily="18" charset="0"/>
              </a:rPr>
              <a:t> which are called Software.</a:t>
            </a:r>
          </a:p>
          <a:p>
            <a:pPr algn="just"/>
            <a:r>
              <a:rPr lang="en-US" sz="1900" b="1" i="0" dirty="0">
                <a:solidFill>
                  <a:srgbClr val="333333"/>
                </a:solidFill>
                <a:effectLst/>
                <a:latin typeface="Times New Roman" panose="02020603050405020304" pitchFamily="18" charset="0"/>
                <a:cs typeface="Times New Roman" panose="02020603050405020304" pitchFamily="18" charset="0"/>
              </a:rPr>
              <a:t>4. Testing:</a:t>
            </a:r>
            <a:r>
              <a:rPr lang="en-US" sz="1900" b="0" i="0" dirty="0">
                <a:solidFill>
                  <a:srgbClr val="333333"/>
                </a:solidFill>
                <a:effectLst/>
                <a:latin typeface="Times New Roman" panose="02020603050405020304" pitchFamily="18" charset="0"/>
                <a:cs typeface="Times New Roman" panose="02020603050405020304" pitchFamily="18" charset="0"/>
              </a:rPr>
              <a:t> After completing the coding phase, software testing starts using different test methods. There are many test methods, but the most common are white box, black box, and grey box test methods.</a:t>
            </a:r>
          </a:p>
          <a:p>
            <a:pPr algn="just"/>
            <a:r>
              <a:rPr lang="en-US" sz="1900" b="1" i="0" dirty="0">
                <a:solidFill>
                  <a:srgbClr val="333333"/>
                </a:solidFill>
                <a:effectLst/>
                <a:latin typeface="Times New Roman" panose="02020603050405020304" pitchFamily="18" charset="0"/>
                <a:cs typeface="Times New Roman" panose="02020603050405020304" pitchFamily="18" charset="0"/>
              </a:rPr>
              <a:t>5. Deployment:</a:t>
            </a:r>
            <a:r>
              <a:rPr lang="en-US" sz="1900" b="0" i="0" dirty="0">
                <a:solidFill>
                  <a:srgbClr val="333333"/>
                </a:solidFill>
                <a:effectLst/>
                <a:latin typeface="Times New Roman" panose="02020603050405020304" pitchFamily="18" charset="0"/>
                <a:cs typeface="Times New Roman" panose="02020603050405020304" pitchFamily="18" charset="0"/>
              </a:rPr>
              <a:t> After completing all the phases, software is deployed to its work environment.</a:t>
            </a:r>
          </a:p>
          <a:p>
            <a:pPr algn="just"/>
            <a:r>
              <a:rPr lang="en-US" sz="1900" b="1" i="0" dirty="0">
                <a:solidFill>
                  <a:srgbClr val="333333"/>
                </a:solidFill>
                <a:effectLst/>
                <a:latin typeface="Times New Roman" panose="02020603050405020304" pitchFamily="18" charset="0"/>
                <a:cs typeface="Times New Roman" panose="02020603050405020304" pitchFamily="18" charset="0"/>
              </a:rPr>
              <a:t>6. Review:</a:t>
            </a:r>
            <a:r>
              <a:rPr lang="en-US" sz="1900" b="0" i="0" dirty="0">
                <a:solidFill>
                  <a:srgbClr val="333333"/>
                </a:solidFill>
                <a:effectLst/>
                <a:latin typeface="Times New Roman" panose="02020603050405020304" pitchFamily="18" charset="0"/>
                <a:cs typeface="Times New Roman" panose="02020603050405020304" pitchFamily="18" charset="0"/>
              </a:rPr>
              <a:t> In this phase, after the product deployment, review phase is performed to check the behavior and validity of the developed product. And if there are any error found then the process starts again from the requirement gathering.</a:t>
            </a:r>
          </a:p>
          <a:p>
            <a:pPr algn="just"/>
            <a:r>
              <a:rPr lang="en-US" sz="1900" b="1" i="0" dirty="0">
                <a:solidFill>
                  <a:srgbClr val="333333"/>
                </a:solidFill>
                <a:effectLst/>
                <a:latin typeface="Times New Roman" panose="02020603050405020304" pitchFamily="18" charset="0"/>
                <a:cs typeface="Times New Roman" panose="02020603050405020304" pitchFamily="18" charset="0"/>
              </a:rPr>
              <a:t>7. Maintenance:</a:t>
            </a:r>
            <a:r>
              <a:rPr lang="en-US" sz="1900" b="0" i="0" dirty="0">
                <a:solidFill>
                  <a:srgbClr val="333333"/>
                </a:solidFill>
                <a:effectLst/>
                <a:latin typeface="Times New Roman" panose="02020603050405020304" pitchFamily="18" charset="0"/>
                <a:cs typeface="Times New Roman" panose="02020603050405020304" pitchFamily="18" charset="0"/>
              </a:rPr>
              <a:t> In the maintenance phase, after deployment of the software in the working environment there may be some bugs, some errors or new updates are required. Maintenance involves debugging and new addition options.</a:t>
            </a:r>
          </a:p>
          <a:p>
            <a:pPr algn="just"/>
            <a:endParaRPr lang="en-US" b="0" i="0" dirty="0">
              <a:solidFill>
                <a:srgbClr val="333333"/>
              </a:solidFill>
              <a:effectLst/>
              <a:latin typeface="inter-regular"/>
            </a:endParaRPr>
          </a:p>
        </p:txBody>
      </p:sp>
    </p:spTree>
    <p:extLst>
      <p:ext uri="{BB962C8B-B14F-4D97-AF65-F5344CB8AC3E}">
        <p14:creationId xmlns:p14="http://schemas.microsoft.com/office/powerpoint/2010/main" val="2440192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33D0E75D-67E7-10DB-DD9D-40A769C36501}"/>
              </a:ext>
            </a:extLst>
          </p:cNvPr>
          <p:cNvSpPr txBox="1"/>
          <p:nvPr/>
        </p:nvSpPr>
        <p:spPr>
          <a:xfrm>
            <a:off x="457197" y="304804"/>
            <a:ext cx="7772403" cy="6247864"/>
          </a:xfrm>
          <a:prstGeom prst="rect">
            <a:avLst/>
          </a:prstGeom>
          <a:noFill/>
        </p:spPr>
        <p:txBody>
          <a:bodyPr wrap="square">
            <a:spAutoFit/>
          </a:bodyPr>
          <a:lstStyle/>
          <a:p>
            <a:pPr algn="just"/>
            <a:r>
              <a:rPr lang="en-US" sz="2000" b="0" i="0" dirty="0">
                <a:solidFill>
                  <a:srgbClr val="610B38"/>
                </a:solidFill>
                <a:effectLst/>
                <a:latin typeface="Times New Roman" panose="02020603050405020304" pitchFamily="18" charset="0"/>
                <a:cs typeface="Times New Roman" panose="02020603050405020304" pitchFamily="18" charset="0"/>
              </a:rPr>
              <a:t>When to use the Iterative Model?</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When requirements are defined clearly and easy to understand.</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When the software application is large.</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When there is a requirement of changes in future.</a:t>
            </a:r>
          </a:p>
          <a:p>
            <a:pPr algn="just"/>
            <a:r>
              <a:rPr lang="en-US" sz="2000" b="0" i="0" dirty="0">
                <a:solidFill>
                  <a:srgbClr val="610B38"/>
                </a:solidFill>
                <a:effectLst/>
                <a:latin typeface="Times New Roman" panose="02020603050405020304" pitchFamily="18" charset="0"/>
                <a:cs typeface="Times New Roman" panose="02020603050405020304" pitchFamily="18" charset="0"/>
              </a:rPr>
              <a:t>Advantage(Pros) of Iterative Model:</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Testing and debugging during smaller iteration is easy.</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A Parallel development can plan.(parallel project can be developed)</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It is easily acceptable to ever-changing needs of the project.(different versions can be implemented)</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Risks are identified and resolved during iteration.</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Limited time spent on documentation and extra time on designing.</a:t>
            </a:r>
          </a:p>
          <a:p>
            <a:pPr algn="just"/>
            <a:r>
              <a:rPr lang="en-US" sz="2000" b="0" i="0" dirty="0">
                <a:solidFill>
                  <a:srgbClr val="610B38"/>
                </a:solidFill>
                <a:effectLst/>
                <a:latin typeface="Times New Roman" panose="02020603050405020304" pitchFamily="18" charset="0"/>
                <a:cs typeface="Times New Roman" panose="02020603050405020304" pitchFamily="18" charset="0"/>
              </a:rPr>
              <a:t>Disadvantage(Cons) of Iterative Model:</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It is not suitable for smaller projects.</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More Resources may be required.</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Design can be changed again and again because of imperfect requirements.</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Requirement changes can cause over budget.</a:t>
            </a:r>
          </a:p>
          <a:p>
            <a:pPr algn="just">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Project completion date not confirmed because of changing requirements.( no of iteration not confirmed so completion date not confirmed)</a:t>
            </a:r>
          </a:p>
        </p:txBody>
      </p:sp>
    </p:spTree>
    <p:extLst>
      <p:ext uri="{BB962C8B-B14F-4D97-AF65-F5344CB8AC3E}">
        <p14:creationId xmlns:p14="http://schemas.microsoft.com/office/powerpoint/2010/main" val="3395086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8773"/>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95676"/>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33</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195402DD-59C8-100B-D054-7B9914AB6FE1}"/>
              </a:ext>
            </a:extLst>
          </p:cNvPr>
          <p:cNvSpPr txBox="1"/>
          <p:nvPr/>
        </p:nvSpPr>
        <p:spPr>
          <a:xfrm>
            <a:off x="380999" y="288599"/>
            <a:ext cx="8305799" cy="7386638"/>
          </a:xfrm>
          <a:prstGeom prst="rect">
            <a:avLst/>
          </a:prstGeom>
          <a:noFill/>
        </p:spPr>
        <p:txBody>
          <a:bodyPr wrap="square">
            <a:spAutoFit/>
          </a:bodyPr>
          <a:lstStyle/>
          <a:p>
            <a:r>
              <a:rPr lang="en-US" sz="2400" b="1" i="0" dirty="0">
                <a:solidFill>
                  <a:srgbClr val="FF0000"/>
                </a:solidFill>
                <a:effectLst/>
                <a:latin typeface="Times New Roman" panose="02020603050405020304" pitchFamily="18" charset="0"/>
                <a:cs typeface="Times New Roman" panose="02020603050405020304" pitchFamily="18" charset="0"/>
              </a:rPr>
              <a:t>Evolutionary model</a:t>
            </a:r>
            <a:r>
              <a:rPr lang="en-US" sz="2400" b="0" i="0" dirty="0">
                <a:solidFill>
                  <a:srgbClr val="FF0000"/>
                </a:solidFill>
                <a:effectLst/>
                <a:latin typeface="Times New Roman" panose="02020603050405020304" pitchFamily="18" charset="0"/>
                <a:cs typeface="Times New Roman" panose="02020603050405020304" pitchFamily="18" charset="0"/>
              </a:rPr>
              <a:t> </a:t>
            </a:r>
          </a:p>
          <a:p>
            <a:pPr marL="342900" indent="-342900">
              <a:lnSpc>
                <a:spcPct val="150000"/>
              </a:lnSpc>
              <a:buFont typeface="Wingdings" panose="05000000000000000000" pitchFamily="2" charset="2"/>
              <a:buChar char="Ø"/>
            </a:pPr>
            <a:r>
              <a:rPr lang="en-US" sz="2400" b="0" i="0" dirty="0">
                <a:solidFill>
                  <a:srgbClr val="273239"/>
                </a:solidFill>
                <a:effectLst/>
                <a:latin typeface="Times New Roman" panose="02020603050405020304" pitchFamily="18" charset="0"/>
                <a:cs typeface="Times New Roman" panose="02020603050405020304" pitchFamily="18" charset="0"/>
              </a:rPr>
              <a:t>Evolutionary is a combination of </a:t>
            </a:r>
            <a:r>
              <a:rPr lang="en-US" sz="2400" dirty="0">
                <a:latin typeface="Times New Roman" panose="02020603050405020304" pitchFamily="18" charset="0"/>
                <a:cs typeface="Times New Roman" panose="02020603050405020304" pitchFamily="18" charset="0"/>
              </a:rPr>
              <a:t>Iterative</a:t>
            </a:r>
            <a:r>
              <a:rPr lang="en-US" sz="2400" u="sng" dirty="0">
                <a:latin typeface="Times New Roman" panose="02020603050405020304" pitchFamily="18" charset="0"/>
                <a:cs typeface="Times New Roman" panose="02020603050405020304" pitchFamily="18" charset="0"/>
              </a:rPr>
              <a:t> </a:t>
            </a:r>
            <a:r>
              <a:rPr lang="en-US" sz="2400" b="0" i="0" dirty="0">
                <a:solidFill>
                  <a:srgbClr val="273239"/>
                </a:solidFill>
                <a:effectLst/>
                <a:latin typeface="Times New Roman" panose="02020603050405020304" pitchFamily="18" charset="0"/>
                <a:cs typeface="Times New Roman" panose="02020603050405020304" pitchFamily="18" charset="0"/>
              </a:rPr>
              <a:t>and </a:t>
            </a:r>
            <a:r>
              <a:rPr lang="en-US" sz="2400" dirty="0">
                <a:latin typeface="Times New Roman" panose="02020603050405020304" pitchFamily="18" charset="0"/>
                <a:cs typeface="Times New Roman" panose="02020603050405020304" pitchFamily="18" charset="0"/>
              </a:rPr>
              <a:t>Incremental</a:t>
            </a:r>
            <a:r>
              <a:rPr lang="en-US" sz="2400" u="sng"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model</a:t>
            </a:r>
            <a:r>
              <a:rPr lang="en-US" sz="2400" u="sng" dirty="0">
                <a:latin typeface="Times New Roman" panose="02020603050405020304" pitchFamily="18" charset="0"/>
                <a:cs typeface="Times New Roman" panose="02020603050405020304" pitchFamily="18" charset="0"/>
              </a:rPr>
              <a:t> </a:t>
            </a:r>
            <a:r>
              <a:rPr lang="en-US" sz="2400" b="0" i="0" dirty="0">
                <a:solidFill>
                  <a:srgbClr val="273239"/>
                </a:solidFill>
                <a:effectLst/>
                <a:latin typeface="Times New Roman" panose="02020603050405020304" pitchFamily="18" charset="0"/>
                <a:cs typeface="Times New Roman" panose="02020603050405020304" pitchFamily="18" charset="0"/>
              </a:rPr>
              <a:t>of software development life cycle. </a:t>
            </a:r>
          </a:p>
          <a:p>
            <a:pPr marL="342900" indent="-342900">
              <a:lnSpc>
                <a:spcPct val="150000"/>
              </a:lnSpc>
              <a:buFont typeface="Wingdings" panose="05000000000000000000" pitchFamily="2" charset="2"/>
              <a:buChar char="Ø"/>
            </a:pPr>
            <a:r>
              <a:rPr lang="en-US" sz="2400" b="0" i="0" dirty="0">
                <a:solidFill>
                  <a:srgbClr val="273239"/>
                </a:solidFill>
                <a:effectLst/>
                <a:latin typeface="Times New Roman" panose="02020603050405020304" pitchFamily="18" charset="0"/>
                <a:cs typeface="Times New Roman" panose="02020603050405020304" pitchFamily="18" charset="0"/>
              </a:rPr>
              <a:t>Evolutionary model suggests breaking down of work into smaller chunks, prioritizing them and then delivering those chunks to the customer one by one.</a:t>
            </a:r>
          </a:p>
          <a:p>
            <a:pPr marL="342900" indent="-342900">
              <a:lnSpc>
                <a:spcPct val="150000"/>
              </a:lnSpc>
              <a:buFont typeface="Wingdings" panose="05000000000000000000" pitchFamily="2" charset="2"/>
              <a:buChar char="Ø"/>
            </a:pPr>
            <a:r>
              <a:rPr lang="en-US" sz="2400" b="0" i="0" dirty="0">
                <a:solidFill>
                  <a:srgbClr val="273239"/>
                </a:solidFill>
                <a:effectLst/>
                <a:latin typeface="Times New Roman" panose="02020603050405020304" pitchFamily="18" charset="0"/>
                <a:cs typeface="Times New Roman" panose="02020603050405020304" pitchFamily="18" charset="0"/>
              </a:rPr>
              <a:t>The number of chunks is huge and is the number of deliveries made to the customer. The main advantage is that the customer’s confidence increases as he constantly services from the beginning of the project to verify and validate his requirements. The model allows for changing requirements as well as all work in broken down into maintainable work chunks.</a:t>
            </a:r>
          </a:p>
          <a:p>
            <a:endParaRPr lang="en-US" b="0" i="0" dirty="0">
              <a:solidFill>
                <a:srgbClr val="273239"/>
              </a:solidFill>
              <a:effectLst/>
              <a:latin typeface="urw-din"/>
            </a:endParaRPr>
          </a:p>
        </p:txBody>
      </p:sp>
    </p:spTree>
    <p:extLst>
      <p:ext uri="{BB962C8B-B14F-4D97-AF65-F5344CB8AC3E}">
        <p14:creationId xmlns:p14="http://schemas.microsoft.com/office/powerpoint/2010/main" val="939950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id="{94918E15-90DD-05E6-676B-BDCF2380CE74}"/>
              </a:ext>
            </a:extLst>
          </p:cNvPr>
          <p:cNvPicPr>
            <a:picLocks noChangeAspect="1"/>
          </p:cNvPicPr>
          <p:nvPr/>
        </p:nvPicPr>
        <p:blipFill>
          <a:blip r:embed="rId2"/>
          <a:stretch>
            <a:fillRect/>
          </a:stretch>
        </p:blipFill>
        <p:spPr>
          <a:xfrm>
            <a:off x="228600" y="609600"/>
            <a:ext cx="4896102" cy="3111660"/>
          </a:xfrm>
          <a:prstGeom prst="rect">
            <a:avLst/>
          </a:prstGeom>
        </p:spPr>
      </p:pic>
      <p:pic>
        <p:nvPicPr>
          <p:cNvPr id="9" name="Picture 8">
            <a:extLst>
              <a:ext uri="{FF2B5EF4-FFF2-40B4-BE49-F238E27FC236}">
                <a16:creationId xmlns:a16="http://schemas.microsoft.com/office/drawing/2014/main" id="{27E6801F-11FF-DB77-A449-556BADF64AD8}"/>
              </a:ext>
            </a:extLst>
          </p:cNvPr>
          <p:cNvPicPr>
            <a:picLocks noChangeAspect="1"/>
          </p:cNvPicPr>
          <p:nvPr/>
        </p:nvPicPr>
        <p:blipFill>
          <a:blip r:embed="rId3"/>
          <a:stretch>
            <a:fillRect/>
          </a:stretch>
        </p:blipFill>
        <p:spPr>
          <a:xfrm>
            <a:off x="2971800" y="3819416"/>
            <a:ext cx="5188217" cy="2933851"/>
          </a:xfrm>
          <a:prstGeom prst="rect">
            <a:avLst/>
          </a:prstGeom>
        </p:spPr>
      </p:pic>
    </p:spTree>
    <p:extLst>
      <p:ext uri="{BB962C8B-B14F-4D97-AF65-F5344CB8AC3E}">
        <p14:creationId xmlns:p14="http://schemas.microsoft.com/office/powerpoint/2010/main" val="1764847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208AAC5B-BBFC-F0A6-45EA-091262A30FCF}"/>
              </a:ext>
            </a:extLst>
          </p:cNvPr>
          <p:cNvSpPr txBox="1"/>
          <p:nvPr/>
        </p:nvSpPr>
        <p:spPr>
          <a:xfrm>
            <a:off x="762000" y="457200"/>
            <a:ext cx="7772400" cy="5909310"/>
          </a:xfrm>
          <a:prstGeom prst="rect">
            <a:avLst/>
          </a:prstGeom>
          <a:noFill/>
        </p:spPr>
        <p:txBody>
          <a:bodyPr wrap="square">
            <a:spAutoFit/>
          </a:bodyPr>
          <a:lstStyle/>
          <a:p>
            <a:pPr algn="l" fontAlgn="base"/>
            <a:endParaRPr lang="en-US" b="1" i="0" dirty="0">
              <a:solidFill>
                <a:srgbClr val="273239"/>
              </a:solidFill>
              <a:effectLst/>
              <a:latin typeface="urw-din"/>
            </a:endParaRPr>
          </a:p>
          <a:p>
            <a:pPr algn="l" fontAlgn="base">
              <a:lnSpc>
                <a:spcPct val="150000"/>
              </a:lnSpc>
            </a:pPr>
            <a:r>
              <a:rPr lang="en-US" sz="2400" b="1" i="0" dirty="0">
                <a:solidFill>
                  <a:srgbClr val="273239"/>
                </a:solidFill>
                <a:effectLst/>
                <a:latin typeface="Times New Roman" panose="02020603050405020304" pitchFamily="18" charset="0"/>
                <a:cs typeface="Times New Roman" panose="02020603050405020304" pitchFamily="18" charset="0"/>
              </a:rPr>
              <a:t>Advantages:</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lnSpc>
                <a:spcPct val="150000"/>
              </a:lnSpc>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In evolutionary model, a user gets a chance to experiment partially developed system.</a:t>
            </a:r>
          </a:p>
          <a:p>
            <a:pPr algn="l" fontAlgn="base">
              <a:lnSpc>
                <a:spcPct val="150000"/>
              </a:lnSpc>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It reduces the error because the core modules get tested thoroughly.</a:t>
            </a:r>
          </a:p>
          <a:p>
            <a:pPr algn="l" fontAlgn="base">
              <a:lnSpc>
                <a:spcPct val="150000"/>
              </a:lnSpc>
            </a:pPr>
            <a:r>
              <a:rPr lang="en-US" sz="2400" b="1" i="0" dirty="0">
                <a:solidFill>
                  <a:srgbClr val="273239"/>
                </a:solidFill>
                <a:effectLst/>
                <a:latin typeface="Times New Roman" panose="02020603050405020304" pitchFamily="18" charset="0"/>
                <a:cs typeface="Times New Roman" panose="02020603050405020304" pitchFamily="18" charset="0"/>
              </a:rPr>
              <a:t>Disadvantages:</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lnSpc>
                <a:spcPct val="150000"/>
              </a:lnSpc>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Sometimes it is hard to divide the problem into several versions that would be acceptable to the customer which can be incrementally implemented and delivered.</a:t>
            </a:r>
          </a:p>
          <a:p>
            <a:br>
              <a:rPr lang="en-US" sz="1800" b="0" i="0" dirty="0">
                <a:solidFill>
                  <a:srgbClr val="273239"/>
                </a:solidFill>
                <a:effectLst/>
                <a:latin typeface="urw-din"/>
              </a:rPr>
            </a:br>
            <a:endParaRPr lang="en-IN" dirty="0"/>
          </a:p>
        </p:txBody>
      </p:sp>
    </p:spTree>
    <p:extLst>
      <p:ext uri="{BB962C8B-B14F-4D97-AF65-F5344CB8AC3E}">
        <p14:creationId xmlns:p14="http://schemas.microsoft.com/office/powerpoint/2010/main" val="1014952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07649"/>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A13BF543-B9F7-FEC6-8CF5-8F97AA2DC500}"/>
              </a:ext>
            </a:extLst>
          </p:cNvPr>
          <p:cNvSpPr txBox="1"/>
          <p:nvPr/>
        </p:nvSpPr>
        <p:spPr>
          <a:xfrm>
            <a:off x="609600" y="381000"/>
            <a:ext cx="4724400" cy="4247317"/>
          </a:xfrm>
          <a:prstGeom prst="rect">
            <a:avLst/>
          </a:prstGeom>
          <a:noFill/>
        </p:spPr>
        <p:txBody>
          <a:bodyPr wrap="square">
            <a:spAutoFit/>
          </a:bodyPr>
          <a:lstStyle/>
          <a:p>
            <a:pPr algn="just"/>
            <a:r>
              <a:rPr lang="en-IN" b="0" i="0" dirty="0">
                <a:solidFill>
                  <a:srgbClr val="610B38"/>
                </a:solidFill>
                <a:effectLst/>
                <a:latin typeface="erdana"/>
              </a:rPr>
              <a:t>Spiral Model-</a:t>
            </a:r>
          </a:p>
          <a:p>
            <a:pPr algn="just"/>
            <a:r>
              <a:rPr lang="en-IN" b="0" i="0" dirty="0">
                <a:solidFill>
                  <a:srgbClr val="610B38"/>
                </a:solidFill>
                <a:effectLst/>
                <a:latin typeface="erdana"/>
              </a:rPr>
              <a:t>1</a:t>
            </a:r>
            <a:r>
              <a:rPr lang="en-IN" b="0" i="0" baseline="30000" dirty="0">
                <a:solidFill>
                  <a:srgbClr val="610B38"/>
                </a:solidFill>
                <a:effectLst/>
                <a:latin typeface="erdana"/>
              </a:rPr>
              <a:t>s</a:t>
            </a:r>
            <a:r>
              <a:rPr lang="en-IN" baseline="30000" dirty="0">
                <a:solidFill>
                  <a:srgbClr val="610B38"/>
                </a:solidFill>
                <a:latin typeface="erdana"/>
              </a:rPr>
              <a:t>t</a:t>
            </a:r>
            <a:r>
              <a:rPr lang="en-IN" dirty="0">
                <a:solidFill>
                  <a:srgbClr val="610B38"/>
                </a:solidFill>
                <a:latin typeface="erdana"/>
              </a:rPr>
              <a:t> loop cover 4 phases</a:t>
            </a:r>
          </a:p>
          <a:p>
            <a:pPr algn="just"/>
            <a:r>
              <a:rPr lang="en-IN" b="0" i="0" dirty="0">
                <a:solidFill>
                  <a:srgbClr val="610B38"/>
                </a:solidFill>
                <a:effectLst/>
                <a:latin typeface="erdana"/>
              </a:rPr>
              <a:t>Then if needed modification then 2</a:t>
            </a:r>
            <a:r>
              <a:rPr lang="en-IN" b="0" i="0" baseline="30000" dirty="0">
                <a:solidFill>
                  <a:srgbClr val="610B38"/>
                </a:solidFill>
                <a:effectLst/>
                <a:latin typeface="erdana"/>
              </a:rPr>
              <a:t>nd</a:t>
            </a:r>
            <a:r>
              <a:rPr lang="en-IN" b="0" i="0" dirty="0">
                <a:solidFill>
                  <a:srgbClr val="610B38"/>
                </a:solidFill>
                <a:effectLst/>
                <a:latin typeface="erdana"/>
              </a:rPr>
              <a:t> loop  continues till PM satisfy that a perfect product.</a:t>
            </a:r>
          </a:p>
          <a:p>
            <a:pPr algn="just"/>
            <a:r>
              <a:rPr lang="en-IN" dirty="0">
                <a:solidFill>
                  <a:srgbClr val="610B38"/>
                </a:solidFill>
                <a:latin typeface="erdana"/>
              </a:rPr>
              <a:t>Used for large project like ISRO,NASA</a:t>
            </a:r>
          </a:p>
          <a:p>
            <a:pPr algn="just"/>
            <a:r>
              <a:rPr lang="en-IN" dirty="0">
                <a:solidFill>
                  <a:srgbClr val="610B38"/>
                </a:solidFill>
                <a:latin typeface="erdana"/>
              </a:rPr>
              <a:t>1. Risk Handling-Where analysis of risk is very important this  model is used i.e. more focus on risk</a:t>
            </a:r>
          </a:p>
          <a:p>
            <a:pPr algn="just"/>
            <a:r>
              <a:rPr lang="en-IN" dirty="0">
                <a:solidFill>
                  <a:srgbClr val="610B38"/>
                </a:solidFill>
                <a:latin typeface="erdana"/>
              </a:rPr>
              <a:t>2. Radius- more means cost more</a:t>
            </a:r>
          </a:p>
          <a:p>
            <a:pPr algn="just"/>
            <a:r>
              <a:rPr lang="en-IN" dirty="0">
                <a:solidFill>
                  <a:srgbClr val="610B38"/>
                </a:solidFill>
                <a:latin typeface="erdana"/>
              </a:rPr>
              <a:t>3.Angular dimension- shows progress</a:t>
            </a:r>
          </a:p>
          <a:p>
            <a:pPr algn="just"/>
            <a:r>
              <a:rPr lang="en-IN" dirty="0">
                <a:solidFill>
                  <a:srgbClr val="610B38"/>
                </a:solidFill>
                <a:latin typeface="erdana"/>
              </a:rPr>
              <a:t>4. Meta model</a:t>
            </a:r>
          </a:p>
          <a:p>
            <a:pPr algn="just"/>
            <a:endParaRPr lang="en-IN" dirty="0">
              <a:solidFill>
                <a:srgbClr val="610B38"/>
              </a:solidFill>
              <a:latin typeface="erdana"/>
            </a:endParaRPr>
          </a:p>
          <a:p>
            <a:pPr algn="just"/>
            <a:endParaRPr lang="en-IN" dirty="0">
              <a:solidFill>
                <a:srgbClr val="610B38"/>
              </a:solidFill>
              <a:latin typeface="erdana"/>
            </a:endParaRPr>
          </a:p>
          <a:p>
            <a:pPr algn="just"/>
            <a:endParaRPr lang="en-IN" dirty="0">
              <a:solidFill>
                <a:srgbClr val="610B38"/>
              </a:solidFill>
              <a:latin typeface="erdana"/>
            </a:endParaRPr>
          </a:p>
          <a:p>
            <a:pPr algn="just"/>
            <a:endParaRPr lang="en-IN" b="0" i="0" dirty="0">
              <a:solidFill>
                <a:srgbClr val="610B38"/>
              </a:solidFill>
              <a:effectLst/>
              <a:latin typeface="erdana"/>
            </a:endParaRPr>
          </a:p>
        </p:txBody>
      </p:sp>
      <p:pic>
        <p:nvPicPr>
          <p:cNvPr id="11" name="Picture 10">
            <a:extLst>
              <a:ext uri="{FF2B5EF4-FFF2-40B4-BE49-F238E27FC236}">
                <a16:creationId xmlns:a16="http://schemas.microsoft.com/office/drawing/2014/main" id="{E0E6A2F1-B17D-1501-FD5C-E1C7A01CB774}"/>
              </a:ext>
            </a:extLst>
          </p:cNvPr>
          <p:cNvPicPr>
            <a:picLocks noChangeAspect="1"/>
          </p:cNvPicPr>
          <p:nvPr/>
        </p:nvPicPr>
        <p:blipFill>
          <a:blip r:embed="rId2"/>
          <a:stretch>
            <a:fillRect/>
          </a:stretch>
        </p:blipFill>
        <p:spPr>
          <a:xfrm>
            <a:off x="4572000" y="2772107"/>
            <a:ext cx="4571997" cy="3978243"/>
          </a:xfrm>
          <a:prstGeom prst="rect">
            <a:avLst/>
          </a:prstGeom>
        </p:spPr>
      </p:pic>
    </p:spTree>
    <p:extLst>
      <p:ext uri="{BB962C8B-B14F-4D97-AF65-F5344CB8AC3E}">
        <p14:creationId xmlns:p14="http://schemas.microsoft.com/office/powerpoint/2010/main" val="2074966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37</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83BC73AC-CF06-AB58-4049-057600FC515E}"/>
              </a:ext>
            </a:extLst>
          </p:cNvPr>
          <p:cNvSpPr txBox="1"/>
          <p:nvPr/>
        </p:nvSpPr>
        <p:spPr>
          <a:xfrm>
            <a:off x="304800" y="304801"/>
            <a:ext cx="8763000" cy="5693866"/>
          </a:xfrm>
          <a:prstGeom prst="rect">
            <a:avLst/>
          </a:prstGeom>
          <a:noFill/>
        </p:spPr>
        <p:txBody>
          <a:bodyPr wrap="square">
            <a:spAutoFit/>
          </a:bodyPr>
          <a:lstStyle/>
          <a:p>
            <a:pPr algn="l"/>
            <a:r>
              <a:rPr lang="en-IN" sz="3200" b="0" i="0" dirty="0">
                <a:solidFill>
                  <a:srgbClr val="FF0000"/>
                </a:solidFill>
                <a:effectLst/>
                <a:latin typeface="Times New Roman" panose="02020603050405020304" pitchFamily="18" charset="0"/>
                <a:cs typeface="Times New Roman" panose="02020603050405020304" pitchFamily="18" charset="0"/>
              </a:rPr>
              <a:t>Spiral Model</a:t>
            </a:r>
          </a:p>
          <a:p>
            <a:pPr algn="l"/>
            <a:r>
              <a:rPr lang="en-US" sz="2000" dirty="0">
                <a:solidFill>
                  <a:srgbClr val="000000"/>
                </a:solidFill>
                <a:latin typeface="Times New Roman" panose="02020603050405020304" pitchFamily="18" charset="0"/>
                <a:cs typeface="Times New Roman" panose="02020603050405020304" pitchFamily="18" charset="0"/>
              </a:rPr>
              <a:t>The spiral model, initially proposed by Boehm.</a:t>
            </a:r>
          </a:p>
          <a:p>
            <a:pPr algn="l"/>
            <a:r>
              <a:rPr lang="en-US" sz="2000" dirty="0">
                <a:solidFill>
                  <a:srgbClr val="000000"/>
                </a:solidFill>
                <a:latin typeface="Times New Roman" panose="02020603050405020304" pitchFamily="18" charset="0"/>
                <a:cs typeface="Times New Roman" panose="02020603050405020304" pitchFamily="18" charset="0"/>
              </a:rPr>
              <a:t>The spiral model has four phases. A softwa</a:t>
            </a:r>
            <a:r>
              <a:rPr lang="en-US" sz="2000" b="0" i="0" dirty="0">
                <a:solidFill>
                  <a:srgbClr val="000000"/>
                </a:solidFill>
                <a:effectLst/>
                <a:latin typeface="Times New Roman" panose="02020603050405020304" pitchFamily="18" charset="0"/>
                <a:cs typeface="Times New Roman" panose="02020603050405020304" pitchFamily="18" charset="0"/>
              </a:rPr>
              <a:t>re project repeatedly passes through these phases in iterations called Spirals</a:t>
            </a:r>
            <a:r>
              <a:rPr lang="en-US" sz="2000" dirty="0">
                <a:solidFill>
                  <a:srgbClr val="000000"/>
                </a:solidFill>
                <a:latin typeface="Times New Roman" panose="02020603050405020304" pitchFamily="18" charset="0"/>
                <a:cs typeface="Times New Roman" panose="02020603050405020304" pitchFamily="18" charset="0"/>
              </a:rPr>
              <a:t>. Using the spiral model, the software is developed in a series of incremental releases. </a:t>
            </a:r>
          </a:p>
          <a:p>
            <a:pPr algn="l"/>
            <a:endParaRPr lang="en-IN" b="0" i="0" dirty="0">
              <a:solidFill>
                <a:srgbClr val="000000"/>
              </a:solidFill>
              <a:effectLst/>
              <a:latin typeface="Heebo" pitchFamily="2" charset="-79"/>
              <a:cs typeface="Heebo" pitchFamily="2" charset="-79"/>
            </a:endParaRPr>
          </a:p>
          <a:p>
            <a:pPr algn="l"/>
            <a:r>
              <a:rPr lang="en-US" b="1" i="0" dirty="0">
                <a:solidFill>
                  <a:srgbClr val="333333"/>
                </a:solidFill>
                <a:effectLst/>
                <a:latin typeface="inter-bold"/>
              </a:rPr>
              <a:t>Objective setting:</a:t>
            </a:r>
            <a:r>
              <a:rPr lang="en-US" b="0" i="0" dirty="0">
                <a:solidFill>
                  <a:srgbClr val="333333"/>
                </a:solidFill>
                <a:effectLst/>
                <a:latin typeface="inter-regular"/>
              </a:rPr>
              <a:t> Each cycle in the spiral starts with the identification of purpose for that cycle, the various alternatives that are possible for achieving the targets, and the constraints that exists.</a:t>
            </a:r>
          </a:p>
          <a:p>
            <a:pPr algn="just"/>
            <a:r>
              <a:rPr lang="en-US" b="1" i="0" dirty="0">
                <a:solidFill>
                  <a:srgbClr val="333333"/>
                </a:solidFill>
                <a:effectLst/>
                <a:latin typeface="inter-bold"/>
              </a:rPr>
              <a:t>Risk Assessment and reduction:</a:t>
            </a:r>
            <a:r>
              <a:rPr lang="en-US" b="0" i="0" dirty="0">
                <a:solidFill>
                  <a:srgbClr val="333333"/>
                </a:solidFill>
                <a:effectLst/>
                <a:latin typeface="inter-regular"/>
              </a:rPr>
              <a:t> The next phase in the cycle is to calculate these various alternatives based on the goals and constraints. The focus of evaluation in this stage is located on the risk perception for the project.</a:t>
            </a:r>
          </a:p>
          <a:p>
            <a:pPr algn="just"/>
            <a:r>
              <a:rPr lang="en-US" b="1" i="0" dirty="0">
                <a:solidFill>
                  <a:srgbClr val="333333"/>
                </a:solidFill>
                <a:effectLst/>
                <a:latin typeface="inter-bold"/>
              </a:rPr>
              <a:t>Development and validation:</a:t>
            </a:r>
            <a:r>
              <a:rPr lang="en-US" b="0" i="0" dirty="0">
                <a:solidFill>
                  <a:srgbClr val="333333"/>
                </a:solidFill>
                <a:effectLst/>
                <a:latin typeface="inter-regular"/>
              </a:rPr>
              <a:t> The next phase is to develop strategies that resolve uncertainties and risks. This process may include activities such as benchmarking, simulation, and prototyping.</a:t>
            </a:r>
          </a:p>
          <a:p>
            <a:pPr algn="just"/>
            <a:r>
              <a:rPr lang="en-US" b="1" i="0" dirty="0">
                <a:solidFill>
                  <a:srgbClr val="333333"/>
                </a:solidFill>
                <a:effectLst/>
                <a:latin typeface="inter-bold"/>
              </a:rPr>
              <a:t>Planning:</a:t>
            </a:r>
            <a:r>
              <a:rPr lang="en-US" b="0" i="0" dirty="0">
                <a:solidFill>
                  <a:srgbClr val="333333"/>
                </a:solidFill>
                <a:effectLst/>
                <a:latin typeface="inter-regular"/>
              </a:rPr>
              <a:t> Finally, the next step is planned. The project is reviewed, and a choice made whether to continue with a further period of the spiral. If it is determined to keep, plans are drawn up for the next step of the project.</a:t>
            </a:r>
          </a:p>
          <a:p>
            <a:pPr algn="l"/>
            <a:endParaRPr lang="en-IN" b="0" i="0" dirty="0">
              <a:solidFill>
                <a:srgbClr val="000000"/>
              </a:solidFill>
              <a:effectLst/>
              <a:latin typeface="Heebo" pitchFamily="2" charset="-79"/>
              <a:cs typeface="Heebo" pitchFamily="2" charset="-79"/>
            </a:endParaRPr>
          </a:p>
        </p:txBody>
      </p:sp>
    </p:spTree>
    <p:extLst>
      <p:ext uri="{BB962C8B-B14F-4D97-AF65-F5344CB8AC3E}">
        <p14:creationId xmlns:p14="http://schemas.microsoft.com/office/powerpoint/2010/main" val="3419321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38</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E9B94A5F-729B-2F64-F17E-E266CA5B5AFB}"/>
              </a:ext>
            </a:extLst>
          </p:cNvPr>
          <p:cNvSpPr txBox="1"/>
          <p:nvPr/>
        </p:nvSpPr>
        <p:spPr>
          <a:xfrm>
            <a:off x="435540" y="609600"/>
            <a:ext cx="8001003" cy="4524315"/>
          </a:xfrm>
          <a:prstGeom prst="rect">
            <a:avLst/>
          </a:prstGeom>
          <a:noFill/>
        </p:spPr>
        <p:txBody>
          <a:bodyPr wrap="square">
            <a:spAutoFit/>
          </a:bodyPr>
          <a:lstStyle/>
          <a:p>
            <a:pPr algn="just"/>
            <a:r>
              <a:rPr lang="en-US" sz="2400" b="0" i="0" dirty="0">
                <a:solidFill>
                  <a:srgbClr val="610B4B"/>
                </a:solidFill>
                <a:effectLst/>
                <a:latin typeface="Times New Roman" panose="02020603050405020304" pitchFamily="18" charset="0"/>
                <a:cs typeface="Times New Roman" panose="02020603050405020304" pitchFamily="18" charset="0"/>
              </a:rPr>
              <a:t>When to use Spiral Model?</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When the project is large</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When requirements are unclear and complex</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When changes may require at any time</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Large and high budget projects</a:t>
            </a:r>
          </a:p>
          <a:p>
            <a:pPr algn="just"/>
            <a:r>
              <a:rPr lang="en-US" sz="2400" b="0" i="0" dirty="0">
                <a:solidFill>
                  <a:srgbClr val="610B4B"/>
                </a:solidFill>
                <a:effectLst/>
                <a:latin typeface="Times New Roman" panose="02020603050405020304" pitchFamily="18" charset="0"/>
                <a:cs typeface="Times New Roman" panose="02020603050405020304" pitchFamily="18" charset="0"/>
              </a:rPr>
              <a:t>Advantages</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High amount of risk analysis</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Useful for large and mission-critical projects.</a:t>
            </a:r>
          </a:p>
          <a:p>
            <a:pPr algn="just"/>
            <a:r>
              <a:rPr lang="en-US" sz="2400" b="0" i="0" dirty="0">
                <a:solidFill>
                  <a:srgbClr val="610B4B"/>
                </a:solidFill>
                <a:effectLst/>
                <a:latin typeface="Times New Roman" panose="02020603050405020304" pitchFamily="18" charset="0"/>
                <a:cs typeface="Times New Roman" panose="02020603050405020304" pitchFamily="18" charset="0"/>
              </a:rPr>
              <a:t>Disadvantages</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Can be a costly model to use.</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Doesn't work well for smaller projects.</a:t>
            </a:r>
          </a:p>
          <a:p>
            <a:pPr algn="just">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Time</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88443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0" y="914400"/>
            <a:ext cx="9144001" cy="50357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39</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2A4A279E-6C8F-04E1-B6B6-37D8AF0FA2AD}"/>
              </a:ext>
            </a:extLst>
          </p:cNvPr>
          <p:cNvSpPr txBox="1"/>
          <p:nvPr/>
        </p:nvSpPr>
        <p:spPr>
          <a:xfrm>
            <a:off x="457198" y="557481"/>
            <a:ext cx="8001002" cy="3176319"/>
          </a:xfrm>
          <a:prstGeom prst="rect">
            <a:avLst/>
          </a:prstGeom>
          <a:noFill/>
        </p:spPr>
        <p:txBody>
          <a:bodyPr wrap="square">
            <a:spAutoFit/>
          </a:bodyPr>
          <a:lstStyle/>
          <a:p>
            <a:pPr algn="just"/>
            <a:r>
              <a:rPr lang="en-IN" sz="2400" b="0" i="0" dirty="0">
                <a:solidFill>
                  <a:srgbClr val="FF0000"/>
                </a:solidFill>
                <a:effectLst/>
                <a:latin typeface="Times New Roman" panose="02020603050405020304" pitchFamily="18" charset="0"/>
                <a:cs typeface="Times New Roman" panose="02020603050405020304" pitchFamily="18" charset="0"/>
              </a:rPr>
              <a:t>PROTOTYPE MODE</a:t>
            </a:r>
          </a:p>
          <a:p>
            <a:pPr marL="342900" indent="-342900" algn="just">
              <a:lnSpc>
                <a:spcPct val="150000"/>
              </a:lnSpc>
              <a:buFont typeface="Wingdings" panose="05000000000000000000" pitchFamily="2" charset="2"/>
              <a:buChar char="Ø"/>
            </a:pPr>
            <a:r>
              <a:rPr lang="en-US" sz="2000" b="0" i="0" dirty="0">
                <a:solidFill>
                  <a:srgbClr val="333333"/>
                </a:solidFill>
                <a:effectLst/>
                <a:latin typeface="Times New Roman" panose="02020603050405020304" pitchFamily="18" charset="0"/>
                <a:cs typeface="Times New Roman" panose="02020603050405020304" pitchFamily="18" charset="0"/>
              </a:rPr>
              <a:t>A prototype is a toy implementation of the system. </a:t>
            </a:r>
          </a:p>
          <a:p>
            <a:pPr marL="342900" indent="-342900" algn="just">
              <a:lnSpc>
                <a:spcPct val="150000"/>
              </a:lnSpc>
              <a:buFont typeface="Wingdings" panose="05000000000000000000" pitchFamily="2" charset="2"/>
              <a:buChar char="Ø"/>
            </a:pPr>
            <a:r>
              <a:rPr lang="en-US" sz="2000" b="0" i="0" dirty="0">
                <a:solidFill>
                  <a:srgbClr val="333333"/>
                </a:solidFill>
                <a:effectLst/>
                <a:latin typeface="Times New Roman" panose="02020603050405020304" pitchFamily="18" charset="0"/>
                <a:cs typeface="Times New Roman" panose="02020603050405020304" pitchFamily="18" charset="0"/>
              </a:rPr>
              <a:t>In many instances, the client only has a general view of what is expected from the software product.</a:t>
            </a:r>
          </a:p>
          <a:p>
            <a:pPr marL="342900" indent="-342900" algn="just">
              <a:lnSpc>
                <a:spcPct val="150000"/>
              </a:lnSpc>
              <a:buFont typeface="Wingdings" panose="05000000000000000000" pitchFamily="2" charset="2"/>
              <a:buChar char="Ø"/>
            </a:pPr>
            <a:r>
              <a:rPr lang="en-US" sz="2000" b="0" i="0" dirty="0">
                <a:solidFill>
                  <a:srgbClr val="333333"/>
                </a:solidFill>
                <a:effectLst/>
                <a:latin typeface="Times New Roman" panose="02020603050405020304" pitchFamily="18" charset="0"/>
                <a:cs typeface="Times New Roman" panose="02020603050405020304" pitchFamily="18" charset="0"/>
              </a:rPr>
              <a:t> In such a scenario where there is an absence of detailed information regarding the input to the system, the processing needs, and the output requirement, the prototyping model may be employed.</a:t>
            </a:r>
            <a:endParaRPr lang="en-IN" sz="2000" b="0" i="0" dirty="0">
              <a:solidFill>
                <a:srgbClr val="610B38"/>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6413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40</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F99580CD-4C5E-5464-D5EC-C4F53FAF1250}"/>
              </a:ext>
            </a:extLst>
          </p:cNvPr>
          <p:cNvSpPr txBox="1"/>
          <p:nvPr/>
        </p:nvSpPr>
        <p:spPr>
          <a:xfrm>
            <a:off x="533401" y="967427"/>
            <a:ext cx="8153398" cy="4893647"/>
          </a:xfrm>
          <a:prstGeom prst="rect">
            <a:avLst/>
          </a:prstGeom>
          <a:noFill/>
        </p:spPr>
        <p:txBody>
          <a:bodyPr wrap="square">
            <a:spAutoFit/>
          </a:bodyPr>
          <a:lstStyle/>
          <a:p>
            <a:pPr algn="just"/>
            <a:r>
              <a:rPr lang="en-US" sz="2400" b="0" i="0" dirty="0">
                <a:solidFill>
                  <a:srgbClr val="610B4B"/>
                </a:solidFill>
                <a:effectLst/>
                <a:latin typeface="Times New Roman" panose="02020603050405020304" pitchFamily="18" charset="0"/>
                <a:cs typeface="Times New Roman" panose="02020603050405020304" pitchFamily="18" charset="0"/>
              </a:rPr>
              <a:t>Steps of Prototype Model</a:t>
            </a: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Requirement Gathering and Analyst</a:t>
            </a: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Quick Decision</a:t>
            </a: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Build a Prototype</a:t>
            </a: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Assessment or User Evaluation</a:t>
            </a: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Prototype Refinement</a:t>
            </a: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Engineer Product</a:t>
            </a:r>
          </a:p>
          <a:p>
            <a:pPr algn="just"/>
            <a:r>
              <a:rPr lang="en-US" sz="2400" b="0" i="0" dirty="0">
                <a:solidFill>
                  <a:srgbClr val="610B4B"/>
                </a:solidFill>
                <a:effectLst/>
                <a:latin typeface="Times New Roman" panose="02020603050405020304" pitchFamily="18" charset="0"/>
                <a:cs typeface="Times New Roman" panose="02020603050405020304" pitchFamily="18" charset="0"/>
              </a:rPr>
              <a:t>Advantage of Prototype Model</a:t>
            </a: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Reduce the risk of incorrect user requirement</a:t>
            </a: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Good where requirement are changing/uncommitted</a:t>
            </a: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Support early product marketing</a:t>
            </a: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Errors can be detected much earlier as the system is made side by side.</a:t>
            </a:r>
          </a:p>
        </p:txBody>
      </p:sp>
    </p:spTree>
    <p:extLst>
      <p:ext uri="{BB962C8B-B14F-4D97-AF65-F5344CB8AC3E}">
        <p14:creationId xmlns:p14="http://schemas.microsoft.com/office/powerpoint/2010/main" val="18828281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41</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CD243802-1590-533D-9EF3-46D95C259C4E}"/>
              </a:ext>
            </a:extLst>
          </p:cNvPr>
          <p:cNvSpPr txBox="1"/>
          <p:nvPr/>
        </p:nvSpPr>
        <p:spPr>
          <a:xfrm>
            <a:off x="609600" y="136525"/>
            <a:ext cx="7848603" cy="4832092"/>
          </a:xfrm>
          <a:prstGeom prst="rect">
            <a:avLst/>
          </a:prstGeom>
          <a:noFill/>
        </p:spPr>
        <p:txBody>
          <a:bodyPr wrap="square">
            <a:spAutoFit/>
          </a:bodyPr>
          <a:lstStyle/>
          <a:p>
            <a:pPr algn="just"/>
            <a:r>
              <a:rPr lang="en-US" sz="2800" b="0" i="0" dirty="0">
                <a:solidFill>
                  <a:srgbClr val="610B4B"/>
                </a:solidFill>
                <a:effectLst/>
                <a:latin typeface="Times New Roman" panose="02020603050405020304" pitchFamily="18" charset="0"/>
                <a:cs typeface="Times New Roman" panose="02020603050405020304" pitchFamily="18" charset="0"/>
              </a:rPr>
              <a:t>Disadvantage of Prototype Model</a:t>
            </a:r>
          </a:p>
          <a:p>
            <a:pPr algn="just">
              <a:buFont typeface="+mj-lt"/>
              <a:buAutoNum type="arabicPeriod"/>
            </a:pPr>
            <a:r>
              <a:rPr lang="en-US" sz="2800" b="0" i="0" dirty="0">
                <a:solidFill>
                  <a:srgbClr val="000000"/>
                </a:solidFill>
                <a:effectLst/>
                <a:latin typeface="Times New Roman" panose="02020603050405020304" pitchFamily="18" charset="0"/>
                <a:cs typeface="Times New Roman" panose="02020603050405020304" pitchFamily="18" charset="0"/>
              </a:rPr>
              <a:t>An unstable/badly implemented prototype often becomes the final product.</a:t>
            </a:r>
          </a:p>
          <a:p>
            <a:pPr algn="just">
              <a:buFont typeface="+mj-lt"/>
              <a:buAutoNum type="arabicPeriod"/>
            </a:pPr>
            <a:r>
              <a:rPr lang="en-US" sz="2800" b="0" i="0" dirty="0">
                <a:solidFill>
                  <a:srgbClr val="000000"/>
                </a:solidFill>
                <a:effectLst/>
                <a:latin typeface="Times New Roman" panose="02020603050405020304" pitchFamily="18" charset="0"/>
                <a:cs typeface="Times New Roman" panose="02020603050405020304" pitchFamily="18" charset="0"/>
              </a:rPr>
              <a:t>Difficult to know how long the project will last.</a:t>
            </a:r>
          </a:p>
          <a:p>
            <a:pPr algn="just">
              <a:buFont typeface="+mj-lt"/>
              <a:buAutoNum type="arabicPeriod"/>
            </a:pPr>
            <a:r>
              <a:rPr lang="en-US" sz="2800" b="0" i="0" dirty="0">
                <a:solidFill>
                  <a:srgbClr val="000000"/>
                </a:solidFill>
                <a:effectLst/>
                <a:latin typeface="Times New Roman" panose="02020603050405020304" pitchFamily="18" charset="0"/>
                <a:cs typeface="Times New Roman" panose="02020603050405020304" pitchFamily="18" charset="0"/>
              </a:rPr>
              <a:t>Easy to fall back into the code and fix without proper requirement analysis, design, customer evaluation, and feedback.</a:t>
            </a:r>
          </a:p>
          <a:p>
            <a:pPr algn="just">
              <a:buFont typeface="+mj-lt"/>
              <a:buAutoNum type="arabicPeriod"/>
            </a:pPr>
            <a:r>
              <a:rPr lang="en-US" sz="2800" b="0" i="0" dirty="0">
                <a:solidFill>
                  <a:srgbClr val="000000"/>
                </a:solidFill>
                <a:effectLst/>
                <a:latin typeface="Times New Roman" panose="02020603050405020304" pitchFamily="18" charset="0"/>
                <a:cs typeface="Times New Roman" panose="02020603050405020304" pitchFamily="18" charset="0"/>
              </a:rPr>
              <a:t>Prototyping tools are expensive.</a:t>
            </a:r>
          </a:p>
          <a:p>
            <a:pPr algn="just">
              <a:buFont typeface="+mj-lt"/>
              <a:buAutoNum type="arabicPeriod"/>
            </a:pPr>
            <a:r>
              <a:rPr lang="en-US" sz="2800" b="0" i="0" dirty="0">
                <a:solidFill>
                  <a:srgbClr val="000000"/>
                </a:solidFill>
                <a:effectLst/>
                <a:latin typeface="Times New Roman" panose="02020603050405020304" pitchFamily="18" charset="0"/>
                <a:cs typeface="Times New Roman" panose="02020603050405020304" pitchFamily="18" charset="0"/>
              </a:rPr>
              <a:t>Special tools &amp; techniques are required to build a prototype.</a:t>
            </a:r>
          </a:p>
          <a:p>
            <a:pPr algn="just">
              <a:buFont typeface="+mj-lt"/>
              <a:buAutoNum type="arabicPeriod"/>
            </a:pPr>
            <a:r>
              <a:rPr lang="en-US" sz="2800" b="0" i="0" dirty="0">
                <a:solidFill>
                  <a:srgbClr val="000000"/>
                </a:solidFill>
                <a:effectLst/>
                <a:latin typeface="Times New Roman" panose="02020603050405020304" pitchFamily="18" charset="0"/>
                <a:cs typeface="Times New Roman" panose="02020603050405020304" pitchFamily="18" charset="0"/>
              </a:rPr>
              <a:t>It is a time-consuming process.</a:t>
            </a:r>
          </a:p>
        </p:txBody>
      </p:sp>
    </p:spTree>
    <p:extLst>
      <p:ext uri="{BB962C8B-B14F-4D97-AF65-F5344CB8AC3E}">
        <p14:creationId xmlns:p14="http://schemas.microsoft.com/office/powerpoint/2010/main" val="6911187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07649"/>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F99580CD-4C5E-5464-D5EC-C4F53FAF1250}"/>
              </a:ext>
            </a:extLst>
          </p:cNvPr>
          <p:cNvSpPr txBox="1"/>
          <p:nvPr/>
        </p:nvSpPr>
        <p:spPr>
          <a:xfrm>
            <a:off x="457197" y="107649"/>
            <a:ext cx="8229601" cy="4339650"/>
          </a:xfrm>
          <a:prstGeom prst="rect">
            <a:avLst/>
          </a:prstGeom>
          <a:noFill/>
        </p:spPr>
        <p:txBody>
          <a:bodyPr wrap="square">
            <a:spAutoFit/>
          </a:bodyPr>
          <a:lstStyle/>
          <a:p>
            <a:pPr algn="just"/>
            <a:r>
              <a:rPr lang="en-IN" sz="2400" b="0" i="0" dirty="0">
                <a:solidFill>
                  <a:srgbClr val="FF0000"/>
                </a:solidFill>
                <a:effectLst/>
                <a:latin typeface="Times New Roman" panose="02020603050405020304" pitchFamily="18" charset="0"/>
                <a:cs typeface="Times New Roman" panose="02020603050405020304" pitchFamily="18" charset="0"/>
              </a:rPr>
              <a:t>Agile Model</a:t>
            </a:r>
          </a:p>
          <a:p>
            <a:pPr algn="just"/>
            <a:r>
              <a:rPr lang="en-US" b="0" i="0" dirty="0">
                <a:solidFill>
                  <a:srgbClr val="000000"/>
                </a:solidFill>
                <a:effectLst/>
                <a:latin typeface="inter-regular"/>
              </a:rPr>
              <a:t>Means move quickly –if completely develop takes more time </a:t>
            </a:r>
            <a:r>
              <a:rPr lang="en-US" dirty="0">
                <a:solidFill>
                  <a:srgbClr val="000000"/>
                </a:solidFill>
                <a:latin typeface="inter-regular"/>
              </a:rPr>
              <a:t>to finish</a:t>
            </a:r>
            <a:endParaRPr lang="en-US" b="0" i="0" dirty="0">
              <a:solidFill>
                <a:srgbClr val="000000"/>
              </a:solidFill>
              <a:effectLst/>
              <a:latin typeface="inter-regular"/>
            </a:endParaRPr>
          </a:p>
          <a:p>
            <a:pPr algn="just"/>
            <a:r>
              <a:rPr lang="en-US" dirty="0">
                <a:solidFill>
                  <a:srgbClr val="000000"/>
                </a:solidFill>
                <a:latin typeface="inter-regular"/>
              </a:rPr>
              <a:t>Project divided into small projects but work parallelly</a:t>
            </a:r>
          </a:p>
          <a:p>
            <a:pPr algn="just"/>
            <a:r>
              <a:rPr lang="en-US" dirty="0">
                <a:solidFill>
                  <a:srgbClr val="000000"/>
                </a:solidFill>
                <a:latin typeface="inter-regular"/>
              </a:rPr>
              <a:t>All work in same label to share knowledge freely(startups)</a:t>
            </a:r>
          </a:p>
          <a:p>
            <a:pPr algn="just"/>
            <a:r>
              <a:rPr lang="en-US" b="0" i="0" dirty="0">
                <a:solidFill>
                  <a:srgbClr val="000000"/>
                </a:solidFill>
                <a:effectLst/>
                <a:latin typeface="inter-regular"/>
              </a:rPr>
              <a:t>Parallel development</a:t>
            </a:r>
          </a:p>
          <a:p>
            <a:pPr algn="just"/>
            <a:r>
              <a:rPr lang="en-US" dirty="0">
                <a:solidFill>
                  <a:srgbClr val="000000"/>
                </a:solidFill>
                <a:latin typeface="inter-regular"/>
              </a:rPr>
              <a:t>Not work more in requirement gathering, documentation, design</a:t>
            </a:r>
          </a:p>
          <a:p>
            <a:pPr algn="just"/>
            <a:r>
              <a:rPr lang="en-US" dirty="0">
                <a:solidFill>
                  <a:srgbClr val="000000"/>
                </a:solidFill>
                <a:latin typeface="inter-regular"/>
              </a:rPr>
              <a:t>More focus on development and release fast</a:t>
            </a:r>
          </a:p>
          <a:p>
            <a:pPr algn="just"/>
            <a:r>
              <a:rPr lang="en-US" b="0" i="0" dirty="0">
                <a:solidFill>
                  <a:srgbClr val="000000"/>
                </a:solidFill>
                <a:effectLst/>
                <a:latin typeface="inter-regular"/>
              </a:rPr>
              <a:t>Every week customer meeting</a:t>
            </a:r>
          </a:p>
          <a:p>
            <a:pPr algn="just"/>
            <a:r>
              <a:rPr lang="en-US" dirty="0">
                <a:solidFill>
                  <a:srgbClr val="000000"/>
                </a:solidFill>
                <a:latin typeface="inter-regular"/>
              </a:rPr>
              <a:t>Version are coming very fast how( laptop example)</a:t>
            </a:r>
            <a:endParaRPr lang="en-US" b="0" i="0" dirty="0">
              <a:solidFill>
                <a:srgbClr val="000000"/>
              </a:solidFill>
              <a:effectLst/>
              <a:latin typeface="inter-regular"/>
            </a:endParaRPr>
          </a:p>
          <a:p>
            <a:pPr algn="just"/>
            <a:r>
              <a:rPr lang="en-US" dirty="0">
                <a:solidFill>
                  <a:srgbClr val="000000"/>
                </a:solidFill>
                <a:latin typeface="inter-regular"/>
              </a:rPr>
              <a:t>Large project –breaks into chunks-called-iteration</a:t>
            </a:r>
          </a:p>
          <a:p>
            <a:pPr algn="just"/>
            <a:r>
              <a:rPr lang="en-US" b="0" i="0" dirty="0">
                <a:solidFill>
                  <a:srgbClr val="000000"/>
                </a:solidFill>
                <a:effectLst/>
                <a:latin typeface="inter-regular"/>
              </a:rPr>
              <a:t>Develop-test-release-feedback(major)</a:t>
            </a:r>
            <a:r>
              <a:rPr lang="en-US" b="0" i="0" dirty="0" err="1">
                <a:solidFill>
                  <a:srgbClr val="000000"/>
                </a:solidFill>
                <a:effectLst/>
                <a:latin typeface="inter-regular"/>
              </a:rPr>
              <a:t>eg.online</a:t>
            </a:r>
            <a:r>
              <a:rPr lang="en-US" b="0" i="0" dirty="0">
                <a:solidFill>
                  <a:srgbClr val="000000"/>
                </a:solidFill>
                <a:effectLst/>
                <a:latin typeface="inter-regular"/>
              </a:rPr>
              <a:t> pur</a:t>
            </a:r>
            <a:r>
              <a:rPr lang="en-US" dirty="0">
                <a:solidFill>
                  <a:srgbClr val="000000"/>
                </a:solidFill>
                <a:latin typeface="inter-regular"/>
              </a:rPr>
              <a:t>chase we check feedback</a:t>
            </a:r>
          </a:p>
          <a:p>
            <a:pPr algn="just"/>
            <a:r>
              <a:rPr lang="en-US" dirty="0">
                <a:solidFill>
                  <a:srgbClr val="000000"/>
                </a:solidFill>
                <a:latin typeface="inter-regular"/>
              </a:rPr>
              <a:t>Iteration developed in parallel.</a:t>
            </a:r>
            <a:endParaRPr lang="en-US" b="0" i="0" dirty="0">
              <a:solidFill>
                <a:srgbClr val="000000"/>
              </a:solidFill>
              <a:effectLst/>
              <a:latin typeface="inter-regular"/>
            </a:endParaRPr>
          </a:p>
          <a:p>
            <a:pPr algn="just"/>
            <a:r>
              <a:rPr lang="en-US" dirty="0">
                <a:solidFill>
                  <a:srgbClr val="000000"/>
                </a:solidFill>
                <a:latin typeface="inter-regular"/>
              </a:rPr>
              <a:t>Large project-chunks-Release-feedback-enhance-re-release</a:t>
            </a:r>
          </a:p>
          <a:p>
            <a:pPr algn="just"/>
            <a:endParaRPr lang="en-US" dirty="0">
              <a:solidFill>
                <a:srgbClr val="000000"/>
              </a:solidFill>
              <a:latin typeface="inter-regular"/>
            </a:endParaRPr>
          </a:p>
          <a:p>
            <a:pPr algn="just"/>
            <a:endParaRPr lang="en-US" b="0" i="0" dirty="0">
              <a:solidFill>
                <a:srgbClr val="000000"/>
              </a:solidFill>
              <a:effectLst/>
              <a:latin typeface="inter-regular"/>
            </a:endParaRPr>
          </a:p>
        </p:txBody>
      </p:sp>
      <p:pic>
        <p:nvPicPr>
          <p:cNvPr id="8" name="Picture 7">
            <a:extLst>
              <a:ext uri="{FF2B5EF4-FFF2-40B4-BE49-F238E27FC236}">
                <a16:creationId xmlns:a16="http://schemas.microsoft.com/office/drawing/2014/main" id="{FFDE0956-CA56-064F-9846-644436678C30}"/>
              </a:ext>
            </a:extLst>
          </p:cNvPr>
          <p:cNvPicPr>
            <a:picLocks noChangeAspect="1"/>
          </p:cNvPicPr>
          <p:nvPr/>
        </p:nvPicPr>
        <p:blipFill>
          <a:blip r:embed="rId2"/>
          <a:stretch>
            <a:fillRect/>
          </a:stretch>
        </p:blipFill>
        <p:spPr>
          <a:xfrm>
            <a:off x="2035038" y="4191000"/>
            <a:ext cx="5226319" cy="2643618"/>
          </a:xfrm>
          <a:prstGeom prst="rect">
            <a:avLst/>
          </a:prstGeom>
        </p:spPr>
      </p:pic>
    </p:spTree>
    <p:extLst>
      <p:ext uri="{BB962C8B-B14F-4D97-AF65-F5344CB8AC3E}">
        <p14:creationId xmlns:p14="http://schemas.microsoft.com/office/powerpoint/2010/main" val="32935721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43</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TextBox 7">
            <a:extLst>
              <a:ext uri="{FF2B5EF4-FFF2-40B4-BE49-F238E27FC236}">
                <a16:creationId xmlns:a16="http://schemas.microsoft.com/office/drawing/2014/main" id="{3561BC37-CB53-4A4D-F32F-D02F84BC8A00}"/>
              </a:ext>
            </a:extLst>
          </p:cNvPr>
          <p:cNvSpPr txBox="1"/>
          <p:nvPr/>
        </p:nvSpPr>
        <p:spPr>
          <a:xfrm>
            <a:off x="228601" y="660645"/>
            <a:ext cx="8229600" cy="5122941"/>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000" b="0" i="0" dirty="0">
                <a:solidFill>
                  <a:srgbClr val="333333"/>
                </a:solidFill>
                <a:effectLst/>
                <a:latin typeface="inter-regular"/>
              </a:rPr>
              <a:t>Agile methods break tasks into smaller iterations, or parts do not directly involve long term planning. The project scope and requirements are laid down at the beginning of the development process. </a:t>
            </a:r>
            <a:endParaRPr lang="en-US" sz="2000" dirty="0">
              <a:solidFill>
                <a:srgbClr val="333333"/>
              </a:solidFill>
              <a:latin typeface="inter-regular"/>
            </a:endParaRPr>
          </a:p>
          <a:p>
            <a:pPr marL="342900" indent="-342900">
              <a:lnSpc>
                <a:spcPct val="150000"/>
              </a:lnSpc>
              <a:buFont typeface="Wingdings" panose="05000000000000000000" pitchFamily="2" charset="2"/>
              <a:buChar char="Ø"/>
            </a:pPr>
            <a:r>
              <a:rPr lang="en-US" sz="2000" b="0" i="0" dirty="0">
                <a:solidFill>
                  <a:srgbClr val="333333"/>
                </a:solidFill>
                <a:effectLst/>
                <a:latin typeface="inter-regular"/>
              </a:rPr>
              <a:t>Plans regarding the number of iterations, the duration and the scope of each iteration are clearly defined in advance.</a:t>
            </a:r>
          </a:p>
          <a:p>
            <a:pPr marL="342900" indent="-342900">
              <a:lnSpc>
                <a:spcPct val="150000"/>
              </a:lnSpc>
              <a:buFont typeface="Wingdings" panose="05000000000000000000" pitchFamily="2" charset="2"/>
              <a:buChar char="Ø"/>
            </a:pPr>
            <a:r>
              <a:rPr lang="en-US" sz="2000" b="0" i="0" dirty="0">
                <a:solidFill>
                  <a:srgbClr val="333333"/>
                </a:solidFill>
                <a:effectLst/>
                <a:latin typeface="inter-regular"/>
              </a:rPr>
              <a:t>The division of the entire project into smaller parts helps to minimize the project risk and to reduce the overall project delivery time requirements. </a:t>
            </a:r>
          </a:p>
          <a:p>
            <a:pPr marL="342900" indent="-342900">
              <a:lnSpc>
                <a:spcPct val="150000"/>
              </a:lnSpc>
              <a:buFont typeface="Wingdings" panose="05000000000000000000" pitchFamily="2" charset="2"/>
              <a:buChar char="Ø"/>
            </a:pPr>
            <a:r>
              <a:rPr lang="en-US" sz="2000" b="0" i="0" dirty="0">
                <a:solidFill>
                  <a:srgbClr val="333333"/>
                </a:solidFill>
                <a:effectLst/>
                <a:latin typeface="inter-regular"/>
              </a:rPr>
              <a:t>Each iteration involves a team working through a full software development life cycle including planning, requirements analysis, design, coding, and testing before a working product is demonstrated to the client.</a:t>
            </a:r>
            <a:endParaRPr lang="en-IN" sz="2000" dirty="0"/>
          </a:p>
        </p:txBody>
      </p:sp>
    </p:spTree>
    <p:extLst>
      <p:ext uri="{BB962C8B-B14F-4D97-AF65-F5344CB8AC3E}">
        <p14:creationId xmlns:p14="http://schemas.microsoft.com/office/powerpoint/2010/main" val="42468867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endParaRPr lang="en-US" sz="3600" dirty="0">
              <a:solidFill>
                <a:srgbClr val="FF000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TextBox 7">
            <a:extLst>
              <a:ext uri="{FF2B5EF4-FFF2-40B4-BE49-F238E27FC236}">
                <a16:creationId xmlns:a16="http://schemas.microsoft.com/office/drawing/2014/main" id="{6470C352-B3D4-B670-515D-499A5E9FEFF6}"/>
              </a:ext>
            </a:extLst>
          </p:cNvPr>
          <p:cNvSpPr txBox="1"/>
          <p:nvPr/>
        </p:nvSpPr>
        <p:spPr>
          <a:xfrm>
            <a:off x="228600" y="228600"/>
            <a:ext cx="8534400" cy="5576976"/>
          </a:xfrm>
          <a:prstGeom prst="rect">
            <a:avLst/>
          </a:prstGeom>
          <a:noFill/>
        </p:spPr>
        <p:txBody>
          <a:bodyPr wrap="square">
            <a:spAutoFit/>
          </a:bodyPr>
          <a:lstStyle/>
          <a:p>
            <a:pPr>
              <a:lnSpc>
                <a:spcPct val="150000"/>
              </a:lnSpc>
            </a:pPr>
            <a:r>
              <a:rPr lang="en-US" sz="2000" b="1" i="0" dirty="0">
                <a:solidFill>
                  <a:srgbClr val="333333"/>
                </a:solidFill>
                <a:effectLst/>
                <a:latin typeface="Times New Roman" panose="02020603050405020304" pitchFamily="18" charset="0"/>
                <a:cs typeface="Times New Roman" panose="02020603050405020304" pitchFamily="18" charset="0"/>
              </a:rPr>
              <a:t>1.Requirements gathering:</a:t>
            </a:r>
            <a:r>
              <a:rPr lang="en-US" sz="2000" b="0" i="0" dirty="0">
                <a:solidFill>
                  <a:srgbClr val="333333"/>
                </a:solidFill>
                <a:effectLst/>
                <a:latin typeface="Times New Roman" panose="02020603050405020304" pitchFamily="18" charset="0"/>
                <a:cs typeface="Times New Roman" panose="02020603050405020304" pitchFamily="18" charset="0"/>
              </a:rPr>
              <a:t> In this phase, you must define the requirements. You should explain business opportunities and plan the time and effort needed to build the project. Based on this information, you can evaluate technical and economic feasibility.</a:t>
            </a:r>
          </a:p>
          <a:p>
            <a:pPr algn="just">
              <a:lnSpc>
                <a:spcPct val="150000"/>
              </a:lnSpc>
            </a:pPr>
            <a:r>
              <a:rPr lang="en-US" sz="2000" b="1" i="0" dirty="0">
                <a:solidFill>
                  <a:srgbClr val="333333"/>
                </a:solidFill>
                <a:effectLst/>
                <a:latin typeface="Times New Roman" panose="02020603050405020304" pitchFamily="18" charset="0"/>
                <a:cs typeface="Times New Roman" panose="02020603050405020304" pitchFamily="18" charset="0"/>
              </a:rPr>
              <a:t>2. Design the requirements:</a:t>
            </a:r>
            <a:r>
              <a:rPr lang="en-US" sz="2000" b="0" i="0" dirty="0">
                <a:solidFill>
                  <a:srgbClr val="333333"/>
                </a:solidFill>
                <a:effectLst/>
                <a:latin typeface="Times New Roman" panose="02020603050405020304" pitchFamily="18" charset="0"/>
                <a:cs typeface="Times New Roman" panose="02020603050405020304" pitchFamily="18" charset="0"/>
              </a:rPr>
              <a:t> When you have identified the project, work with stakeholders to define requirements. You can use the user flow diagram or the high-level UML diagram to show the work of new features and show how it will apply to your existing system.</a:t>
            </a:r>
          </a:p>
          <a:p>
            <a:pPr algn="just">
              <a:lnSpc>
                <a:spcPct val="150000"/>
              </a:lnSpc>
            </a:pPr>
            <a:r>
              <a:rPr lang="en-US" sz="2000" b="1" i="0" dirty="0">
                <a:solidFill>
                  <a:srgbClr val="333333"/>
                </a:solidFill>
                <a:effectLst/>
                <a:latin typeface="Times New Roman" panose="02020603050405020304" pitchFamily="18" charset="0"/>
                <a:cs typeface="Times New Roman" panose="02020603050405020304" pitchFamily="18" charset="0"/>
              </a:rPr>
              <a:t>3. Construction/ iteration:</a:t>
            </a:r>
            <a:r>
              <a:rPr lang="en-US" sz="2000" b="0" i="0" dirty="0">
                <a:solidFill>
                  <a:srgbClr val="333333"/>
                </a:solidFill>
                <a:effectLst/>
                <a:latin typeface="Times New Roman" panose="02020603050405020304" pitchFamily="18" charset="0"/>
                <a:cs typeface="Times New Roman" panose="02020603050405020304" pitchFamily="18" charset="0"/>
              </a:rPr>
              <a:t> When the team defines the requirements, the work begins. Designers and developers start working on their project, which aims to deploy a working product. The product will undergo various stages of improvement, so it includes simple, minimal functionality.</a:t>
            </a:r>
          </a:p>
        </p:txBody>
      </p:sp>
    </p:spTree>
    <p:extLst>
      <p:ext uri="{BB962C8B-B14F-4D97-AF65-F5344CB8AC3E}">
        <p14:creationId xmlns:p14="http://schemas.microsoft.com/office/powerpoint/2010/main" val="37239653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16" name="TextBox 15">
            <a:extLst>
              <a:ext uri="{FF2B5EF4-FFF2-40B4-BE49-F238E27FC236}">
                <a16:creationId xmlns:a16="http://schemas.microsoft.com/office/drawing/2014/main" id="{D1D4196D-803E-5588-9487-CB2B8046C839}"/>
              </a:ext>
            </a:extLst>
          </p:cNvPr>
          <p:cNvSpPr txBox="1"/>
          <p:nvPr/>
        </p:nvSpPr>
        <p:spPr>
          <a:xfrm>
            <a:off x="304800" y="457200"/>
            <a:ext cx="8229600" cy="2535566"/>
          </a:xfrm>
          <a:prstGeom prst="rect">
            <a:avLst/>
          </a:prstGeom>
          <a:noFill/>
        </p:spPr>
        <p:txBody>
          <a:bodyPr wrap="square">
            <a:spAutoFit/>
          </a:bodyPr>
          <a:lstStyle/>
          <a:p>
            <a:pPr algn="just">
              <a:lnSpc>
                <a:spcPct val="150000"/>
              </a:lnSpc>
            </a:pPr>
            <a:r>
              <a:rPr lang="en-US" sz="1800" b="1" i="0" dirty="0">
                <a:solidFill>
                  <a:srgbClr val="333333"/>
                </a:solidFill>
                <a:effectLst/>
                <a:latin typeface="Times New Roman" panose="02020603050405020304" pitchFamily="18" charset="0"/>
                <a:cs typeface="Times New Roman" panose="02020603050405020304" pitchFamily="18" charset="0"/>
              </a:rPr>
              <a:t>4.Testing:</a:t>
            </a:r>
            <a:r>
              <a:rPr lang="en-US" sz="1800" b="0" i="0" dirty="0">
                <a:solidFill>
                  <a:srgbClr val="333333"/>
                </a:solidFill>
                <a:effectLst/>
                <a:latin typeface="Times New Roman" panose="02020603050405020304" pitchFamily="18" charset="0"/>
                <a:cs typeface="Times New Roman" panose="02020603050405020304" pitchFamily="18" charset="0"/>
              </a:rPr>
              <a:t> In this phase, the Quality Assurance team examines the product's performance and looks for the bug.</a:t>
            </a:r>
          </a:p>
          <a:p>
            <a:pPr algn="just">
              <a:lnSpc>
                <a:spcPct val="150000"/>
              </a:lnSpc>
            </a:pPr>
            <a:r>
              <a:rPr lang="en-US" sz="1800" b="1" i="0" dirty="0">
                <a:solidFill>
                  <a:srgbClr val="333333"/>
                </a:solidFill>
                <a:effectLst/>
                <a:latin typeface="Times New Roman" panose="02020603050405020304" pitchFamily="18" charset="0"/>
                <a:cs typeface="Times New Roman" panose="02020603050405020304" pitchFamily="18" charset="0"/>
              </a:rPr>
              <a:t>5. Deployment:</a:t>
            </a:r>
            <a:r>
              <a:rPr lang="en-US" sz="1800" b="0" i="0" dirty="0">
                <a:solidFill>
                  <a:srgbClr val="333333"/>
                </a:solidFill>
                <a:effectLst/>
                <a:latin typeface="Times New Roman" panose="02020603050405020304" pitchFamily="18" charset="0"/>
                <a:cs typeface="Times New Roman" panose="02020603050405020304" pitchFamily="18" charset="0"/>
              </a:rPr>
              <a:t> In this phase, the team issues a product for the user's work environment.</a:t>
            </a:r>
          </a:p>
          <a:p>
            <a:pPr algn="just">
              <a:lnSpc>
                <a:spcPct val="150000"/>
              </a:lnSpc>
            </a:pPr>
            <a:r>
              <a:rPr lang="en-US" sz="1800" b="1" i="0" dirty="0">
                <a:solidFill>
                  <a:srgbClr val="333333"/>
                </a:solidFill>
                <a:effectLst/>
                <a:latin typeface="Times New Roman" panose="02020603050405020304" pitchFamily="18" charset="0"/>
                <a:cs typeface="Times New Roman" panose="02020603050405020304" pitchFamily="18" charset="0"/>
              </a:rPr>
              <a:t>6. Feedback:</a:t>
            </a:r>
            <a:r>
              <a:rPr lang="en-US" sz="1800" b="0" i="0" dirty="0">
                <a:solidFill>
                  <a:srgbClr val="333333"/>
                </a:solidFill>
                <a:effectLst/>
                <a:latin typeface="Times New Roman" panose="02020603050405020304" pitchFamily="18" charset="0"/>
                <a:cs typeface="Times New Roman" panose="02020603050405020304" pitchFamily="18" charset="0"/>
              </a:rPr>
              <a:t> After releasing the product, the last step is feedback. In this, the team receives feedback about the product and works through the feedback.</a:t>
            </a:r>
          </a:p>
        </p:txBody>
      </p:sp>
      <p:pic>
        <p:nvPicPr>
          <p:cNvPr id="17" name="Picture 16">
            <a:extLst>
              <a:ext uri="{FF2B5EF4-FFF2-40B4-BE49-F238E27FC236}">
                <a16:creationId xmlns:a16="http://schemas.microsoft.com/office/drawing/2014/main" id="{EBC609DB-237B-FA97-14CC-558A475DAA3F}"/>
              </a:ext>
            </a:extLst>
          </p:cNvPr>
          <p:cNvPicPr>
            <a:picLocks noChangeAspect="1"/>
          </p:cNvPicPr>
          <p:nvPr/>
        </p:nvPicPr>
        <p:blipFill>
          <a:blip r:embed="rId2"/>
          <a:stretch>
            <a:fillRect/>
          </a:stretch>
        </p:blipFill>
        <p:spPr>
          <a:xfrm>
            <a:off x="1143000" y="3686056"/>
            <a:ext cx="7010400" cy="2943344"/>
          </a:xfrm>
          <a:prstGeom prst="rect">
            <a:avLst/>
          </a:prstGeom>
        </p:spPr>
      </p:pic>
    </p:spTree>
    <p:extLst>
      <p:ext uri="{BB962C8B-B14F-4D97-AF65-F5344CB8AC3E}">
        <p14:creationId xmlns:p14="http://schemas.microsoft.com/office/powerpoint/2010/main" val="14844470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07649"/>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graphicFrame>
        <p:nvGraphicFramePr>
          <p:cNvPr id="8" name="Table 9">
            <a:extLst>
              <a:ext uri="{FF2B5EF4-FFF2-40B4-BE49-F238E27FC236}">
                <a16:creationId xmlns:a16="http://schemas.microsoft.com/office/drawing/2014/main" id="{2B114B89-4968-059B-00D8-382EB6C2E9F7}"/>
              </a:ext>
            </a:extLst>
          </p:cNvPr>
          <p:cNvGraphicFramePr>
            <a:graphicFrameLocks noGrp="1"/>
          </p:cNvGraphicFramePr>
          <p:nvPr>
            <p:extLst>
              <p:ext uri="{D42A27DB-BD31-4B8C-83A1-F6EECF244321}">
                <p14:modId xmlns:p14="http://schemas.microsoft.com/office/powerpoint/2010/main" val="1451702359"/>
              </p:ext>
            </p:extLst>
          </p:nvPr>
        </p:nvGraphicFramePr>
        <p:xfrm>
          <a:off x="152401" y="304800"/>
          <a:ext cx="8839200" cy="8138160"/>
        </p:xfrm>
        <a:graphic>
          <a:graphicData uri="http://schemas.openxmlformats.org/drawingml/2006/table">
            <a:tbl>
              <a:tblPr firstRow="1" bandRow="1">
                <a:tableStyleId>{5C22544A-7EE6-4342-B048-85BDC9FD1C3A}</a:tableStyleId>
              </a:tblPr>
              <a:tblGrid>
                <a:gridCol w="1250423">
                  <a:extLst>
                    <a:ext uri="{9D8B030D-6E8A-4147-A177-3AD203B41FA5}">
                      <a16:colId xmlns:a16="http://schemas.microsoft.com/office/drawing/2014/main" val="3527282989"/>
                    </a:ext>
                  </a:extLst>
                </a:gridCol>
                <a:gridCol w="1121069">
                  <a:extLst>
                    <a:ext uri="{9D8B030D-6E8A-4147-A177-3AD203B41FA5}">
                      <a16:colId xmlns:a16="http://schemas.microsoft.com/office/drawing/2014/main" val="131020562"/>
                    </a:ext>
                  </a:extLst>
                </a:gridCol>
                <a:gridCol w="1293541">
                  <a:extLst>
                    <a:ext uri="{9D8B030D-6E8A-4147-A177-3AD203B41FA5}">
                      <a16:colId xmlns:a16="http://schemas.microsoft.com/office/drawing/2014/main" val="3709771809"/>
                    </a:ext>
                  </a:extLst>
                </a:gridCol>
                <a:gridCol w="1522293">
                  <a:extLst>
                    <a:ext uri="{9D8B030D-6E8A-4147-A177-3AD203B41FA5}">
                      <a16:colId xmlns:a16="http://schemas.microsoft.com/office/drawing/2014/main" val="3695293541"/>
                    </a:ext>
                  </a:extLst>
                </a:gridCol>
                <a:gridCol w="1325770">
                  <a:extLst>
                    <a:ext uri="{9D8B030D-6E8A-4147-A177-3AD203B41FA5}">
                      <a16:colId xmlns:a16="http://schemas.microsoft.com/office/drawing/2014/main" val="980227220"/>
                    </a:ext>
                  </a:extLst>
                </a:gridCol>
                <a:gridCol w="1377505">
                  <a:extLst>
                    <a:ext uri="{9D8B030D-6E8A-4147-A177-3AD203B41FA5}">
                      <a16:colId xmlns:a16="http://schemas.microsoft.com/office/drawing/2014/main" val="2834436137"/>
                    </a:ext>
                  </a:extLst>
                </a:gridCol>
                <a:gridCol w="948599">
                  <a:extLst>
                    <a:ext uri="{9D8B030D-6E8A-4147-A177-3AD203B41FA5}">
                      <a16:colId xmlns:a16="http://schemas.microsoft.com/office/drawing/2014/main" val="2480019298"/>
                    </a:ext>
                  </a:extLst>
                </a:gridCol>
              </a:tblGrid>
              <a:tr h="370840">
                <a:tc>
                  <a:txBody>
                    <a:bodyPr/>
                    <a:lstStyle/>
                    <a:p>
                      <a:r>
                        <a:rPr lang="en-US" dirty="0"/>
                        <a:t>Waterfall model</a:t>
                      </a:r>
                      <a:endParaRPr lang="en-IN" dirty="0"/>
                    </a:p>
                  </a:txBody>
                  <a:tcPr/>
                </a:tc>
                <a:tc>
                  <a:txBody>
                    <a:bodyPr/>
                    <a:lstStyle/>
                    <a:p>
                      <a:r>
                        <a:rPr lang="en-US" dirty="0"/>
                        <a:t>Iterative model</a:t>
                      </a:r>
                      <a:endParaRPr lang="en-IN" dirty="0"/>
                    </a:p>
                  </a:txBody>
                  <a:tcPr/>
                </a:tc>
                <a:tc>
                  <a:txBody>
                    <a:bodyPr/>
                    <a:lstStyle/>
                    <a:p>
                      <a:r>
                        <a:rPr lang="en-US" dirty="0"/>
                        <a:t>Prototype model</a:t>
                      </a:r>
                      <a:endParaRPr lang="en-IN" dirty="0"/>
                    </a:p>
                  </a:txBody>
                  <a:tcPr/>
                </a:tc>
                <a:tc>
                  <a:txBody>
                    <a:bodyPr/>
                    <a:lstStyle/>
                    <a:p>
                      <a:r>
                        <a:rPr lang="en-US" dirty="0"/>
                        <a:t>Incremental model</a:t>
                      </a:r>
                      <a:endParaRPr lang="en-IN" dirty="0"/>
                    </a:p>
                  </a:txBody>
                  <a:tcPr/>
                </a:tc>
                <a:tc>
                  <a:txBody>
                    <a:bodyPr/>
                    <a:lstStyle/>
                    <a:p>
                      <a:r>
                        <a:rPr lang="en-US" dirty="0"/>
                        <a:t>Evolutionary model</a:t>
                      </a:r>
                      <a:endParaRPr lang="en-IN" dirty="0"/>
                    </a:p>
                  </a:txBody>
                  <a:tcPr/>
                </a:tc>
                <a:tc>
                  <a:txBody>
                    <a:bodyPr/>
                    <a:lstStyle/>
                    <a:p>
                      <a:r>
                        <a:rPr lang="en-US" dirty="0"/>
                        <a:t>Spiral model</a:t>
                      </a:r>
                      <a:endParaRPr lang="en-IN" dirty="0"/>
                    </a:p>
                  </a:txBody>
                  <a:tcPr/>
                </a:tc>
                <a:tc>
                  <a:txBody>
                    <a:bodyPr/>
                    <a:lstStyle/>
                    <a:p>
                      <a:r>
                        <a:rPr lang="en-US" dirty="0"/>
                        <a:t>Agile model</a:t>
                      </a:r>
                      <a:endParaRPr lang="en-IN" dirty="0"/>
                    </a:p>
                  </a:txBody>
                  <a:tcPr/>
                </a:tc>
                <a:extLst>
                  <a:ext uri="{0D108BD9-81ED-4DB2-BD59-A6C34878D82A}">
                    <a16:rowId xmlns:a16="http://schemas.microsoft.com/office/drawing/2014/main" val="3464880111"/>
                  </a:ext>
                </a:extLst>
              </a:tr>
              <a:tr h="370840">
                <a:tc>
                  <a:txBody>
                    <a:bodyPr/>
                    <a:lstStyle/>
                    <a:p>
                      <a:pPr marL="285750" indent="-285750">
                        <a:buFont typeface="Wingdings" panose="05000000000000000000" pitchFamily="2" charset="2"/>
                        <a:buChar char="Ø"/>
                      </a:pPr>
                      <a:r>
                        <a:rPr lang="en-US" dirty="0"/>
                        <a:t>Basic,</a:t>
                      </a:r>
                    </a:p>
                    <a:p>
                      <a:r>
                        <a:rPr lang="en-US" dirty="0"/>
                        <a:t>Rigid,</a:t>
                      </a:r>
                    </a:p>
                    <a:p>
                      <a:r>
                        <a:rPr lang="en-US" dirty="0"/>
                        <a:t>Inflexible,</a:t>
                      </a:r>
                    </a:p>
                    <a:p>
                      <a:r>
                        <a:rPr lang="en-US" dirty="0"/>
                        <a:t>(Start and end user interaction)</a:t>
                      </a:r>
                      <a:endParaRPr lang="en-IN" dirty="0"/>
                    </a:p>
                  </a:txBody>
                  <a:tcPr/>
                </a:tc>
                <a:tc>
                  <a:txBody>
                    <a:bodyPr/>
                    <a:lstStyle/>
                    <a:p>
                      <a:pPr marL="285750" indent="-285750">
                        <a:buFont typeface="Wingdings" panose="05000000000000000000" pitchFamily="2" charset="2"/>
                        <a:buChar char="Ø"/>
                      </a:pPr>
                      <a:r>
                        <a:rPr lang="en-US" dirty="0"/>
                        <a:t>Problem well understood</a:t>
                      </a:r>
                    </a:p>
                    <a:p>
                      <a:pPr marL="285750" indent="-285750">
                        <a:buFont typeface="Wingdings" panose="05000000000000000000" pitchFamily="2" charset="2"/>
                        <a:buChar char="Ø"/>
                      </a:pPr>
                      <a:r>
                        <a:rPr lang="en-US" dirty="0"/>
                        <a:t>After each stage feedback can be given</a:t>
                      </a:r>
                      <a:endParaRPr lang="en-IN" dirty="0"/>
                    </a:p>
                  </a:txBody>
                  <a:tcPr/>
                </a:tc>
                <a:tc>
                  <a:txBody>
                    <a:bodyPr/>
                    <a:lstStyle/>
                    <a:p>
                      <a:pPr marL="285750" indent="-285750">
                        <a:buFont typeface="Wingdings" panose="05000000000000000000" pitchFamily="2" charset="2"/>
                        <a:buChar char="Ø"/>
                      </a:pPr>
                      <a:r>
                        <a:rPr lang="en-US" dirty="0"/>
                        <a:t>User requirement not cleared.</a:t>
                      </a:r>
                    </a:p>
                    <a:p>
                      <a:pPr marL="285750" indent="-285750">
                        <a:buFont typeface="Wingdings" panose="05000000000000000000" pitchFamily="2" charset="2"/>
                        <a:buChar char="Ø"/>
                      </a:pPr>
                      <a:r>
                        <a:rPr lang="en-US" dirty="0"/>
                        <a:t>No early lock on requirement.</a:t>
                      </a:r>
                    </a:p>
                    <a:p>
                      <a:pPr marL="285750" indent="-285750">
                        <a:buFont typeface="Wingdings" panose="05000000000000000000" pitchFamily="2" charset="2"/>
                        <a:buChar char="Ø"/>
                      </a:pPr>
                      <a:r>
                        <a:rPr lang="en-US" dirty="0"/>
                        <a:t>High user involvement</a:t>
                      </a:r>
                    </a:p>
                    <a:p>
                      <a:pPr marL="285750" indent="-285750">
                        <a:buFont typeface="Wingdings" panose="05000000000000000000" pitchFamily="2" charset="2"/>
                        <a:buChar char="Ø"/>
                      </a:pPr>
                      <a:r>
                        <a:rPr lang="en-US" dirty="0"/>
                        <a:t>Reusability</a:t>
                      </a:r>
                    </a:p>
                  </a:txBody>
                  <a:tcPr/>
                </a:tc>
                <a:tc>
                  <a:txBody>
                    <a:bodyPr/>
                    <a:lstStyle/>
                    <a:p>
                      <a:pPr marL="285750" indent="-285750">
                        <a:buFont typeface="Wingdings" panose="05000000000000000000" pitchFamily="2" charset="2"/>
                        <a:buChar char="Ø"/>
                      </a:pPr>
                      <a:r>
                        <a:rPr lang="en-US" dirty="0"/>
                        <a:t>Module by module delivery</a:t>
                      </a:r>
                    </a:p>
                    <a:p>
                      <a:pPr marL="285750" indent="-285750">
                        <a:buFont typeface="Wingdings" panose="05000000000000000000" pitchFamily="2" charset="2"/>
                        <a:buChar char="Ø"/>
                      </a:pPr>
                      <a:r>
                        <a:rPr lang="en-US" dirty="0"/>
                        <a:t>But requirements locked</a:t>
                      </a:r>
                    </a:p>
                    <a:p>
                      <a:pPr marL="285750" indent="-285750">
                        <a:buFont typeface="Wingdings" panose="05000000000000000000" pitchFamily="2" charset="2"/>
                        <a:buChar char="Ø"/>
                      </a:pPr>
                      <a:r>
                        <a:rPr lang="en-US" dirty="0"/>
                        <a:t>Easy to test and debug</a:t>
                      </a:r>
                      <a:endParaRPr lang="en-IN" dirty="0"/>
                    </a:p>
                  </a:txBody>
                  <a:tcPr/>
                </a:tc>
                <a:tc>
                  <a:txBody>
                    <a:bodyPr/>
                    <a:lstStyle/>
                    <a:p>
                      <a:pPr marL="285750" indent="-285750">
                        <a:buFont typeface="Wingdings" panose="05000000000000000000" pitchFamily="2" charset="2"/>
                        <a:buChar char="Ø"/>
                      </a:pPr>
                      <a:r>
                        <a:rPr lang="en-US" dirty="0"/>
                        <a:t>Large </a:t>
                      </a:r>
                    </a:p>
                    <a:p>
                      <a:r>
                        <a:rPr lang="en-US" dirty="0"/>
                        <a:t>Project</a:t>
                      </a:r>
                    </a:p>
                    <a:p>
                      <a:r>
                        <a:rPr lang="en-US" dirty="0"/>
                        <a:t>Same as incremental</a:t>
                      </a:r>
                    </a:p>
                    <a:p>
                      <a:pPr marL="285750" indent="-285750">
                        <a:buFont typeface="Wingdings" panose="05000000000000000000" pitchFamily="2" charset="2"/>
                        <a:buChar char="Ø"/>
                      </a:pPr>
                      <a:r>
                        <a:rPr lang="en-US" dirty="0"/>
                        <a:t>Difference is here requirement not locked</a:t>
                      </a:r>
                      <a:endParaRPr lang="en-IN" dirty="0"/>
                    </a:p>
                  </a:txBody>
                  <a:tcPr/>
                </a:tc>
                <a:tc>
                  <a:txBody>
                    <a:bodyPr/>
                    <a:lstStyle/>
                    <a:p>
                      <a:pPr marL="285750" indent="-285750">
                        <a:buFont typeface="Wingdings" panose="05000000000000000000" pitchFamily="2" charset="2"/>
                        <a:buChar char="Ø"/>
                      </a:pPr>
                      <a:r>
                        <a:rPr lang="en-US" dirty="0"/>
                        <a:t>Risk handling is more,</a:t>
                      </a:r>
                    </a:p>
                    <a:p>
                      <a:pPr marL="285750" indent="-285750">
                        <a:buFont typeface="Wingdings" panose="05000000000000000000" pitchFamily="2" charset="2"/>
                        <a:buChar char="Ø"/>
                      </a:pPr>
                      <a:r>
                        <a:rPr lang="en-US" dirty="0"/>
                        <a:t>Not for small project</a:t>
                      </a:r>
                    </a:p>
                    <a:p>
                      <a:pPr marL="285750" indent="-285750">
                        <a:buFont typeface="Wingdings" panose="05000000000000000000" pitchFamily="2" charset="2"/>
                        <a:buChar char="Ø"/>
                      </a:pPr>
                      <a:r>
                        <a:rPr lang="en-US" dirty="0"/>
                        <a:t>No early lock on requirement</a:t>
                      </a:r>
                      <a:endParaRPr lang="en-IN" dirty="0"/>
                    </a:p>
                  </a:txBody>
                  <a:tcPr/>
                </a:tc>
                <a:tc>
                  <a:txBody>
                    <a:bodyPr/>
                    <a:lstStyle/>
                    <a:p>
                      <a:pPr marL="285750" indent="-285750">
                        <a:buFont typeface="Wingdings" panose="05000000000000000000" pitchFamily="2" charset="2"/>
                        <a:buChar char="Ø"/>
                      </a:pPr>
                      <a:r>
                        <a:rPr lang="en-US" dirty="0"/>
                        <a:t>Flexible</a:t>
                      </a:r>
                    </a:p>
                    <a:p>
                      <a:r>
                        <a:rPr lang="en-US" dirty="0"/>
                        <a:t>Advanced</a:t>
                      </a:r>
                    </a:p>
                    <a:p>
                      <a:r>
                        <a:rPr lang="en-US" dirty="0"/>
                        <a:t>Parallel.</a:t>
                      </a:r>
                    </a:p>
                    <a:p>
                      <a:pPr marL="285750" indent="-285750">
                        <a:buFont typeface="Wingdings" panose="05000000000000000000" pitchFamily="2" charset="2"/>
                        <a:buChar char="Ø"/>
                      </a:pPr>
                      <a:r>
                        <a:rPr lang="en-US" dirty="0"/>
                        <a:t>Project divided into small projects</a:t>
                      </a:r>
                    </a:p>
                    <a:p>
                      <a:pPr marL="285750" indent="-285750">
                        <a:buFont typeface="Wingdings" panose="05000000000000000000" pitchFamily="2" charset="2"/>
                        <a:buChar char="Ø"/>
                      </a:pPr>
                      <a:r>
                        <a:rPr lang="en-US" dirty="0"/>
                        <a:t>All work in same label, to share ideas freely</a:t>
                      </a:r>
                      <a:endParaRPr lang="en-IN" dirty="0"/>
                    </a:p>
                  </a:txBody>
                  <a:tcPr/>
                </a:tc>
                <a:extLst>
                  <a:ext uri="{0D108BD9-81ED-4DB2-BD59-A6C34878D82A}">
                    <a16:rowId xmlns:a16="http://schemas.microsoft.com/office/drawing/2014/main" val="2708178723"/>
                  </a:ext>
                </a:extLst>
              </a:tr>
            </a:tbl>
          </a:graphicData>
        </a:graphic>
      </p:graphicFrame>
    </p:spTree>
    <p:extLst>
      <p:ext uri="{BB962C8B-B14F-4D97-AF65-F5344CB8AC3E}">
        <p14:creationId xmlns:p14="http://schemas.microsoft.com/office/powerpoint/2010/main" val="3463722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19701</TotalTime>
  <Words>4508</Words>
  <Application>Microsoft Office PowerPoint</Application>
  <PresentationFormat>On-screen Show (4:3)</PresentationFormat>
  <Paragraphs>453</Paragraphs>
  <Slides>46</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46</vt:i4>
      </vt:variant>
    </vt:vector>
  </HeadingPairs>
  <TitlesOfParts>
    <vt:vector size="63" baseType="lpstr">
      <vt:lpstr>Arial</vt:lpstr>
      <vt:lpstr>Calibri</vt:lpstr>
      <vt:lpstr>Cambria</vt:lpstr>
      <vt:lpstr>Courier New</vt:lpstr>
      <vt:lpstr>erdana</vt:lpstr>
      <vt:lpstr>Heebo</vt:lpstr>
      <vt:lpstr>Helvetica</vt:lpstr>
      <vt:lpstr>inter-bold</vt:lpstr>
      <vt:lpstr>inter-regular</vt:lpstr>
      <vt:lpstr>Nunito</vt:lpstr>
      <vt:lpstr>Roboto</vt:lpstr>
      <vt:lpstr>Segoe UI</vt:lpstr>
      <vt:lpstr>Symbol</vt:lpstr>
      <vt:lpstr>Times New Roman</vt:lpstr>
      <vt:lpstr>urw-din</vt:lpstr>
      <vt:lpstr>Wingdings</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Company>vb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Simply</dc:creator>
  <cp:lastModifiedBy>Lipsa Nayak</cp:lastModifiedBy>
  <cp:revision>347</cp:revision>
  <dcterms:created xsi:type="dcterms:W3CDTF">2021-10-10T16:43:15Z</dcterms:created>
  <dcterms:modified xsi:type="dcterms:W3CDTF">2023-06-26T10:32:08Z</dcterms:modified>
</cp:coreProperties>
</file>