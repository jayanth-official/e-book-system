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12"/>
  </p:notesMasterIdLst>
  <p:sldIdLst>
    <p:sldId id="388" r:id="rId2"/>
    <p:sldId id="387" r:id="rId3"/>
    <p:sldId id="389" r:id="rId4"/>
    <p:sldId id="391" r:id="rId5"/>
    <p:sldId id="392" r:id="rId6"/>
    <p:sldId id="398" r:id="rId7"/>
    <p:sldId id="394" r:id="rId8"/>
    <p:sldId id="395" r:id="rId9"/>
    <p:sldId id="396" r:id="rId10"/>
    <p:sldId id="397"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449" autoAdjust="0"/>
    <p:restoredTop sz="94660"/>
  </p:normalViewPr>
  <p:slideViewPr>
    <p:cSldViewPr>
      <p:cViewPr varScale="1">
        <p:scale>
          <a:sx n="63" d="100"/>
          <a:sy n="63" d="100"/>
        </p:scale>
        <p:origin x="1576" y="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1173879-A493-4EDB-A790-6038B1CDDF14}" type="datetimeFigureOut">
              <a:rPr lang="en-US" smtClean="0"/>
              <a:t>6/26/2023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F062DEC-2A34-4AE2-AC2C-326F81FB9D92}" type="slidenum">
              <a:rPr lang="en-US" smtClean="0"/>
              <a:t>‹#›</a:t>
            </a:fld>
            <a:endParaRPr lang="en-US"/>
          </a:p>
        </p:txBody>
      </p:sp>
    </p:spTree>
    <p:extLst>
      <p:ext uri="{BB962C8B-B14F-4D97-AF65-F5344CB8AC3E}">
        <p14:creationId xmlns:p14="http://schemas.microsoft.com/office/powerpoint/2010/main" val="791132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3223548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212142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2265980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602B0A-0B99-47D4-AFD3-140C34F2A7C7}" type="datetimeFigureOut">
              <a:rPr lang="en-US" smtClean="0"/>
              <a:t>6/26/2023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4227389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602B0A-0B99-47D4-AFD3-140C34F2A7C7}" type="datetimeFigureOut">
              <a:rPr lang="en-US" smtClean="0"/>
              <a:t>6/26/2023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607358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02B0A-0B99-47D4-AFD3-140C34F2A7C7}" type="datetimeFigureOut">
              <a:rPr lang="en-US" smtClean="0"/>
              <a:t>6/26/2023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1407270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602B0A-0B99-47D4-AFD3-140C34F2A7C7}" type="datetimeFigureOut">
              <a:rPr lang="en-US" smtClean="0"/>
              <a:t>6/26/2023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2707093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602B0A-0B99-47D4-AFD3-140C34F2A7C7}" type="datetimeFigureOut">
              <a:rPr lang="en-US" smtClean="0"/>
              <a:t>6/26/2023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681099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602B0A-0B99-47D4-AFD3-140C34F2A7C7}" type="datetimeFigureOut">
              <a:rPr lang="en-US" smtClean="0"/>
              <a:t>6/26/2023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4165690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1990458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2341546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7686">
              <a:srgbClr val="E7F0F9"/>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602B0A-0B99-47D4-AFD3-140C34F2A7C7}" type="datetimeFigureOut">
              <a:rPr lang="en-US" smtClean="0"/>
              <a:t>6/26/2023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C7416A-A348-47FF-937D-7E980B76C6D7}" type="slidenum">
              <a:rPr lang="en-US" smtClean="0"/>
              <a:t>‹#›</a:t>
            </a:fld>
            <a:endParaRPr lang="en-US"/>
          </a:p>
        </p:txBody>
      </p:sp>
    </p:spTree>
    <p:extLst>
      <p:ext uri="{BB962C8B-B14F-4D97-AF65-F5344CB8AC3E}">
        <p14:creationId xmlns:p14="http://schemas.microsoft.com/office/powerpoint/2010/main" val="3009563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762000" y="304800"/>
            <a:ext cx="7924800" cy="5645395"/>
          </a:xfrm>
        </p:spPr>
        <p:txBody>
          <a:bodyPr>
            <a:noAutofit/>
          </a:bodyPr>
          <a:lstStyle/>
          <a:p>
            <a:pPr marL="0" indent="0" algn="just">
              <a:buNone/>
            </a:pPr>
            <a:r>
              <a:rPr lang="en-IN" dirty="0">
                <a:solidFill>
                  <a:srgbClr val="610B38"/>
                </a:solidFill>
                <a:latin typeface="erdana"/>
              </a:rPr>
              <a:t>                                 </a:t>
            </a:r>
          </a:p>
          <a:p>
            <a:pPr marL="0" indent="0" algn="just">
              <a:buNone/>
            </a:pPr>
            <a:r>
              <a:rPr lang="en-IN" dirty="0">
                <a:solidFill>
                  <a:srgbClr val="610B38"/>
                </a:solidFill>
                <a:latin typeface="erdana"/>
              </a:rPr>
              <a:t>       SRS(Software requirement specification)</a:t>
            </a:r>
          </a:p>
          <a:p>
            <a:pPr marL="0" indent="0" algn="just">
              <a:buNone/>
            </a:pPr>
            <a:r>
              <a:rPr lang="en-IN" sz="2400" dirty="0">
                <a:latin typeface="Times New Roman" panose="02020603050405020304" pitchFamily="18" charset="0"/>
                <a:cs typeface="Times New Roman" panose="02020603050405020304" pitchFamily="18" charset="0"/>
              </a:rPr>
              <a:t>SRS is a description of a software system to be developed.</a:t>
            </a:r>
          </a:p>
          <a:p>
            <a:pPr marL="0" indent="0" algn="just">
              <a:buNone/>
            </a:pPr>
            <a:r>
              <a:rPr lang="en-IN" sz="2400" b="0" i="0" dirty="0">
                <a:effectLst/>
                <a:latin typeface="Times New Roman" panose="02020603050405020304" pitchFamily="18" charset="0"/>
                <a:cs typeface="Times New Roman" panose="02020603050405020304" pitchFamily="18" charset="0"/>
              </a:rPr>
              <a:t>It lays out functional and non functional requirements of the software to be developed.</a:t>
            </a:r>
          </a:p>
          <a:p>
            <a:pPr marL="0" indent="0" algn="just">
              <a:buNone/>
            </a:pPr>
            <a:r>
              <a:rPr lang="en-IN" sz="2400" dirty="0">
                <a:latin typeface="Times New Roman" panose="02020603050405020304" pitchFamily="18" charset="0"/>
                <a:cs typeface="Times New Roman" panose="02020603050405020304" pitchFamily="18" charset="0"/>
              </a:rPr>
              <a:t>SRS mention functional and non functional requirement so finally we can check system match those requirement or not?</a:t>
            </a:r>
          </a:p>
          <a:p>
            <a:pPr marL="0" indent="0" algn="just">
              <a:buNone/>
            </a:pPr>
            <a:endParaRPr lang="en-IN" sz="2400" b="0" i="0" dirty="0">
              <a:effectLst/>
              <a:latin typeface="Times New Roman" panose="02020603050405020304" pitchFamily="18" charset="0"/>
              <a:cs typeface="Times New Roman" panose="02020603050405020304" pitchFamily="18" charset="0"/>
            </a:endParaRPr>
          </a:p>
          <a:p>
            <a:pPr marL="0" indent="0" algn="just">
              <a:buNone/>
            </a:pPr>
            <a:endParaRPr lang="en-IN" sz="2400" b="0" i="0" dirty="0">
              <a:effectLst/>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2218702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457199" y="304800"/>
            <a:ext cx="8305801" cy="5645395"/>
          </a:xfrm>
        </p:spPr>
        <p:txBody>
          <a:bodyPr>
            <a:noAutofit/>
          </a:bodyPr>
          <a:lstStyle/>
          <a:p>
            <a:pPr marL="0" indent="0" algn="just">
              <a:buNone/>
            </a:pPr>
            <a:endParaRPr lang="en-US" b="0" i="0" dirty="0">
              <a:solidFill>
                <a:srgbClr val="610B38"/>
              </a:solidFill>
              <a:effectLst/>
              <a:latin typeface="erdana"/>
            </a:endParaRPr>
          </a:p>
          <a:p>
            <a:pPr marL="0" indent="0" algn="just">
              <a:buNone/>
            </a:pPr>
            <a:r>
              <a:rPr lang="en-IN" dirty="0">
                <a:solidFill>
                  <a:srgbClr val="610B38"/>
                </a:solidFill>
                <a:latin typeface="erdana"/>
              </a:rPr>
              <a:t>Functional Requirement and Non functional requirement</a:t>
            </a:r>
          </a:p>
          <a:p>
            <a:pPr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Requirements, which are related to functional/working aspect of software fall into functional requirement category.</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2400" b="0" i="0" dirty="0">
                <a:effectLst/>
                <a:latin typeface="Times New Roman" panose="02020603050405020304" pitchFamily="18" charset="0"/>
                <a:cs typeface="Times New Roman" panose="02020603050405020304" pitchFamily="18" charset="0"/>
              </a:rPr>
              <a:t>Non-functional requirements are expected characteristics of target software.(security-security check should be there), storage-in back end how database is stored and accessed, configuration</a:t>
            </a:r>
            <a:r>
              <a:rPr lang="en-IN" sz="2400" dirty="0">
                <a:latin typeface="Times New Roman" panose="02020603050405020304" pitchFamily="18" charset="0"/>
                <a:cs typeface="Times New Roman" panose="02020603050405020304" pitchFamily="18" charset="0"/>
              </a:rPr>
              <a:t>-latest </a:t>
            </a:r>
            <a:r>
              <a:rPr lang="en-IN" sz="2400" b="0" i="0" dirty="0">
                <a:effectLst/>
                <a:latin typeface="Times New Roman" panose="02020603050405020304" pitchFamily="18" charset="0"/>
                <a:cs typeface="Times New Roman" panose="02020603050405020304" pitchFamily="18" charset="0"/>
              </a:rPr>
              <a:t>server, performance(response time), cost, flexibility, Disaster recovery)</a:t>
            </a: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3661009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BACB4384-8AAA-9800-18B4-AC5CFA9F8567}"/>
              </a:ext>
            </a:extLst>
          </p:cNvPr>
          <p:cNvSpPr txBox="1"/>
          <p:nvPr/>
        </p:nvSpPr>
        <p:spPr>
          <a:xfrm>
            <a:off x="304800" y="136526"/>
            <a:ext cx="8686800" cy="6673943"/>
          </a:xfrm>
          <a:prstGeom prst="rect">
            <a:avLst/>
          </a:prstGeom>
          <a:noFill/>
        </p:spPr>
        <p:txBody>
          <a:bodyPr wrap="square">
            <a:spAutoFit/>
          </a:bodyPr>
          <a:lstStyle/>
          <a:p>
            <a:pPr algn="just"/>
            <a:r>
              <a:rPr lang="en-US" sz="3200" b="0" dirty="0">
                <a:solidFill>
                  <a:srgbClr val="610B38"/>
                </a:solidFill>
                <a:effectLst/>
                <a:latin typeface="Helvetica" panose="020B0604020202020204" pitchFamily="34" charset="0"/>
                <a:ea typeface="Times New Roman" panose="02020603050405020304" pitchFamily="18" charset="0"/>
              </a:rPr>
              <a:t>Properties of a good SRS document</a:t>
            </a:r>
          </a:p>
          <a:p>
            <a:pPr algn="just"/>
            <a:endParaRPr lang="en-IN" sz="2800" b="1" dirty="0">
              <a:effectLst/>
              <a:latin typeface="Times New Roman" panose="02020603050405020304" pitchFamily="18" charset="0"/>
              <a:ea typeface="Times New Roman" panose="02020603050405020304" pitchFamily="18" charset="0"/>
            </a:endParaRPr>
          </a:p>
          <a:p>
            <a:pPr algn="just"/>
            <a:r>
              <a:rPr lang="en-US" sz="24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 essential properties of a good SRS document are the following:</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4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Concise:</a:t>
            </a: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The SRS report should be concise and at the same time, unambiguous, consistent, and complete. Verbose and irrelevant descriptions decrease readability and also increase error possibilities.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4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Structured:</a:t>
            </a: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It should be well-structured. A well-structured document is simple to understand and modify. In practice, the SRS document undergoes several revisions to cope up with the user requirements. Often, user requirements evolve over a period of time. Therefore, to make the modifications to the SRS document easy, it is vital to make the report well-structured.</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9642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4</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01296175-E01A-D8C4-96C9-B2B30E07726F}"/>
              </a:ext>
            </a:extLst>
          </p:cNvPr>
          <p:cNvSpPr txBox="1"/>
          <p:nvPr/>
        </p:nvSpPr>
        <p:spPr>
          <a:xfrm>
            <a:off x="228599" y="723648"/>
            <a:ext cx="8458200" cy="4457952"/>
          </a:xfrm>
          <a:prstGeom prst="rect">
            <a:avLst/>
          </a:prstGeom>
          <a:noFill/>
        </p:spPr>
        <p:txBody>
          <a:bodyPr wrap="square">
            <a:spAutoFit/>
          </a:bodyPr>
          <a:lstStyle/>
          <a:p>
            <a:pPr algn="just">
              <a:lnSpc>
                <a:spcPct val="150000"/>
              </a:lnSpc>
            </a:pPr>
            <a:r>
              <a:rPr lang="en-US" sz="24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Conceptual integrity:</a:t>
            </a: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It should show conceptual integrity so that the reader can merely understand it. Response to undesired events: It should characterize acceptable responses to unwanted events. These are called system response to exceptional conditions.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4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Verifiable:</a:t>
            </a: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All requirements of the system, as documented in the SRS document, should be correct. This means that it should be possible to decide whether or not requirements have been met in an implementation.</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8610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br>
              <a:rPr lang="en-US" sz="2353" b="1" dirty="0"/>
            </a:b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5</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A0D0FE59-B48B-1B3B-5DB2-02FB6A7B3151}"/>
              </a:ext>
            </a:extLst>
          </p:cNvPr>
          <p:cNvSpPr txBox="1"/>
          <p:nvPr/>
        </p:nvSpPr>
        <p:spPr>
          <a:xfrm>
            <a:off x="609600" y="657741"/>
            <a:ext cx="8305800" cy="5401479"/>
          </a:xfrm>
          <a:prstGeom prst="rect">
            <a:avLst/>
          </a:prstGeom>
          <a:noFill/>
        </p:spPr>
        <p:txBody>
          <a:bodyPr wrap="square">
            <a:spAutoFit/>
          </a:bodyPr>
          <a:lstStyle/>
          <a:p>
            <a:r>
              <a:rPr lang="en-US" sz="2400" b="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Requirement Engineering</a:t>
            </a:r>
            <a:endParaRPr lang="en-IN"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spcBef>
                <a:spcPts val="600"/>
              </a:spcBef>
              <a:spcAft>
                <a:spcPts val="720"/>
              </a:spcAf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process to gather the software requirements from client, analyze and document them is known as requirement engineering.</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goal of requirement engineering is to develop and maintain sophisticated and descriptive ‘System Requirements Specification’ document.</a:t>
            </a:r>
            <a:r>
              <a:rPr lang="en-US" sz="2400" b="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r>
              <a:rPr lang="en-US" sz="2400" b="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Requirement Engineering Process</a:t>
            </a:r>
            <a:endPar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spcBef>
                <a:spcPts val="600"/>
              </a:spcBef>
              <a:spcAft>
                <a:spcPts val="720"/>
              </a:spcAf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It is a four step process, which includes –</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ts val="1800"/>
              </a:lnSpc>
              <a:spcAft>
                <a:spcPts val="1000"/>
              </a:spcAft>
              <a:buSzPts val="1000"/>
              <a:buFont typeface="Symbol" panose="05050102010706020507" pitchFamily="18" charset="2"/>
              <a:buChar char=""/>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Feasibility Study</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ts val="1800"/>
              </a:lnSpc>
              <a:spcAft>
                <a:spcPts val="1000"/>
              </a:spcAft>
              <a:buSzPts val="1000"/>
              <a:buFont typeface="Symbol" panose="05050102010706020507" pitchFamily="18" charset="2"/>
              <a:buChar char=""/>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Requirement Gathering &amp; Requirement Elicitation and Analysis </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ts val="1800"/>
              </a:lnSpc>
              <a:spcAft>
                <a:spcPts val="1000"/>
              </a:spcAft>
              <a:buSzPts val="1000"/>
              <a:buFont typeface="Symbol" panose="05050102010706020507" pitchFamily="18" charset="2"/>
              <a:buChar char=""/>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Software Requirement Specification</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ts val="1800"/>
              </a:lnSpc>
              <a:spcAft>
                <a:spcPts val="1000"/>
              </a:spcAft>
              <a:buSzPts val="1000"/>
              <a:buFont typeface="Symbol" panose="05050102010706020507" pitchFamily="18" charset="2"/>
              <a:buChar char=""/>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Software Requirement Validation</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spcBef>
                <a:spcPts val="600"/>
              </a:spcBef>
              <a:spcAft>
                <a:spcPts val="720"/>
              </a:spcAft>
            </a:pP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358031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6</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10" name="TextBox 9">
            <a:extLst>
              <a:ext uri="{FF2B5EF4-FFF2-40B4-BE49-F238E27FC236}">
                <a16:creationId xmlns:a16="http://schemas.microsoft.com/office/drawing/2014/main" id="{251A9807-B225-AA15-98C8-88387AD8E514}"/>
              </a:ext>
            </a:extLst>
          </p:cNvPr>
          <p:cNvSpPr txBox="1"/>
          <p:nvPr/>
        </p:nvSpPr>
        <p:spPr>
          <a:xfrm>
            <a:off x="152400" y="480427"/>
            <a:ext cx="8534399" cy="5060873"/>
          </a:xfrm>
          <a:prstGeom prst="rect">
            <a:avLst/>
          </a:prstGeom>
          <a:noFill/>
        </p:spPr>
        <p:txBody>
          <a:bodyPr wrap="square">
            <a:spAutoFit/>
          </a:bodyPr>
          <a:lstStyle/>
          <a:p>
            <a:pPr>
              <a:lnSpc>
                <a:spcPct val="115000"/>
              </a:lnSpc>
              <a:spcBef>
                <a:spcPts val="1000"/>
              </a:spcBef>
            </a:pPr>
            <a:r>
              <a:rPr lang="en-US" sz="2800" b="0"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rPr>
              <a:t>Feasibility study</a:t>
            </a:r>
            <a:endParaRPr lang="en-IN" sz="2800"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gn="just">
              <a:spcBef>
                <a:spcPts val="600"/>
              </a:spcBef>
              <a:spcAft>
                <a:spcPts val="720"/>
              </a:spcAft>
              <a:buFont typeface="Wingdings" panose="05000000000000000000" pitchFamily="2" charset="2"/>
              <a:buChar char="Ø"/>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When the client approaches the organization for getting the desired product developed, it comes up with rough idea about what all functions the software must perform and which all features are expected from the software.(Technically, ethically, economically)</a:t>
            </a:r>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gn="just">
              <a:spcBef>
                <a:spcPts val="600"/>
              </a:spcBef>
              <a:spcAft>
                <a:spcPts val="720"/>
              </a:spcAft>
              <a:buFont typeface="Wingdings" panose="05000000000000000000" pitchFamily="2" charset="2"/>
              <a:buChar char="Ø"/>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Referencing to this information, the analysts does a detailed study about whether the desired system and its functionality are feasible to develop.</a:t>
            </a:r>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spcBef>
                <a:spcPts val="600"/>
              </a:spcBef>
              <a:spcAft>
                <a:spcPts val="720"/>
              </a:spcAf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output of this phase should be a feasibility study report that should contain adequate comments and recommendations for management about whether or not the project should be undertaken.</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0892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7</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7EE757B3-2E12-246C-E670-62074DAB1584}"/>
              </a:ext>
            </a:extLst>
          </p:cNvPr>
          <p:cNvSpPr txBox="1"/>
          <p:nvPr/>
        </p:nvSpPr>
        <p:spPr>
          <a:xfrm>
            <a:off x="228599" y="654915"/>
            <a:ext cx="8686800" cy="3464346"/>
          </a:xfrm>
          <a:prstGeom prst="rect">
            <a:avLst/>
          </a:prstGeom>
          <a:noFill/>
        </p:spPr>
        <p:txBody>
          <a:bodyPr wrap="square">
            <a:spAutoFit/>
          </a:bodyPr>
          <a:lstStyle/>
          <a:p>
            <a:pPr>
              <a:lnSpc>
                <a:spcPct val="115000"/>
              </a:lnSpc>
              <a:spcBef>
                <a:spcPts val="1000"/>
              </a:spcBef>
            </a:pPr>
            <a:r>
              <a:rPr lang="en-US" sz="2400" b="0" dirty="0">
                <a:solidFill>
                  <a:srgbClr val="4F81BD"/>
                </a:solidFill>
                <a:effectLst/>
                <a:latin typeface="Arial" panose="020B0604020202020204" pitchFamily="34" charset="0"/>
                <a:ea typeface="Times New Roman" panose="02020603050405020304" pitchFamily="18" charset="0"/>
                <a:cs typeface="Times New Roman" panose="02020603050405020304" pitchFamily="18" charset="0"/>
              </a:rPr>
              <a:t>Requirement Gathering</a:t>
            </a:r>
            <a:endParaRPr lang="en-IN" sz="1600" b="1" dirty="0">
              <a:solidFill>
                <a:srgbClr val="4F81BD"/>
              </a:solidFill>
              <a:effectLst/>
              <a:latin typeface="Cambria" panose="02040503050406030204" pitchFamily="18" charset="0"/>
              <a:ea typeface="Times New Roman" panose="02020603050405020304" pitchFamily="18" charset="0"/>
              <a:cs typeface="Times New Roman" panose="02020603050405020304" pitchFamily="18" charset="0"/>
            </a:endParaRPr>
          </a:p>
          <a:p>
            <a:pPr marL="342900" indent="-342900" algn="just">
              <a:lnSpc>
                <a:spcPct val="150000"/>
              </a:lnSpc>
              <a:spcBef>
                <a:spcPts val="600"/>
              </a:spcBef>
              <a:spcAft>
                <a:spcPts val="720"/>
              </a:spcAft>
              <a:buFont typeface="Wingdings" panose="05000000000000000000" pitchFamily="2" charset="2"/>
              <a:buChar char="Ø"/>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If the feasibility report is positive towards undertaking the project, next phase starts with gathering requirements from the user.</a:t>
            </a:r>
          </a:p>
          <a:p>
            <a:pPr marL="342900" indent="-342900" algn="just">
              <a:lnSpc>
                <a:spcPct val="150000"/>
              </a:lnSpc>
              <a:spcBef>
                <a:spcPts val="600"/>
              </a:spcBef>
              <a:spcAft>
                <a:spcPts val="720"/>
              </a:spcAft>
              <a:buFont typeface="Wingdings" panose="05000000000000000000" pitchFamily="2" charset="2"/>
              <a:buChar char="Ø"/>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Analysts and engineers communicate with the client and end-users to know their ideas on what the software should provide and which features they want the software to include.</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7629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304800" y="304800"/>
            <a:ext cx="8382000" cy="5645395"/>
          </a:xfrm>
        </p:spPr>
        <p:txBody>
          <a:bodyPr>
            <a:noAutofit/>
          </a:bodyPr>
          <a:lstStyle/>
          <a:p>
            <a:pPr marL="0" indent="0">
              <a:lnSpc>
                <a:spcPct val="115000"/>
              </a:lnSpc>
              <a:spcBef>
                <a:spcPts val="1000"/>
              </a:spcBef>
              <a:buNone/>
            </a:pPr>
            <a:r>
              <a:rPr lang="en-US" sz="2400" dirty="0">
                <a:solidFill>
                  <a:srgbClr val="4F81BD"/>
                </a:solidFill>
                <a:latin typeface="Times New Roman" panose="02020603050405020304" pitchFamily="18" charset="0"/>
                <a:cs typeface="Times New Roman" panose="02020603050405020304" pitchFamily="18" charset="0"/>
              </a:rPr>
              <a:t>Software </a:t>
            </a:r>
            <a:r>
              <a:rPr lang="en-US" sz="2400" b="0"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rPr>
              <a:t>Requirement Specification</a:t>
            </a:r>
            <a:endParaRPr lang="en-IN" sz="2400"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spcBef>
                <a:spcPts val="600"/>
              </a:spcBef>
              <a:spcAft>
                <a:spcPts val="720"/>
              </a:spcAf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SRS is a document created by system analyst after the requirements are collected from various stakeholders.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spcBef>
                <a:spcPts val="600"/>
              </a:spcBef>
              <a:spcAft>
                <a:spcPts val="720"/>
              </a:spcAft>
              <a:buNone/>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SRS should come up with following features: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ts val="1800"/>
              </a:lnSpc>
              <a:spcAft>
                <a:spcPts val="1000"/>
              </a:spcAft>
              <a:buSzPts val="1000"/>
              <a:buFont typeface="Symbol" panose="05050102010706020507" pitchFamily="18" charset="2"/>
              <a:buChar char=""/>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User Requirements are expressed in natural language.</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ts val="1800"/>
              </a:lnSpc>
              <a:spcAft>
                <a:spcPts val="1000"/>
              </a:spcAft>
              <a:buSzPts val="1000"/>
              <a:buFont typeface="Symbol" panose="05050102010706020507" pitchFamily="18" charset="2"/>
              <a:buChar char=""/>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Technical requirements are expressed in structured language, which is used inside the organization.</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ts val="1800"/>
              </a:lnSpc>
              <a:spcAft>
                <a:spcPts val="1000"/>
              </a:spcAft>
              <a:buSzPts val="1000"/>
              <a:buFont typeface="Symbol" panose="05050102010706020507" pitchFamily="18" charset="2"/>
              <a:buChar char=""/>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Design description should be written.</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ts val="1800"/>
              </a:lnSpc>
              <a:spcAft>
                <a:spcPts val="1000"/>
              </a:spcAft>
              <a:buSzPts val="1000"/>
              <a:buFont typeface="Symbol" panose="05050102010706020507" pitchFamily="18" charset="2"/>
              <a:buChar char=""/>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Format of Forms and GUI screen prints.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ts val="1800"/>
              </a:lnSpc>
              <a:spcAft>
                <a:spcPts val="1000"/>
              </a:spcAft>
              <a:buSzPts val="1000"/>
              <a:buFont typeface="Symbol" panose="05050102010706020507" pitchFamily="18" charset="2"/>
              <a:buChar char=""/>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Conditional and mathematical notations for DFDs etc.</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endParaRPr lang="en-IN" b="0" i="0" dirty="0">
              <a:solidFill>
                <a:srgbClr val="610B38"/>
              </a:solidFill>
              <a:effectLst/>
              <a:latin typeface="erdana"/>
            </a:endParaRP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8</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2008685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9</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2C1EE80C-B03F-4876-3608-788ECCDEA8D3}"/>
              </a:ext>
            </a:extLst>
          </p:cNvPr>
          <p:cNvSpPr txBox="1"/>
          <p:nvPr/>
        </p:nvSpPr>
        <p:spPr>
          <a:xfrm>
            <a:off x="457197" y="609601"/>
            <a:ext cx="8153403" cy="3903954"/>
          </a:xfrm>
          <a:prstGeom prst="rect">
            <a:avLst/>
          </a:prstGeom>
          <a:noFill/>
        </p:spPr>
        <p:txBody>
          <a:bodyPr wrap="square">
            <a:spAutoFit/>
          </a:bodyPr>
          <a:lstStyle/>
          <a:p>
            <a:pPr>
              <a:lnSpc>
                <a:spcPct val="150000"/>
              </a:lnSpc>
              <a:spcBef>
                <a:spcPts val="1000"/>
              </a:spcBef>
            </a:pPr>
            <a:r>
              <a:rPr lang="en-US" sz="2400" b="0"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rPr>
              <a:t>Software Requirement Validation</a:t>
            </a:r>
            <a:endParaRPr lang="en-IN" sz="2400"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After requirement specifications are developed, the requirements mentioned in this document are validated. </a:t>
            </a:r>
          </a:p>
          <a:p>
            <a:pPr marL="342900" indent="-342900">
              <a:lnSpc>
                <a:spcPct val="150000"/>
              </a:lnSpc>
              <a:buFont typeface="Wingdings" panose="05000000000000000000" pitchFamily="2" charset="2"/>
              <a:buChar char="Ø"/>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User might ask for illegal, impractical solution or experts may interpret the requirements incorrectly</a:t>
            </a:r>
            <a:r>
              <a:rPr lang="en-US" sz="2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342900" indent="-342900">
              <a:lnSpc>
                <a:spcPct val="150000"/>
              </a:lnSpc>
              <a:buFont typeface="Wingdings" panose="05000000000000000000" pitchFamily="2" charset="2"/>
              <a:buChar char="Ø"/>
            </a:pPr>
            <a:r>
              <a:rPr lang="en-US" sz="2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This </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results in huge increase in cost if not </a:t>
            </a:r>
            <a:r>
              <a:rPr 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solved in the be</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ginning</a:t>
            </a:r>
            <a:r>
              <a:rPr 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8017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10</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CED0AE5C-0123-74A3-C5AD-2F790EC91FE7}"/>
              </a:ext>
            </a:extLst>
          </p:cNvPr>
          <p:cNvSpPr txBox="1"/>
          <p:nvPr/>
        </p:nvSpPr>
        <p:spPr>
          <a:xfrm>
            <a:off x="381000" y="1511393"/>
            <a:ext cx="8458200" cy="4456926"/>
          </a:xfrm>
          <a:prstGeom prst="rect">
            <a:avLst/>
          </a:prstGeom>
          <a:noFill/>
        </p:spPr>
        <p:txBody>
          <a:bodyPr wrap="square">
            <a:spAutoFit/>
          </a:bodyPr>
          <a:lstStyle/>
          <a:p>
            <a:pPr marL="457200" algn="just">
              <a:lnSpc>
                <a:spcPct val="115000"/>
              </a:lnSpc>
              <a:spcAft>
                <a:spcPts val="1000"/>
              </a:spcAft>
            </a:pPr>
            <a:r>
              <a:rPr lang="en-IN" sz="2400" dirty="0">
                <a:solidFill>
                  <a:srgbClr val="610B4B"/>
                </a:solidFill>
                <a:effectLst/>
                <a:latin typeface="Times New Roman" panose="02020603050405020304" pitchFamily="18" charset="0"/>
                <a:ea typeface="Times New Roman" panose="02020603050405020304" pitchFamily="18" charset="0"/>
                <a:cs typeface="Times New Roman" panose="02020603050405020304" pitchFamily="18" charset="0"/>
              </a:rPr>
              <a:t>Software Requirement Management:</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r>
              <a:rPr lang="en-IN"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Requirement management is the process of managing changing requirements during the requirements engineering process and system development. </a:t>
            </a: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New requirements emerge during the process as business needs a change, and a better understanding of the system is developed.</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 priority of requirements from different viewpoints changes during development process.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88915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19697</TotalTime>
  <Words>734</Words>
  <Application>Microsoft Office PowerPoint</Application>
  <PresentationFormat>On-screen Show (4:3)</PresentationFormat>
  <Paragraphs>68</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Arial</vt:lpstr>
      <vt:lpstr>Calibri</vt:lpstr>
      <vt:lpstr>Cambria</vt:lpstr>
      <vt:lpstr>erdana</vt:lpstr>
      <vt:lpstr>Helvetica</vt:lpstr>
      <vt:lpstr>Symbol</vt:lpstr>
      <vt:lpstr>Times New Roman</vt:lpstr>
      <vt:lpstr>Wingdings</vt:lpstr>
      <vt:lpstr>Office Theme</vt:lpstr>
      <vt:lpstr>                                     </vt:lpstr>
      <vt:lpstr>                                     </vt:lpstr>
      <vt:lpstr>                                     </vt:lpstr>
      <vt:lpstr>                                  </vt:lpstr>
      <vt:lpstr>                                      </vt:lpstr>
      <vt:lpstr>                                     </vt:lpstr>
      <vt:lpstr>                                     </vt:lpstr>
      <vt:lpstr>                                     </vt:lpstr>
      <vt:lpstr>                                     </vt:lpstr>
      <vt:lpstr>                                     </vt:lpstr>
    </vt:vector>
  </TitlesOfParts>
  <Company>vb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Simply</dc:creator>
  <cp:lastModifiedBy>Lipsa Nayak</cp:lastModifiedBy>
  <cp:revision>348</cp:revision>
  <dcterms:created xsi:type="dcterms:W3CDTF">2021-10-10T16:43:15Z</dcterms:created>
  <dcterms:modified xsi:type="dcterms:W3CDTF">2023-06-26T10:38:57Z</dcterms:modified>
</cp:coreProperties>
</file>